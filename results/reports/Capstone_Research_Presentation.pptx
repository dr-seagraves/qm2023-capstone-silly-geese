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560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Lobbying and Firm Profitability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20040" y="320040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F7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Comprehensive Panel Analysis of U.S. Public Firms (2010–2020)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" y="384048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Alycia Reji • Gracie Vivion • Shelby Howard • Daniz Mammadova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2023 Capstone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M1 &amp; 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Question and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 Research Question: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the relationship between firms' lobbying expenditures and their subsequent profitability?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Objectives: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7680960" cy="356616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Merge lobbying expenditure data with firm financial records (2010–2020)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Conduct exploratory data analysis to identify patterns and relationships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Estimate panel regression models with fixed effects and robust inference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Perform robustness checks across lag structures, sample subsets, and firm sizes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Interpret findings within theoretical frameworks of corporate political activity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Sources and Integration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Lobbying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657600" cy="288036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Source: Senate Lobbying Disclosure Reports (LobbyView)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Unit: Firm-year observations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Period: 2010–2020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Key variable: Annual total lobbying expenditure (USD)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Coverage: 1,534 unique firms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0060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Data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657600" cy="288036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Source: SEC XBRL filings (10-K annual reports)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Unit: Firm-year observations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Period: 2010–2020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Key variables: Total Assets, Net Income, Revenues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Coverage: 1,375 unique firms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6172200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merge: 5,099 firm-year observations across 1,375 firms; balanced panel yielded 836 observations (66 firms with complete 2010–2020 data)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Analysis: Key Patterns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Descriptive Findings from M2: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7680960" cy="43891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Positive moderate correlation between lobbying expenditure and firm performance (Return on Assets)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Effect exhibits time lag: strongest association at 1–2-year lags, not contemporaneous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Heterogeneous effects: stronger in larger and policy-exposed firms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Smaller firms show weaker or no relationship; size-based mechanism likely relevant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Outlier firms with extreme lobbying spending have disproportionate leverage on results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Log-scaling and trimming reduce magnitude but preserve positive direction in most cases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Adding controls (size, industry, year effects) attenuates coefficient but does not eliminate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0040" y="649224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7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M2 Hypothesis Development: Positive effect expected, strongest at lag 1–2, larger for big firms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Characteristics and Coverage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8503920" cy="2011680"/>
        </p:xfrm>
        <a:graphic>
          <a:graphicData uri="http://schemas.openxmlformats.org/drawingml/2006/table">
            <a:tbl>
              <a:tblPr/>
              <a:tblGrid>
                <a:gridCol w="2125980"/>
                <a:gridCol w="2125980"/>
                <a:gridCol w="2125980"/>
                <a:gridCol w="21259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Dataset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Rows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Unique Firms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Key Identifier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Financials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4,932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1,375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CIK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Lobbying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11,619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1,534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GVKEY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Merged (Full)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5,099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1,375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CIK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Balanced Panel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836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66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CIK, 2010–2020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20040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 Notes: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" y="3520440"/>
            <a:ext cx="8503920" cy="265176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Lobbying data sparse: 95.2% missing in full merged panel (many firms not in lobbying universe)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Mean ROA: 56.94 (winsorized); highly variable due to outliers and firm heterogeneity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explicit industry codes; size-based proxy used for heterogeneity estimation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panel (66 firms) is subset of full sample; may not be representative of all firms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Econometric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Two-Way Fixed Effects Panel Regression (Firm and Year FE, Clustered SEs)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7680960" cy="34747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Baseline coefficient (lagged lobbying): β = –174.59 (SE = 116.93, p = 0.1354, N = 2,125)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Economic interpretation: $1M increase in lobbying → 174.59 percentage-point decrease in ROA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Equivalent: $100K increase → 17.46 percentage-point decline in ROA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 statistically significant at α = 0.05; 95% confidence interval includes zero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Conclusion: Negative point estimate, but imprecise and not robust to specification changes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5212080"/>
            <a:ext cx="7680960" cy="914400"/>
          </a:xfrm>
          <a:prstGeom prst="roundRect">
            <a:avLst>
              <a:gd name="adj" fmla="val 8000"/>
            </a:avLst>
          </a:prstGeom>
          <a:solidFill>
            <a:srgbClr val="FFF3CD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303520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⚠ Key Finding: Evidence for negative association is weaker than EDA's positive findings, suggesting alternative mechanisms or model sensitivity.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Checks: Coefficient Stability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8503920" cy="3383280"/>
        </p:xfrm>
        <a:graphic>
          <a:graphicData uri="http://schemas.openxmlformats.org/drawingml/2006/table">
            <a:tbl>
              <a:tblPr/>
              <a:tblGrid>
                <a:gridCol w="1700784"/>
                <a:gridCol w="1700784"/>
                <a:gridCol w="1700784"/>
                <a:gridCol w="1700784"/>
                <a:gridCol w="1700784"/>
              </a:tblGrid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Specification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Coefficient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p-value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Baseline (Lag 1)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–174.59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116.93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0.1354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2,125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Lag 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–95.35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86.70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0.2715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1,700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Lag 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38.47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84.26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0.6480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1,372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1 (Placebo)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–302.73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166.41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0.0689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2,129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Excluding 2020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–109.19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72.22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0.1305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1,911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Small Firms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–5,753.85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4,059.05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0.1563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671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Large Firms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–24.09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5.25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0.0000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1,454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54864" marB="54864" anchor="ctr">
                    <a:lnL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452628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4800600"/>
            <a:ext cx="8503920" cy="150876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 consistency: Negative across lags 1–2; positive at lag 3 suggests direction instability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Lead effect significant at p &lt; 0.10 raises reverse-causality concerns: lower profitability may prompt lobbying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Heterogeneity: Small firms show extreme, imprecise effect; large firms show consistent, negative effect (p &lt; 0.001)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Excluding 2020 maintains negative direction but reduces precision, suggesting COVID-19 did not drive main result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Heterogeneity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Differential Effects by Firm Size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 Firms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657600" cy="411480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Coefficient: β = –24.09 (SE = 5.25, p &lt; 0.001)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Precisely estimated; statistically significant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Small magnitude but consistent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Interpretation: Defensive lobbying by larger, more exposed firms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0060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Firms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657600" cy="411480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Coefficient: β = –5,753.85 (SE = 4,059.05, p = 0.156)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Very large magnitude but imprecise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 statistically significant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Likely driven by few extreme spenders; high noise in small-firm lobbying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649224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F7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suggests: Larger firms' lobbying may reflect strategic regulatory engagement; smaller firms show sparse, ad hoc behavior.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 Specifications and Diagnostics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48920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Three-way FE with industry-by-year interactions: β = –159.48 (p = 0.367) — sign remains negative, precision similar to baseline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Staggered difference-in-differences (Callaway-Sant'Anna): Average treatment effect ≈ –338.79 pp; large, negative, but uncertain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Cluster bootstrap 95% CI: [–517.62, 149.65] — wide interval spans positive and negative, confirming low precision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Breusch-Pagan test for heteroskedasticity: p &lt; 0.0001; justifies clustered SEs over homoskedastic OLS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Variance Inflation Factors (VIF) for controls: max 2.74; multicollinearity not a concern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Diagnostic plots (Q-Q, residvals-vs-fitted): suggest non-ideal residual behavior; pattern consistent with sparse, heterogeneous panel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Time-Series Benchmark: ARIMA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ARIMA(0,1,0) Specification (Random Walk with Differencing):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Augmented Dickey-Fuller test: p-value = 0.2287 (non-stationary; differencing applied)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Selected order: (0, 1, 0) based on AIC minimization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Out-of-sample RMSE: 523.53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Naive benchmark RMSE (carry-forward) : 523.53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predictive gain from ARIMA vs. simple extrapolation; aggregate ROA trends not easily forecasted by lags alone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→ Implication: Annual aggregate profitability dynamics driven by factors other than recent own history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Mechanisms and Interpretation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Possible Explanations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657600" cy="43891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Defensive lobbying: Firms spend on lobbying to prevent worse outcomes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uncertainty: Regulatory exposure drives both lobbying and lower measured profitability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Selection effect: Worse-performing firms spend more on lobbying (reverse causality)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Omitted factors: Industry shocks or managerial quality confound the relationship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800600" y="1051560"/>
            <a:ext cx="4023360" cy="52578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Interpretation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657600" cy="43891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M2 EDA findings (positive correlation) differ from M3 results (negative association)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Likely caused by: omitted variable bias, firm fixed effects absorbing selection effects, reverse causality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Lead-placebo effect (p = 0.069) is red flag for temporal ordering assumptions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Results best framed as associations, not causal effects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Constraints and Caveats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489204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Data sparsity: 95.2% missing lobbying values; sample likely non-random and unrepresentative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panel: Only 66 firms with complete 2010–2020 data; severe attrition can introduce bias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industry codes: Crude size-based proxy used; omits sector-specific policy exposure dynamics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Causal identification: Relies on within-firm variation and time fixed effects; no exogenous variation exploited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Outlier dependence: Effect size (especially for small firms) driven by few extreme observations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Accounting distortions: ROA sensitive to aggressive accruals and one-time events; winsorization partial mitigation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Sample period: 2010–2020 includes financial crisis aftermath and COVID-19; structural breaks possible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8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914400" cy="228600"/>
          </a:xfrm>
          <a:prstGeom prst="roundRect">
            <a:avLst>
              <a:gd name="adj" fmla="val 16000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Conclusions and 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2700">
            <a:solidFill>
              <a:srgbClr val="DCEEFF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3444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 of Findings: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7680960" cy="164592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M1–M3 project successfully merged lobbying and financial data for 5,099 firm-year observations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M2 EDA identified moderate positive correlation; M3 regression yields negative but imprecise estimates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Heterogeneity substantial; effects differ by firm size and persist across robustness checks but with sign/magnitude instability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supports pattern-consistent associations, not definitive causal effects of lobbying on profitability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33756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 for Future Research: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noFill/>
          <a:ln/>
        </p:spPr>
        <p:txBody>
          <a:bodyPr wrap="square" lIns="1270" tIns="1905" rIns="1905" bIns="127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Leverage natural experiments or regulatory shocks for stronger identification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Expand industry classification to control for sector-level policy exposure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Investigate firm-specific channels: M&amp;A activity, regulatory compliance, patent filings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Model lobbying endogeneity explicitly using instrumental variables or dynamic specifications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436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Extend sample period and include alternative profitability measures (ROE, Tobin's Q, market returns)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2026-04-30T20:57:40Z</dcterms:created>
  <dcterms:modified xsi:type="dcterms:W3CDTF">2026-04-30T20:57:40Z</dcterms:modified>
</cp:coreProperties>
</file>