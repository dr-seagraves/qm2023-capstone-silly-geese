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about 45 seconds.
Open with one sentence: our best model points to a negative relationship, but the evidence is not strong enough to claim a clean causal effect.
Tell the audience this briefing is intentionally non-technical and focused on decision use, risks, and transparency.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about 60 seconds.
Say the key result in one breath: negative direction, weak statistical strength, lagged setup.
Give one actionable recommendation with a modest tilt range so it sounds realistic and risk-aware.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about 60 seconds.
Keep this slide simple: where data came from, how many observations survived cleaning, and why fixed effects plus clustered errors were used.
For non-economists, define fixed effects as comparing each company mostly to itself across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about 60 seconds.
Walk left to right once: coefficient, uncertainty, test statistic, p-value, and stars.
Plain-language close: the direction is negative, but we cannot call it a firm causal estimate at standard confidence levels.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about 55 seconds.
Say this clearly: most alternatives keep a negative sign, but confidence is still limited because intervals are wide and timing is messy.
Point to Figure 1 as context, not proof: the visual motivates the relationship but does not identify causality by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about 55 seconds.
Explain in simple terms that the diagnostics show noisy errors, which is why robust clustered uncertainty estimates matter.
Then translate the coefficient to an economic magnitude but immediately pair it with the uncertainty warning.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about 65 seconds.
State the recommendation as a moderate tilt, not an all-in call.
Be explicit about risk assumptions so the audience trusts the honesty of the recommendation.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about 50 seconds.
Present this as a checklist that protects both grading clarity and academic integrity.
Encourage each team member to customize hours and examples with real milestone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about 50 seconds.
Highlight that reproducibility is not optional: the code-output chain has to be consistent with the memo tables and figures.
Use this slide to set expectations and avoid preventable point losses.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about 45 seconds.
Close the deck with a quality checklist so the audience sees you are controlling for communication risk, not just model risk.
Remind presenters to keep language simple and recommendation statements conditional on uncertainty.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about 35 seconds.
Use this slide only to invite questions and repeat the cautious recommendation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1F33"/>
        </a:solidFill>
      </p:bgPr>
    </p:bg>
    <p:spTree>
      <p:nvGrpSpPr>
        <p:cNvPr id="1" name=""/>
        <p:cNvGrpSpPr/>
        <p:nvPr/>
      </p:nvGrpSpPr>
      <p:grpSpPr>
        <a:xfrm>
          <a:off x="0" y="0"/>
          <a:ext cx="0" cy="0"/>
          <a:chOff x="0" y="0"/>
          <a:chExt cx="0" cy="0"/>
        </a:xfrm>
      </p:grpSpPr>
      <p:sp>
        <p:nvSpPr>
          <p:cNvPr id="2" name="Shape 0"/>
          <p:cNvSpPr/>
          <p:nvPr/>
        </p:nvSpPr>
        <p:spPr>
          <a:xfrm>
            <a:off x="7132320" y="-731520"/>
            <a:ext cx="3474720" cy="3474720"/>
          </a:xfrm>
          <a:prstGeom prst="ellipse">
            <a:avLst/>
          </a:prstGeom>
          <a:solidFill>
            <a:srgbClr val="58A6FF">
              <a:alpha val="26000"/>
            </a:srgbClr>
          </a:solidFill>
          <a:ln w="12700">
            <a:solidFill>
              <a:srgbClr val="58A6FF">
                <a:alpha val="0"/>
              </a:srgbClr>
            </a:solidFill>
            <a:prstDash val="solid"/>
          </a:ln>
        </p:spPr>
      </p:sp>
      <p:sp>
        <p:nvSpPr>
          <p:cNvPr id="3" name="Shape 1"/>
          <p:cNvSpPr/>
          <p:nvPr/>
        </p:nvSpPr>
        <p:spPr>
          <a:xfrm>
            <a:off x="8138160" y="3566160"/>
            <a:ext cx="2103120" cy="2103120"/>
          </a:xfrm>
          <a:prstGeom prst="ellipse">
            <a:avLst/>
          </a:prstGeom>
          <a:solidFill>
            <a:srgbClr val="DCEEFF">
              <a:alpha val="20000"/>
            </a:srgbClr>
          </a:solidFill>
          <a:ln w="12700">
            <a:solidFill>
              <a:srgbClr val="DCEEFF">
                <a:alpha val="0"/>
              </a:srgbClr>
            </a:solidFill>
            <a:prstDash val="solid"/>
          </a:ln>
        </p:spPr>
      </p:sp>
      <p:sp>
        <p:nvSpPr>
          <p:cNvPr id="4" name="Text 2"/>
          <p:cNvSpPr/>
          <p:nvPr/>
        </p:nvSpPr>
        <p:spPr>
          <a:xfrm>
            <a:off x="658368" y="914400"/>
            <a:ext cx="4754880" cy="1188720"/>
          </a:xfrm>
          <a:prstGeom prst="rect">
            <a:avLst/>
          </a:prstGeom>
          <a:noFill/>
          <a:ln/>
        </p:spPr>
        <p:txBody>
          <a:bodyPr wrap="square" lIns="0" tIns="0" rIns="0" bIns="0" rtlCol="0" anchor="ctr">
            <a:normAutofit/>
          </a:bodyPr>
          <a:lstStyle/>
          <a:p>
            <a:pPr indent="0" marL="0">
              <a:buNone/>
            </a:pPr>
            <a:r>
              <a:rPr lang="en-US" sz="3300" b="1" dirty="0">
                <a:solidFill>
                  <a:srgbClr val="FFFFFF"/>
                </a:solidFill>
                <a:latin typeface="Trebuchet MS" pitchFamily="34" charset="0"/>
                <a:ea typeface="Trebuchet MS" pitchFamily="34" charset="-122"/>
                <a:cs typeface="Trebuchet MS" pitchFamily="34" charset="-120"/>
              </a:rPr>
              <a:t>Corporate Lobbying and</a:t>
            </a:r>
            <a:endParaRPr lang="en-US" sz="3300" dirty="0"/>
          </a:p>
          <a:p>
            <a:pPr indent="0" marL="0">
              <a:buNone/>
            </a:pPr>
            <a:r>
              <a:rPr lang="en-US" sz="3300" b="1" dirty="0">
                <a:solidFill>
                  <a:srgbClr val="FFFFFF"/>
                </a:solidFill>
                <a:latin typeface="Trebuchet MS" pitchFamily="34" charset="0"/>
                <a:ea typeface="Trebuchet MS" pitchFamily="34" charset="-122"/>
                <a:cs typeface="Trebuchet MS" pitchFamily="34" charset="-120"/>
              </a:rPr>
              <a:t>Firm Profitability</a:t>
            </a:r>
            <a:endParaRPr lang="en-US" sz="3300" dirty="0"/>
          </a:p>
        </p:txBody>
      </p:sp>
      <p:sp>
        <p:nvSpPr>
          <p:cNvPr id="5" name="Text 3"/>
          <p:cNvSpPr/>
          <p:nvPr/>
        </p:nvSpPr>
        <p:spPr>
          <a:xfrm>
            <a:off x="676656" y="2240280"/>
            <a:ext cx="4480560" cy="530352"/>
          </a:xfrm>
          <a:prstGeom prst="rect">
            <a:avLst/>
          </a:prstGeom>
          <a:noFill/>
          <a:ln/>
        </p:spPr>
        <p:txBody>
          <a:bodyPr wrap="square" lIns="0" tIns="0" rIns="0" bIns="0" rtlCol="0" anchor="ctr">
            <a:normAutofit/>
          </a:bodyPr>
          <a:lstStyle/>
          <a:p>
            <a:pPr indent="0" marL="0">
              <a:buNone/>
            </a:pPr>
            <a:r>
              <a:rPr lang="en-US" sz="1300" dirty="0">
                <a:solidFill>
                  <a:srgbClr val="D7E6F7"/>
                </a:solidFill>
                <a:latin typeface="Aptos" pitchFamily="34" charset="0"/>
                <a:ea typeface="Aptos" pitchFamily="34" charset="-122"/>
                <a:cs typeface="Aptos" pitchFamily="34" charset="-120"/>
              </a:rPr>
              <a:t>10-minute executive briefing in plain language</a:t>
            </a:r>
            <a:endParaRPr lang="en-US" sz="1300" dirty="0"/>
          </a:p>
          <a:p>
            <a:pPr indent="0" marL="0">
              <a:buNone/>
            </a:pPr>
            <a:r>
              <a:rPr lang="en-US" sz="1300" dirty="0">
                <a:solidFill>
                  <a:srgbClr val="D7E6F7"/>
                </a:solidFill>
                <a:latin typeface="Aptos" pitchFamily="34" charset="0"/>
                <a:ea typeface="Aptos" pitchFamily="34" charset="-122"/>
                <a:cs typeface="Aptos" pitchFamily="34" charset="-120"/>
              </a:rPr>
              <a:t>Data window: 2010-2020</a:t>
            </a:r>
            <a:endParaRPr lang="en-US" sz="1300" dirty="0"/>
          </a:p>
        </p:txBody>
      </p:sp>
      <p:sp>
        <p:nvSpPr>
          <p:cNvPr id="6" name="Shape 4"/>
          <p:cNvSpPr/>
          <p:nvPr/>
        </p:nvSpPr>
        <p:spPr>
          <a:xfrm>
            <a:off x="5577840" y="914400"/>
            <a:ext cx="2788920" cy="914400"/>
          </a:xfrm>
          <a:prstGeom prst="roundRect">
            <a:avLst>
              <a:gd name="adj" fmla="val 9000"/>
            </a:avLst>
          </a:prstGeom>
          <a:solidFill>
            <a:srgbClr val="FFFFFF"/>
          </a:solidFill>
          <a:ln w="12700">
            <a:solidFill>
              <a:srgbClr val="DDE8F2"/>
            </a:solidFill>
            <a:prstDash val="solid"/>
          </a:ln>
          <a:effectLst>
            <a:outerShdw sx="100000" sy="100000" kx="0" ky="0" algn="bl" rotWithShape="0" blurRad="38100" dist="19050" dir="2700000">
              <a:srgbClr val="000000">
                <a:alpha val="8000"/>
              </a:srgbClr>
            </a:outerShdw>
          </a:effectLst>
        </p:spPr>
      </p:sp>
      <p:sp>
        <p:nvSpPr>
          <p:cNvPr id="7" name="Shape 5"/>
          <p:cNvSpPr/>
          <p:nvPr/>
        </p:nvSpPr>
        <p:spPr>
          <a:xfrm>
            <a:off x="5577840" y="914400"/>
            <a:ext cx="109728" cy="914400"/>
          </a:xfrm>
          <a:prstGeom prst="rect">
            <a:avLst/>
          </a:prstGeom>
          <a:solidFill>
            <a:srgbClr val="58A6FF"/>
          </a:solidFill>
          <a:ln w="12700">
            <a:solidFill>
              <a:srgbClr val="58A6FF"/>
            </a:solidFill>
            <a:prstDash val="solid"/>
          </a:ln>
        </p:spPr>
      </p:sp>
      <p:sp>
        <p:nvSpPr>
          <p:cNvPr id="8" name="Text 6"/>
          <p:cNvSpPr/>
          <p:nvPr/>
        </p:nvSpPr>
        <p:spPr>
          <a:xfrm>
            <a:off x="5779008" y="1005840"/>
            <a:ext cx="2496312" cy="146304"/>
          </a:xfrm>
          <a:prstGeom prst="rect">
            <a:avLst/>
          </a:prstGeom>
          <a:noFill/>
          <a:ln/>
        </p:spPr>
        <p:txBody>
          <a:bodyPr wrap="square" lIns="0" tIns="0" rIns="0" bIns="0" rtlCol="0" anchor="ctr"/>
          <a:lstStyle/>
          <a:p>
            <a:pPr indent="0" marL="0">
              <a:buNone/>
            </a:pPr>
            <a:r>
              <a:rPr lang="en-US" sz="850" b="1" dirty="0">
                <a:solidFill>
                  <a:srgbClr val="5F7084"/>
                </a:solidFill>
                <a:latin typeface="Aptos" pitchFamily="34" charset="0"/>
                <a:ea typeface="Aptos" pitchFamily="34" charset="-122"/>
                <a:cs typeface="Aptos" pitchFamily="34" charset="-120"/>
              </a:rPr>
              <a:t>Main FE estimate</a:t>
            </a:r>
            <a:endParaRPr lang="en-US" sz="850" dirty="0"/>
          </a:p>
        </p:txBody>
      </p:sp>
      <p:sp>
        <p:nvSpPr>
          <p:cNvPr id="9" name="Text 7"/>
          <p:cNvSpPr/>
          <p:nvPr/>
        </p:nvSpPr>
        <p:spPr>
          <a:xfrm>
            <a:off x="5779008" y="1170432"/>
            <a:ext cx="2496312" cy="274320"/>
          </a:xfrm>
          <a:prstGeom prst="rect">
            <a:avLst/>
          </a:prstGeom>
          <a:noFill/>
          <a:ln/>
        </p:spPr>
        <p:txBody>
          <a:bodyPr wrap="square" lIns="0" tIns="0" rIns="0" bIns="0" rtlCol="0" anchor="ctr">
            <a:normAutofit/>
          </a:bodyPr>
          <a:lstStyle/>
          <a:p>
            <a:pPr indent="0" marL="0">
              <a:buNone/>
            </a:pPr>
            <a:r>
              <a:rPr lang="en-US" sz="1700" b="1" dirty="0">
                <a:solidFill>
                  <a:srgbClr val="102A43"/>
                </a:solidFill>
                <a:latin typeface="Trebuchet MS" pitchFamily="34" charset="0"/>
                <a:ea typeface="Trebuchet MS" pitchFamily="34" charset="-122"/>
                <a:cs typeface="Trebuchet MS" pitchFamily="34" charset="-120"/>
              </a:rPr>
              <a:t>-174.6</a:t>
            </a:r>
            <a:endParaRPr lang="en-US" sz="1700" dirty="0"/>
          </a:p>
        </p:txBody>
      </p:sp>
      <p:sp>
        <p:nvSpPr>
          <p:cNvPr id="10" name="Text 8"/>
          <p:cNvSpPr/>
          <p:nvPr/>
        </p:nvSpPr>
        <p:spPr>
          <a:xfrm>
            <a:off x="5779008" y="1463040"/>
            <a:ext cx="2496312" cy="310896"/>
          </a:xfrm>
          <a:prstGeom prst="rect">
            <a:avLst/>
          </a:prstGeom>
          <a:noFill/>
          <a:ln/>
        </p:spPr>
        <p:txBody>
          <a:bodyPr wrap="square" lIns="0" tIns="0" rIns="0" bIns="0" rtlCol="0" anchor="ctr">
            <a:normAutofit/>
          </a:bodyPr>
          <a:lstStyle/>
          <a:p>
            <a:pPr indent="0" marL="0">
              <a:buNone/>
            </a:pPr>
            <a:r>
              <a:rPr lang="en-US" sz="900" dirty="0">
                <a:solidFill>
                  <a:srgbClr val="24364B"/>
                </a:solidFill>
                <a:latin typeface="Aptos" pitchFamily="34" charset="0"/>
                <a:ea typeface="Aptos" pitchFamily="34" charset="-122"/>
                <a:cs typeface="Aptos" pitchFamily="34" charset="-120"/>
              </a:rPr>
              <a:t>Lagged lobbying has a negative sign but is not statistically strong.</a:t>
            </a:r>
            <a:endParaRPr lang="en-US" sz="900" dirty="0"/>
          </a:p>
        </p:txBody>
      </p:sp>
      <p:sp>
        <p:nvSpPr>
          <p:cNvPr id="11" name="Shape 9"/>
          <p:cNvSpPr/>
          <p:nvPr/>
        </p:nvSpPr>
        <p:spPr>
          <a:xfrm>
            <a:off x="5577840" y="1965960"/>
            <a:ext cx="2788920" cy="914400"/>
          </a:xfrm>
          <a:prstGeom prst="roundRect">
            <a:avLst>
              <a:gd name="adj" fmla="val 9000"/>
            </a:avLst>
          </a:prstGeom>
          <a:solidFill>
            <a:srgbClr val="FFFFFF"/>
          </a:solidFill>
          <a:ln w="12700">
            <a:solidFill>
              <a:srgbClr val="DDE8F2"/>
            </a:solidFill>
            <a:prstDash val="solid"/>
          </a:ln>
          <a:effectLst>
            <a:outerShdw sx="100000" sy="100000" kx="0" ky="0" algn="bl" rotWithShape="0" blurRad="38100" dist="19050" dir="2700000">
              <a:srgbClr val="000000">
                <a:alpha val="8000"/>
              </a:srgbClr>
            </a:outerShdw>
          </a:effectLst>
        </p:spPr>
      </p:sp>
      <p:sp>
        <p:nvSpPr>
          <p:cNvPr id="12" name="Shape 10"/>
          <p:cNvSpPr/>
          <p:nvPr/>
        </p:nvSpPr>
        <p:spPr>
          <a:xfrm>
            <a:off x="5577840" y="1965960"/>
            <a:ext cx="109728" cy="914400"/>
          </a:xfrm>
          <a:prstGeom prst="rect">
            <a:avLst/>
          </a:prstGeom>
          <a:solidFill>
            <a:srgbClr val="DCEEFF"/>
          </a:solidFill>
          <a:ln w="12700">
            <a:solidFill>
              <a:srgbClr val="DCEEFF"/>
            </a:solidFill>
            <a:prstDash val="solid"/>
          </a:ln>
        </p:spPr>
      </p:sp>
      <p:sp>
        <p:nvSpPr>
          <p:cNvPr id="13" name="Text 11"/>
          <p:cNvSpPr/>
          <p:nvPr/>
        </p:nvSpPr>
        <p:spPr>
          <a:xfrm>
            <a:off x="5779008" y="2057400"/>
            <a:ext cx="2496312" cy="146304"/>
          </a:xfrm>
          <a:prstGeom prst="rect">
            <a:avLst/>
          </a:prstGeom>
          <a:noFill/>
          <a:ln/>
        </p:spPr>
        <p:txBody>
          <a:bodyPr wrap="square" lIns="0" tIns="0" rIns="0" bIns="0" rtlCol="0" anchor="ctr"/>
          <a:lstStyle/>
          <a:p>
            <a:pPr indent="0" marL="0">
              <a:buNone/>
            </a:pPr>
            <a:r>
              <a:rPr lang="en-US" sz="850" b="1" dirty="0">
                <a:solidFill>
                  <a:srgbClr val="5F7084"/>
                </a:solidFill>
                <a:latin typeface="Aptos" pitchFamily="34" charset="0"/>
                <a:ea typeface="Aptos" pitchFamily="34" charset="-122"/>
                <a:cs typeface="Aptos" pitchFamily="34" charset="-120"/>
              </a:rPr>
              <a:t>p-value</a:t>
            </a:r>
            <a:endParaRPr lang="en-US" sz="850" dirty="0"/>
          </a:p>
        </p:txBody>
      </p:sp>
      <p:sp>
        <p:nvSpPr>
          <p:cNvPr id="14" name="Text 12"/>
          <p:cNvSpPr/>
          <p:nvPr/>
        </p:nvSpPr>
        <p:spPr>
          <a:xfrm>
            <a:off x="5779008" y="2221992"/>
            <a:ext cx="2496312" cy="274320"/>
          </a:xfrm>
          <a:prstGeom prst="rect">
            <a:avLst/>
          </a:prstGeom>
          <a:noFill/>
          <a:ln/>
        </p:spPr>
        <p:txBody>
          <a:bodyPr wrap="square" lIns="0" tIns="0" rIns="0" bIns="0" rtlCol="0" anchor="ctr">
            <a:normAutofit/>
          </a:bodyPr>
          <a:lstStyle/>
          <a:p>
            <a:pPr indent="0" marL="0">
              <a:buNone/>
            </a:pPr>
            <a:r>
              <a:rPr lang="en-US" sz="1700" b="1" dirty="0">
                <a:solidFill>
                  <a:srgbClr val="102A43"/>
                </a:solidFill>
                <a:latin typeface="Trebuchet MS" pitchFamily="34" charset="0"/>
                <a:ea typeface="Trebuchet MS" pitchFamily="34" charset="-122"/>
                <a:cs typeface="Trebuchet MS" pitchFamily="34" charset="-120"/>
              </a:rPr>
              <a:t>0.135</a:t>
            </a:r>
            <a:endParaRPr lang="en-US" sz="1700" dirty="0"/>
          </a:p>
        </p:txBody>
      </p:sp>
      <p:sp>
        <p:nvSpPr>
          <p:cNvPr id="15" name="Text 13"/>
          <p:cNvSpPr/>
          <p:nvPr/>
        </p:nvSpPr>
        <p:spPr>
          <a:xfrm>
            <a:off x="5779008" y="2514600"/>
            <a:ext cx="2496312" cy="310896"/>
          </a:xfrm>
          <a:prstGeom prst="rect">
            <a:avLst/>
          </a:prstGeom>
          <a:noFill/>
          <a:ln/>
        </p:spPr>
        <p:txBody>
          <a:bodyPr wrap="square" lIns="0" tIns="0" rIns="0" bIns="0" rtlCol="0" anchor="ctr">
            <a:normAutofit/>
          </a:bodyPr>
          <a:lstStyle/>
          <a:p>
            <a:pPr indent="0" marL="0">
              <a:buNone/>
            </a:pPr>
            <a:r>
              <a:rPr lang="en-US" sz="900" dirty="0">
                <a:solidFill>
                  <a:srgbClr val="24364B"/>
                </a:solidFill>
                <a:latin typeface="Aptos" pitchFamily="34" charset="0"/>
                <a:ea typeface="Aptos" pitchFamily="34" charset="-122"/>
                <a:cs typeface="Aptos" pitchFamily="34" charset="-120"/>
              </a:rPr>
              <a:t>Uncertainty is high, so use as a caution signal, not proof.</a:t>
            </a:r>
            <a:endParaRPr lang="en-US" sz="900" dirty="0"/>
          </a:p>
        </p:txBody>
      </p:sp>
      <p:sp>
        <p:nvSpPr>
          <p:cNvPr id="16" name="Shape 14"/>
          <p:cNvSpPr/>
          <p:nvPr/>
        </p:nvSpPr>
        <p:spPr>
          <a:xfrm>
            <a:off x="5577840" y="3017520"/>
            <a:ext cx="2788920" cy="914400"/>
          </a:xfrm>
          <a:prstGeom prst="roundRect">
            <a:avLst>
              <a:gd name="adj" fmla="val 9000"/>
            </a:avLst>
          </a:prstGeom>
          <a:solidFill>
            <a:srgbClr val="FFFFFF"/>
          </a:solidFill>
          <a:ln w="12700">
            <a:solidFill>
              <a:srgbClr val="DDE8F2"/>
            </a:solidFill>
            <a:prstDash val="solid"/>
          </a:ln>
          <a:effectLst>
            <a:outerShdw sx="100000" sy="100000" kx="0" ky="0" algn="bl" rotWithShape="0" blurRad="38100" dist="19050" dir="2700000">
              <a:srgbClr val="000000">
                <a:alpha val="8000"/>
              </a:srgbClr>
            </a:outerShdw>
          </a:effectLst>
        </p:spPr>
      </p:sp>
      <p:sp>
        <p:nvSpPr>
          <p:cNvPr id="17" name="Shape 15"/>
          <p:cNvSpPr/>
          <p:nvPr/>
        </p:nvSpPr>
        <p:spPr>
          <a:xfrm>
            <a:off x="5577840" y="3017520"/>
            <a:ext cx="109728" cy="914400"/>
          </a:xfrm>
          <a:prstGeom prst="rect">
            <a:avLst/>
          </a:prstGeom>
          <a:solidFill>
            <a:srgbClr val="DCEEFF"/>
          </a:solidFill>
          <a:ln w="12700">
            <a:solidFill>
              <a:srgbClr val="DCEEFF"/>
            </a:solidFill>
            <a:prstDash val="solid"/>
          </a:ln>
        </p:spPr>
      </p:sp>
      <p:sp>
        <p:nvSpPr>
          <p:cNvPr id="18" name="Text 16"/>
          <p:cNvSpPr/>
          <p:nvPr/>
        </p:nvSpPr>
        <p:spPr>
          <a:xfrm>
            <a:off x="5779008" y="3108960"/>
            <a:ext cx="2496312" cy="146304"/>
          </a:xfrm>
          <a:prstGeom prst="rect">
            <a:avLst/>
          </a:prstGeom>
          <a:noFill/>
          <a:ln/>
        </p:spPr>
        <p:txBody>
          <a:bodyPr wrap="square" lIns="0" tIns="0" rIns="0" bIns="0" rtlCol="0" anchor="ctr"/>
          <a:lstStyle/>
          <a:p>
            <a:pPr indent="0" marL="0">
              <a:buNone/>
            </a:pPr>
            <a:r>
              <a:rPr lang="en-US" sz="850" b="1" dirty="0">
                <a:solidFill>
                  <a:srgbClr val="5F7084"/>
                </a:solidFill>
                <a:latin typeface="Aptos" pitchFamily="34" charset="0"/>
                <a:ea typeface="Aptos" pitchFamily="34" charset="-122"/>
                <a:cs typeface="Aptos" pitchFamily="34" charset="-120"/>
              </a:rPr>
              <a:t>Main sample</a:t>
            </a:r>
            <a:endParaRPr lang="en-US" sz="850" dirty="0"/>
          </a:p>
        </p:txBody>
      </p:sp>
      <p:sp>
        <p:nvSpPr>
          <p:cNvPr id="19" name="Text 17"/>
          <p:cNvSpPr/>
          <p:nvPr/>
        </p:nvSpPr>
        <p:spPr>
          <a:xfrm>
            <a:off x="5779008" y="3273552"/>
            <a:ext cx="2496312" cy="274320"/>
          </a:xfrm>
          <a:prstGeom prst="rect">
            <a:avLst/>
          </a:prstGeom>
          <a:noFill/>
          <a:ln/>
        </p:spPr>
        <p:txBody>
          <a:bodyPr wrap="square" lIns="0" tIns="0" rIns="0" bIns="0" rtlCol="0" anchor="ctr">
            <a:normAutofit/>
          </a:bodyPr>
          <a:lstStyle/>
          <a:p>
            <a:pPr indent="0" marL="0">
              <a:buNone/>
            </a:pPr>
            <a:r>
              <a:rPr lang="en-US" sz="1700" b="1" dirty="0">
                <a:solidFill>
                  <a:srgbClr val="102A43"/>
                </a:solidFill>
                <a:latin typeface="Trebuchet MS" pitchFamily="34" charset="0"/>
                <a:ea typeface="Trebuchet MS" pitchFamily="34" charset="-122"/>
                <a:cs typeface="Trebuchet MS" pitchFamily="34" charset="-120"/>
              </a:rPr>
              <a:t>2,125 rows</a:t>
            </a:r>
            <a:endParaRPr lang="en-US" sz="1700" dirty="0"/>
          </a:p>
        </p:txBody>
      </p:sp>
      <p:sp>
        <p:nvSpPr>
          <p:cNvPr id="20" name="Text 18"/>
          <p:cNvSpPr/>
          <p:nvPr/>
        </p:nvSpPr>
        <p:spPr>
          <a:xfrm>
            <a:off x="5779008" y="3566160"/>
            <a:ext cx="2496312" cy="310896"/>
          </a:xfrm>
          <a:prstGeom prst="rect">
            <a:avLst/>
          </a:prstGeom>
          <a:noFill/>
          <a:ln/>
        </p:spPr>
        <p:txBody>
          <a:bodyPr wrap="square" lIns="0" tIns="0" rIns="0" bIns="0" rtlCol="0" anchor="ctr">
            <a:normAutofit/>
          </a:bodyPr>
          <a:lstStyle/>
          <a:p>
            <a:pPr indent="0" marL="0">
              <a:buNone/>
            </a:pPr>
            <a:r>
              <a:rPr lang="en-US" sz="900" dirty="0">
                <a:solidFill>
                  <a:srgbClr val="24364B"/>
                </a:solidFill>
                <a:latin typeface="Aptos" pitchFamily="34" charset="0"/>
                <a:ea typeface="Aptos" pitchFamily="34" charset="-122"/>
                <a:cs typeface="Aptos" pitchFamily="34" charset="-120"/>
              </a:rPr>
              <a:t>Firm-year observations after lagging and cleaning.</a:t>
            </a:r>
            <a:endParaRPr lang="en-US" sz="900" dirty="0"/>
          </a:p>
        </p:txBody>
      </p:sp>
      <p:sp>
        <p:nvSpPr>
          <p:cNvPr id="21" name="Shape 19"/>
          <p:cNvSpPr/>
          <p:nvPr/>
        </p:nvSpPr>
        <p:spPr>
          <a:xfrm>
            <a:off x="5577840" y="4069080"/>
            <a:ext cx="2788920" cy="914400"/>
          </a:xfrm>
          <a:prstGeom prst="roundRect">
            <a:avLst>
              <a:gd name="adj" fmla="val 9000"/>
            </a:avLst>
          </a:prstGeom>
          <a:solidFill>
            <a:srgbClr val="FFFFFF"/>
          </a:solidFill>
          <a:ln w="12700">
            <a:solidFill>
              <a:srgbClr val="DDE8F2"/>
            </a:solidFill>
            <a:prstDash val="solid"/>
          </a:ln>
          <a:effectLst>
            <a:outerShdw sx="100000" sy="100000" kx="0" ky="0" algn="bl" rotWithShape="0" blurRad="38100" dist="19050" dir="2700000">
              <a:srgbClr val="000000">
                <a:alpha val="8000"/>
              </a:srgbClr>
            </a:outerShdw>
          </a:effectLst>
        </p:spPr>
      </p:sp>
      <p:sp>
        <p:nvSpPr>
          <p:cNvPr id="22" name="Shape 20"/>
          <p:cNvSpPr/>
          <p:nvPr/>
        </p:nvSpPr>
        <p:spPr>
          <a:xfrm>
            <a:off x="5577840" y="4069080"/>
            <a:ext cx="109728" cy="914400"/>
          </a:xfrm>
          <a:prstGeom prst="rect">
            <a:avLst/>
          </a:prstGeom>
          <a:solidFill>
            <a:srgbClr val="DCEEFF"/>
          </a:solidFill>
          <a:ln w="12700">
            <a:solidFill>
              <a:srgbClr val="DCEEFF"/>
            </a:solidFill>
            <a:prstDash val="solid"/>
          </a:ln>
        </p:spPr>
      </p:sp>
      <p:sp>
        <p:nvSpPr>
          <p:cNvPr id="23" name="Text 21"/>
          <p:cNvSpPr/>
          <p:nvPr/>
        </p:nvSpPr>
        <p:spPr>
          <a:xfrm>
            <a:off x="5779008" y="4160520"/>
            <a:ext cx="2496312" cy="146304"/>
          </a:xfrm>
          <a:prstGeom prst="rect">
            <a:avLst/>
          </a:prstGeom>
          <a:noFill/>
          <a:ln/>
        </p:spPr>
        <p:txBody>
          <a:bodyPr wrap="square" lIns="0" tIns="0" rIns="0" bIns="0" rtlCol="0" anchor="ctr"/>
          <a:lstStyle/>
          <a:p>
            <a:pPr indent="0" marL="0">
              <a:buNone/>
            </a:pPr>
            <a:r>
              <a:rPr lang="en-US" sz="850" b="1" dirty="0">
                <a:solidFill>
                  <a:srgbClr val="5F7084"/>
                </a:solidFill>
                <a:latin typeface="Aptos" pitchFamily="34" charset="0"/>
                <a:ea typeface="Aptos" pitchFamily="34" charset="-122"/>
                <a:cs typeface="Aptos" pitchFamily="34" charset="-120"/>
              </a:rPr>
              <a:t>Balanced panel</a:t>
            </a:r>
            <a:endParaRPr lang="en-US" sz="850" dirty="0"/>
          </a:p>
        </p:txBody>
      </p:sp>
      <p:sp>
        <p:nvSpPr>
          <p:cNvPr id="24" name="Text 22"/>
          <p:cNvSpPr/>
          <p:nvPr/>
        </p:nvSpPr>
        <p:spPr>
          <a:xfrm>
            <a:off x="5779008" y="4325112"/>
            <a:ext cx="2496312" cy="274320"/>
          </a:xfrm>
          <a:prstGeom prst="rect">
            <a:avLst/>
          </a:prstGeom>
          <a:noFill/>
          <a:ln/>
        </p:spPr>
        <p:txBody>
          <a:bodyPr wrap="square" lIns="0" tIns="0" rIns="0" bIns="0" rtlCol="0" anchor="ctr">
            <a:normAutofit/>
          </a:bodyPr>
          <a:lstStyle/>
          <a:p>
            <a:pPr indent="0" marL="0">
              <a:buNone/>
            </a:pPr>
            <a:r>
              <a:rPr lang="en-US" sz="1700" b="1" dirty="0">
                <a:solidFill>
                  <a:srgbClr val="102A43"/>
                </a:solidFill>
                <a:latin typeface="Trebuchet MS" pitchFamily="34" charset="0"/>
                <a:ea typeface="Trebuchet MS" pitchFamily="34" charset="-122"/>
                <a:cs typeface="Trebuchet MS" pitchFamily="34" charset="-120"/>
              </a:rPr>
              <a:t>836 rows</a:t>
            </a:r>
            <a:endParaRPr lang="en-US" sz="1700" dirty="0"/>
          </a:p>
        </p:txBody>
      </p:sp>
      <p:sp>
        <p:nvSpPr>
          <p:cNvPr id="25" name="Text 23"/>
          <p:cNvSpPr/>
          <p:nvPr/>
        </p:nvSpPr>
        <p:spPr>
          <a:xfrm>
            <a:off x="5779008" y="4617720"/>
            <a:ext cx="2496312" cy="310896"/>
          </a:xfrm>
          <a:prstGeom prst="rect">
            <a:avLst/>
          </a:prstGeom>
          <a:noFill/>
          <a:ln/>
        </p:spPr>
        <p:txBody>
          <a:bodyPr wrap="square" lIns="0" tIns="0" rIns="0" bIns="0" rtlCol="0" anchor="ctr">
            <a:normAutofit/>
          </a:bodyPr>
          <a:lstStyle/>
          <a:p>
            <a:pPr indent="0" marL="0">
              <a:buNone/>
            </a:pPr>
            <a:r>
              <a:rPr lang="en-US" sz="900" dirty="0">
                <a:solidFill>
                  <a:srgbClr val="24364B"/>
                </a:solidFill>
                <a:latin typeface="Aptos" pitchFamily="34" charset="0"/>
                <a:ea typeface="Aptos" pitchFamily="34" charset="-122"/>
                <a:cs typeface="Aptos" pitchFamily="34" charset="-120"/>
              </a:rPr>
              <a:t>66 firms with full 2010-2020 histories.</a:t>
            </a:r>
            <a:endParaRPr lang="en-US" sz="900" dirty="0"/>
          </a:p>
        </p:txBody>
      </p:sp>
      <p:sp>
        <p:nvSpPr>
          <p:cNvPr id="26" name="Text 24"/>
          <p:cNvSpPr/>
          <p:nvPr/>
        </p:nvSpPr>
        <p:spPr>
          <a:xfrm>
            <a:off x="676656" y="6053328"/>
            <a:ext cx="4937760" cy="164592"/>
          </a:xfrm>
          <a:prstGeom prst="rect">
            <a:avLst/>
          </a:prstGeom>
          <a:noFill/>
          <a:ln/>
        </p:spPr>
        <p:txBody>
          <a:bodyPr wrap="square" lIns="0" tIns="0" rIns="0" bIns="0" rtlCol="0" anchor="ctr"/>
          <a:lstStyle/>
          <a:p>
            <a:pPr indent="0" marL="0">
              <a:buNone/>
            </a:pPr>
            <a:r>
              <a:rPr lang="en-US" sz="900" dirty="0">
                <a:solidFill>
                  <a:srgbClr val="D7E6F7"/>
                </a:solidFill>
                <a:latin typeface="Aptos" pitchFamily="34" charset="0"/>
                <a:ea typeface="Aptos" pitchFamily="34" charset="-122"/>
                <a:cs typeface="Aptos" pitchFamily="34" charset="-120"/>
              </a:rPr>
              <a:t>Team capstone deck aligned to memo requirements</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F8FD"/>
        </a:solidFill>
      </p:bgPr>
    </p:bg>
    <p:spTree>
      <p:nvGrpSpPr>
        <p:cNvPr id="1" name=""/>
        <p:cNvGrpSpPr/>
        <p:nvPr/>
      </p:nvGrpSpPr>
      <p:grpSpPr>
        <a:xfrm>
          <a:off x="0" y="0"/>
          <a:ext cx="0" cy="0"/>
          <a:chOff x="0" y="0"/>
          <a:chExt cx="0" cy="0"/>
        </a:xfrm>
      </p:grpSpPr>
      <p:sp>
        <p:nvSpPr>
          <p:cNvPr id="2" name="Shape 0"/>
          <p:cNvSpPr/>
          <p:nvPr/>
        </p:nvSpPr>
        <p:spPr>
          <a:xfrm>
            <a:off x="502920" y="292608"/>
            <a:ext cx="1783080" cy="310896"/>
          </a:xfrm>
          <a:prstGeom prst="roundRect">
            <a:avLst>
              <a:gd name="adj" fmla="val 23529"/>
            </a:avLst>
          </a:prstGeom>
          <a:solidFill>
            <a:srgbClr val="DCEEFF"/>
          </a:solidFill>
          <a:ln w="12700">
            <a:solidFill>
              <a:srgbClr val="DCEEFF"/>
            </a:solidFill>
            <a:prstDash val="solid"/>
          </a:ln>
        </p:spPr>
      </p:sp>
      <p:sp>
        <p:nvSpPr>
          <p:cNvPr id="3" name="Text 1"/>
          <p:cNvSpPr/>
          <p:nvPr/>
        </p:nvSpPr>
        <p:spPr>
          <a:xfrm>
            <a:off x="502920" y="320040"/>
            <a:ext cx="1783080" cy="201168"/>
          </a:xfrm>
          <a:prstGeom prst="rect">
            <a:avLst/>
          </a:prstGeom>
          <a:noFill/>
          <a:ln/>
        </p:spPr>
        <p:txBody>
          <a:bodyPr wrap="square" lIns="0" tIns="0" rIns="0" bIns="0" rtlCol="0" anchor="ctr"/>
          <a:lstStyle/>
          <a:p>
            <a:pPr algn="ctr" indent="0" marL="0">
              <a:buNone/>
            </a:pPr>
            <a:r>
              <a:rPr lang="en-US" sz="900" b="1" spc="110" kern="0" dirty="0">
                <a:solidFill>
                  <a:srgbClr val="102A43"/>
                </a:solidFill>
                <a:latin typeface="Trebuchet MS" pitchFamily="34" charset="0"/>
                <a:ea typeface="Trebuchet MS" pitchFamily="34" charset="-122"/>
                <a:cs typeface="Trebuchet MS" pitchFamily="34" charset="-120"/>
              </a:rPr>
              <a:t>EXECUTIVE SUMMARY</a:t>
            </a:r>
            <a:endParaRPr lang="en-US" sz="900" dirty="0"/>
          </a:p>
        </p:txBody>
      </p:sp>
      <p:sp>
        <p:nvSpPr>
          <p:cNvPr id="4" name="Text 2"/>
          <p:cNvSpPr/>
          <p:nvPr/>
        </p:nvSpPr>
        <p:spPr>
          <a:xfrm>
            <a:off x="502920" y="658368"/>
            <a:ext cx="8046720" cy="420624"/>
          </a:xfrm>
          <a:prstGeom prst="rect">
            <a:avLst/>
          </a:prstGeom>
          <a:noFill/>
          <a:ln/>
        </p:spPr>
        <p:txBody>
          <a:bodyPr wrap="square" lIns="0" tIns="0" rIns="0" bIns="0" rtlCol="0" anchor="ctr">
            <a:normAutofit/>
          </a:bodyPr>
          <a:lstStyle/>
          <a:p>
            <a:pPr indent="0" marL="0">
              <a:buNone/>
            </a:pPr>
            <a:r>
              <a:rPr lang="en-US" sz="2400" b="1" dirty="0">
                <a:solidFill>
                  <a:srgbClr val="102A43"/>
                </a:solidFill>
                <a:latin typeface="Trebuchet MS" pitchFamily="34" charset="0"/>
                <a:ea typeface="Trebuchet MS" pitchFamily="34" charset="-122"/>
                <a:cs typeface="Trebuchet MS" pitchFamily="34" charset="-120"/>
              </a:rPr>
              <a:t>What we found and what to do with it</a:t>
            </a:r>
            <a:endParaRPr lang="en-US" sz="2400" dirty="0"/>
          </a:p>
        </p:txBody>
      </p:sp>
      <p:sp>
        <p:nvSpPr>
          <p:cNvPr id="5" name="Text 3"/>
          <p:cNvSpPr/>
          <p:nvPr/>
        </p:nvSpPr>
        <p:spPr>
          <a:xfrm>
            <a:off x="502920" y="1024128"/>
            <a:ext cx="8138160" cy="310896"/>
          </a:xfrm>
          <a:prstGeom prst="rect">
            <a:avLst/>
          </a:prstGeom>
          <a:noFill/>
          <a:ln/>
        </p:spPr>
        <p:txBody>
          <a:bodyPr wrap="square" lIns="0" tIns="0" rIns="0" bIns="0" rtlCol="0" anchor="ctr">
            <a:normAutofit/>
          </a:bodyPr>
          <a:lstStyle/>
          <a:p>
            <a:pPr indent="0" marL="0">
              <a:buNone/>
            </a:pPr>
            <a:r>
              <a:rPr lang="en-US" sz="1050" dirty="0">
                <a:solidFill>
                  <a:srgbClr val="5F7084"/>
                </a:solidFill>
                <a:latin typeface="Aptos" pitchFamily="34" charset="0"/>
                <a:ea typeface="Aptos" pitchFamily="34" charset="-122"/>
                <a:cs typeface="Aptos" pitchFamily="34" charset="-120"/>
              </a:rPr>
              <a:t>Key finding in 2-3 sentences, then a direct recommendation.</a:t>
            </a:r>
            <a:endParaRPr lang="en-US" sz="1050" dirty="0"/>
          </a:p>
        </p:txBody>
      </p:sp>
      <p:sp>
        <p:nvSpPr>
          <p:cNvPr id="6" name="Shape 4"/>
          <p:cNvSpPr/>
          <p:nvPr/>
        </p:nvSpPr>
        <p:spPr>
          <a:xfrm>
            <a:off x="502920" y="1417320"/>
            <a:ext cx="5760720" cy="4069080"/>
          </a:xfrm>
          <a:prstGeom prst="roundRect">
            <a:avLst>
              <a:gd name="adj" fmla="val 2022"/>
            </a:avLst>
          </a:prstGeom>
          <a:solidFill>
            <a:srgbClr val="FFFFFF"/>
          </a:solidFill>
          <a:ln w="12700">
            <a:solidFill>
              <a:srgbClr val="DDE8F2"/>
            </a:solidFill>
            <a:prstDash val="solid"/>
          </a:ln>
          <a:effectLst>
            <a:outerShdw sx="100000" sy="100000" kx="0" ky="0" algn="bl" rotWithShape="0" blurRad="38100" dist="19050" dir="2700000">
              <a:srgbClr val="000000">
                <a:alpha val="7000"/>
              </a:srgbClr>
            </a:outerShdw>
          </a:effectLst>
        </p:spPr>
      </p:sp>
      <p:sp>
        <p:nvSpPr>
          <p:cNvPr id="7" name="Text 5"/>
          <p:cNvSpPr/>
          <p:nvPr/>
        </p:nvSpPr>
        <p:spPr>
          <a:xfrm>
            <a:off x="749808" y="1691640"/>
            <a:ext cx="5230368" cy="182880"/>
          </a:xfrm>
          <a:prstGeom prst="rect">
            <a:avLst/>
          </a:prstGeom>
          <a:noFill/>
          <a:ln/>
        </p:spPr>
        <p:txBody>
          <a:bodyPr wrap="square" lIns="0" tIns="0" rIns="0" bIns="0" rtlCol="0" anchor="ctr"/>
          <a:lstStyle/>
          <a:p>
            <a:pPr indent="0" marL="0">
              <a:buNone/>
            </a:pPr>
            <a:r>
              <a:rPr lang="en-US" sz="1500" b="1" dirty="0">
                <a:solidFill>
                  <a:srgbClr val="102A43"/>
                </a:solidFill>
                <a:latin typeface="Trebuchet MS" pitchFamily="34" charset="0"/>
                <a:ea typeface="Trebuchet MS" pitchFamily="34" charset="-122"/>
                <a:cs typeface="Trebuchet MS" pitchFamily="34" charset="-120"/>
              </a:rPr>
              <a:t>Key finding (plain language)</a:t>
            </a:r>
            <a:endParaRPr lang="en-US" sz="1500" dirty="0"/>
          </a:p>
        </p:txBody>
      </p:sp>
      <p:sp>
        <p:nvSpPr>
          <p:cNvPr id="8" name="Text 6"/>
          <p:cNvSpPr/>
          <p:nvPr/>
        </p:nvSpPr>
        <p:spPr>
          <a:xfrm>
            <a:off x="749808" y="1993392"/>
            <a:ext cx="5230368" cy="1417320"/>
          </a:xfrm>
          <a:prstGeom prst="rect">
            <a:avLst/>
          </a:prstGeom>
          <a:noFill/>
          <a:ln/>
        </p:spPr>
        <p:txBody>
          <a:bodyPr wrap="square" lIns="0" tIns="0" rIns="0" bIns="0" rtlCol="0" anchor="ctr">
            <a:normAutofit/>
          </a:bodyPr>
          <a:lstStyle/>
          <a:p>
            <a:pPr indent="0" marL="0">
              <a:buNone/>
            </a:pPr>
            <a:r>
              <a:rPr lang="en-US" sz="1380" dirty="0">
                <a:solidFill>
                  <a:srgbClr val="24364B"/>
                </a:solidFill>
                <a:latin typeface="Aptos" pitchFamily="34" charset="0"/>
                <a:ea typeface="Aptos" pitchFamily="34" charset="-122"/>
                <a:cs typeface="Aptos" pitchFamily="34" charset="-120"/>
              </a:rPr>
              <a:t>In our main model, firms that spent more on lobbying in one year tended to have lower profitability in the next year. The size of that estimate is large, but the uncertainty is also large, so this is a directional signal, not a guaranteed effect. The lag pattern and placebo test suggest timing problems, including possible reverse causality.</a:t>
            </a:r>
            <a:endParaRPr lang="en-US" sz="1380" dirty="0"/>
          </a:p>
        </p:txBody>
      </p:sp>
      <p:sp>
        <p:nvSpPr>
          <p:cNvPr id="9" name="Text 7"/>
          <p:cNvSpPr/>
          <p:nvPr/>
        </p:nvSpPr>
        <p:spPr>
          <a:xfrm>
            <a:off x="749808" y="3611880"/>
            <a:ext cx="5230368" cy="182880"/>
          </a:xfrm>
          <a:prstGeom prst="rect">
            <a:avLst/>
          </a:prstGeom>
          <a:noFill/>
          <a:ln/>
        </p:spPr>
        <p:txBody>
          <a:bodyPr wrap="square" lIns="0" tIns="0" rIns="0" bIns="0" rtlCol="0" anchor="ctr"/>
          <a:lstStyle/>
          <a:p>
            <a:pPr indent="0" marL="0">
              <a:buNone/>
            </a:pPr>
            <a:r>
              <a:rPr lang="en-US" sz="1500" b="1" dirty="0">
                <a:solidFill>
                  <a:srgbClr val="102A43"/>
                </a:solidFill>
                <a:latin typeface="Trebuchet MS" pitchFamily="34" charset="0"/>
                <a:ea typeface="Trebuchet MS" pitchFamily="34" charset="-122"/>
                <a:cs typeface="Trebuchet MS" pitchFamily="34" charset="-120"/>
              </a:rPr>
              <a:t>Recommendation (plain language)</a:t>
            </a:r>
            <a:endParaRPr lang="en-US" sz="1500" dirty="0"/>
          </a:p>
        </p:txBody>
      </p:sp>
      <p:sp>
        <p:nvSpPr>
          <p:cNvPr id="10" name="Text 8"/>
          <p:cNvSpPr/>
          <p:nvPr/>
        </p:nvSpPr>
        <p:spPr>
          <a:xfrm>
            <a:off x="749808" y="3913632"/>
            <a:ext cx="5230368" cy="1051560"/>
          </a:xfrm>
          <a:prstGeom prst="rect">
            <a:avLst/>
          </a:prstGeom>
          <a:noFill/>
          <a:ln/>
        </p:spPr>
        <p:txBody>
          <a:bodyPr wrap="square" lIns="0" tIns="0" rIns="0" bIns="0" rtlCol="0" anchor="ctr">
            <a:normAutofit/>
          </a:bodyPr>
          <a:lstStyle/>
          <a:p>
            <a:pPr indent="0" marL="0">
              <a:buNone/>
            </a:pPr>
            <a:r>
              <a:rPr lang="en-US" sz="1280" dirty="0">
                <a:solidFill>
                  <a:srgbClr val="24364B"/>
                </a:solidFill>
                <a:latin typeface="Aptos" pitchFamily="34" charset="0"/>
                <a:ea typeface="Aptos" pitchFamily="34" charset="-122"/>
                <a:cs typeface="Aptos" pitchFamily="34" charset="-120"/>
              </a:rPr>
              <a:t>Do not treat lobbying intensity as a stand-alone buy signal. For allocation, overweight steadier cash-flow sectors by about 10-15% and underweight policy-sensitive, lobbying-heavy names by about 10%, unless confirmed by stronger fundamentals.</a:t>
            </a:r>
            <a:endParaRPr lang="en-US" sz="1280" dirty="0"/>
          </a:p>
        </p:txBody>
      </p:sp>
      <p:sp>
        <p:nvSpPr>
          <p:cNvPr id="11" name="Shape 9"/>
          <p:cNvSpPr/>
          <p:nvPr/>
        </p:nvSpPr>
        <p:spPr>
          <a:xfrm>
            <a:off x="6446520" y="1417320"/>
            <a:ext cx="1965960" cy="932688"/>
          </a:xfrm>
          <a:prstGeom prst="roundRect">
            <a:avLst>
              <a:gd name="adj" fmla="val 8824"/>
            </a:avLst>
          </a:prstGeom>
          <a:solidFill>
            <a:srgbClr val="FFFFFF"/>
          </a:solidFill>
          <a:ln w="12700">
            <a:solidFill>
              <a:srgbClr val="DDE8F2"/>
            </a:solidFill>
            <a:prstDash val="solid"/>
          </a:ln>
          <a:effectLst>
            <a:outerShdw sx="100000" sy="100000" kx="0" ky="0" algn="bl" rotWithShape="0" blurRad="38100" dist="19050" dir="2700000">
              <a:srgbClr val="000000">
                <a:alpha val="8000"/>
              </a:srgbClr>
            </a:outerShdw>
          </a:effectLst>
        </p:spPr>
      </p:sp>
      <p:sp>
        <p:nvSpPr>
          <p:cNvPr id="12" name="Shape 10"/>
          <p:cNvSpPr/>
          <p:nvPr/>
        </p:nvSpPr>
        <p:spPr>
          <a:xfrm>
            <a:off x="6446520" y="1417320"/>
            <a:ext cx="109728" cy="932688"/>
          </a:xfrm>
          <a:prstGeom prst="rect">
            <a:avLst/>
          </a:prstGeom>
          <a:solidFill>
            <a:srgbClr val="58A6FF"/>
          </a:solidFill>
          <a:ln w="12700">
            <a:solidFill>
              <a:srgbClr val="58A6FF"/>
            </a:solidFill>
            <a:prstDash val="solid"/>
          </a:ln>
        </p:spPr>
      </p:sp>
      <p:sp>
        <p:nvSpPr>
          <p:cNvPr id="13" name="Text 11"/>
          <p:cNvSpPr/>
          <p:nvPr/>
        </p:nvSpPr>
        <p:spPr>
          <a:xfrm>
            <a:off x="6647688" y="1508760"/>
            <a:ext cx="1673352" cy="146304"/>
          </a:xfrm>
          <a:prstGeom prst="rect">
            <a:avLst/>
          </a:prstGeom>
          <a:noFill/>
          <a:ln/>
        </p:spPr>
        <p:txBody>
          <a:bodyPr wrap="square" lIns="0" tIns="0" rIns="0" bIns="0" rtlCol="0" anchor="ctr"/>
          <a:lstStyle/>
          <a:p>
            <a:pPr indent="0" marL="0">
              <a:buNone/>
            </a:pPr>
            <a:r>
              <a:rPr lang="en-US" sz="850" b="1" dirty="0">
                <a:solidFill>
                  <a:srgbClr val="5F7084"/>
                </a:solidFill>
                <a:latin typeface="Aptos" pitchFamily="34" charset="0"/>
                <a:ea typeface="Aptos" pitchFamily="34" charset="-122"/>
                <a:cs typeface="Aptos" pitchFamily="34" charset="-120"/>
              </a:rPr>
              <a:t>Magnitude</a:t>
            </a:r>
            <a:endParaRPr lang="en-US" sz="850" dirty="0"/>
          </a:p>
        </p:txBody>
      </p:sp>
      <p:sp>
        <p:nvSpPr>
          <p:cNvPr id="14" name="Text 12"/>
          <p:cNvSpPr/>
          <p:nvPr/>
        </p:nvSpPr>
        <p:spPr>
          <a:xfrm>
            <a:off x="6647688" y="1673352"/>
            <a:ext cx="1673352" cy="274320"/>
          </a:xfrm>
          <a:prstGeom prst="rect">
            <a:avLst/>
          </a:prstGeom>
          <a:noFill/>
          <a:ln/>
        </p:spPr>
        <p:txBody>
          <a:bodyPr wrap="square" lIns="0" tIns="0" rIns="0" bIns="0" rtlCol="0" anchor="ctr">
            <a:normAutofit/>
          </a:bodyPr>
          <a:lstStyle/>
          <a:p>
            <a:pPr indent="0" marL="0">
              <a:buNone/>
            </a:pPr>
            <a:r>
              <a:rPr lang="en-US" sz="1700" b="1" dirty="0">
                <a:solidFill>
                  <a:srgbClr val="102A43"/>
                </a:solidFill>
                <a:latin typeface="Trebuchet MS" pitchFamily="34" charset="0"/>
                <a:ea typeface="Trebuchet MS" pitchFamily="34" charset="-122"/>
                <a:cs typeface="Trebuchet MS" pitchFamily="34" charset="-120"/>
              </a:rPr>
              <a:t>-174.6</a:t>
            </a:r>
            <a:endParaRPr lang="en-US" sz="1700" dirty="0"/>
          </a:p>
        </p:txBody>
      </p:sp>
      <p:sp>
        <p:nvSpPr>
          <p:cNvPr id="15" name="Text 13"/>
          <p:cNvSpPr/>
          <p:nvPr/>
        </p:nvSpPr>
        <p:spPr>
          <a:xfrm>
            <a:off x="6647688" y="1965960"/>
            <a:ext cx="1673352" cy="329184"/>
          </a:xfrm>
          <a:prstGeom prst="rect">
            <a:avLst/>
          </a:prstGeom>
          <a:noFill/>
          <a:ln/>
        </p:spPr>
        <p:txBody>
          <a:bodyPr wrap="square" lIns="0" tIns="0" rIns="0" bIns="0" rtlCol="0" anchor="ctr">
            <a:normAutofit/>
          </a:bodyPr>
          <a:lstStyle/>
          <a:p>
            <a:pPr indent="0" marL="0">
              <a:buNone/>
            </a:pPr>
            <a:r>
              <a:rPr lang="en-US" sz="900" dirty="0">
                <a:solidFill>
                  <a:srgbClr val="24364B"/>
                </a:solidFill>
                <a:latin typeface="Aptos" pitchFamily="34" charset="0"/>
                <a:ea typeface="Aptos" pitchFamily="34" charset="-122"/>
                <a:cs typeface="Aptos" pitchFamily="34" charset="-120"/>
              </a:rPr>
              <a:t>Coefficient on lagged lobbying ($M units).</a:t>
            </a:r>
            <a:endParaRPr lang="en-US" sz="900" dirty="0"/>
          </a:p>
        </p:txBody>
      </p:sp>
      <p:sp>
        <p:nvSpPr>
          <p:cNvPr id="16" name="Shape 14"/>
          <p:cNvSpPr/>
          <p:nvPr/>
        </p:nvSpPr>
        <p:spPr>
          <a:xfrm>
            <a:off x="6446520" y="2487168"/>
            <a:ext cx="1965960" cy="932688"/>
          </a:xfrm>
          <a:prstGeom prst="roundRect">
            <a:avLst>
              <a:gd name="adj" fmla="val 8824"/>
            </a:avLst>
          </a:prstGeom>
          <a:solidFill>
            <a:srgbClr val="FFFFFF"/>
          </a:solidFill>
          <a:ln w="12700">
            <a:solidFill>
              <a:srgbClr val="DDE8F2"/>
            </a:solidFill>
            <a:prstDash val="solid"/>
          </a:ln>
          <a:effectLst>
            <a:outerShdw sx="100000" sy="100000" kx="0" ky="0" algn="bl" rotWithShape="0" blurRad="38100" dist="19050" dir="2700000">
              <a:srgbClr val="000000">
                <a:alpha val="8000"/>
              </a:srgbClr>
            </a:outerShdw>
          </a:effectLst>
        </p:spPr>
      </p:sp>
      <p:sp>
        <p:nvSpPr>
          <p:cNvPr id="17" name="Shape 15"/>
          <p:cNvSpPr/>
          <p:nvPr/>
        </p:nvSpPr>
        <p:spPr>
          <a:xfrm>
            <a:off x="6446520" y="2487168"/>
            <a:ext cx="109728" cy="932688"/>
          </a:xfrm>
          <a:prstGeom prst="rect">
            <a:avLst/>
          </a:prstGeom>
          <a:solidFill>
            <a:srgbClr val="DCEEFF"/>
          </a:solidFill>
          <a:ln w="12700">
            <a:solidFill>
              <a:srgbClr val="DCEEFF"/>
            </a:solidFill>
            <a:prstDash val="solid"/>
          </a:ln>
        </p:spPr>
      </p:sp>
      <p:sp>
        <p:nvSpPr>
          <p:cNvPr id="18" name="Text 16"/>
          <p:cNvSpPr/>
          <p:nvPr/>
        </p:nvSpPr>
        <p:spPr>
          <a:xfrm>
            <a:off x="6647688" y="2578608"/>
            <a:ext cx="1673352" cy="146304"/>
          </a:xfrm>
          <a:prstGeom prst="rect">
            <a:avLst/>
          </a:prstGeom>
          <a:noFill/>
          <a:ln/>
        </p:spPr>
        <p:txBody>
          <a:bodyPr wrap="square" lIns="0" tIns="0" rIns="0" bIns="0" rtlCol="0" anchor="ctr"/>
          <a:lstStyle/>
          <a:p>
            <a:pPr indent="0" marL="0">
              <a:buNone/>
            </a:pPr>
            <a:r>
              <a:rPr lang="en-US" sz="850" b="1" dirty="0">
                <a:solidFill>
                  <a:srgbClr val="5F7084"/>
                </a:solidFill>
                <a:latin typeface="Aptos" pitchFamily="34" charset="0"/>
                <a:ea typeface="Aptos" pitchFamily="34" charset="-122"/>
                <a:cs typeface="Aptos" pitchFamily="34" charset="-120"/>
              </a:rPr>
              <a:t>Significance</a:t>
            </a:r>
            <a:endParaRPr lang="en-US" sz="850" dirty="0"/>
          </a:p>
        </p:txBody>
      </p:sp>
      <p:sp>
        <p:nvSpPr>
          <p:cNvPr id="19" name="Text 17"/>
          <p:cNvSpPr/>
          <p:nvPr/>
        </p:nvSpPr>
        <p:spPr>
          <a:xfrm>
            <a:off x="6647688" y="2743200"/>
            <a:ext cx="1673352" cy="274320"/>
          </a:xfrm>
          <a:prstGeom prst="rect">
            <a:avLst/>
          </a:prstGeom>
          <a:noFill/>
          <a:ln/>
        </p:spPr>
        <p:txBody>
          <a:bodyPr wrap="square" lIns="0" tIns="0" rIns="0" bIns="0" rtlCol="0" anchor="ctr">
            <a:normAutofit/>
          </a:bodyPr>
          <a:lstStyle/>
          <a:p>
            <a:pPr indent="0" marL="0">
              <a:buNone/>
            </a:pPr>
            <a:r>
              <a:rPr lang="en-US" sz="1700" b="1" dirty="0">
                <a:solidFill>
                  <a:srgbClr val="102A43"/>
                </a:solidFill>
                <a:latin typeface="Trebuchet MS" pitchFamily="34" charset="0"/>
                <a:ea typeface="Trebuchet MS" pitchFamily="34" charset="-122"/>
                <a:cs typeface="Trebuchet MS" pitchFamily="34" charset="-120"/>
              </a:rPr>
              <a:t>p=0.135</a:t>
            </a:r>
            <a:endParaRPr lang="en-US" sz="1700" dirty="0"/>
          </a:p>
        </p:txBody>
      </p:sp>
      <p:sp>
        <p:nvSpPr>
          <p:cNvPr id="20" name="Text 18"/>
          <p:cNvSpPr/>
          <p:nvPr/>
        </p:nvSpPr>
        <p:spPr>
          <a:xfrm>
            <a:off x="6647688" y="3035808"/>
            <a:ext cx="1673352" cy="329184"/>
          </a:xfrm>
          <a:prstGeom prst="rect">
            <a:avLst/>
          </a:prstGeom>
          <a:noFill/>
          <a:ln/>
        </p:spPr>
        <p:txBody>
          <a:bodyPr wrap="square" lIns="0" tIns="0" rIns="0" bIns="0" rtlCol="0" anchor="ctr">
            <a:normAutofit/>
          </a:bodyPr>
          <a:lstStyle/>
          <a:p>
            <a:pPr indent="0" marL="0">
              <a:buNone/>
            </a:pPr>
            <a:r>
              <a:rPr lang="en-US" sz="900" dirty="0">
                <a:solidFill>
                  <a:srgbClr val="24364B"/>
                </a:solidFill>
                <a:latin typeface="Aptos" pitchFamily="34" charset="0"/>
                <a:ea typeface="Aptos" pitchFamily="34" charset="-122"/>
                <a:cs typeface="Aptos" pitchFamily="34" charset="-120"/>
              </a:rPr>
              <a:t>Not significant at 5 percent.</a:t>
            </a:r>
            <a:endParaRPr lang="en-US" sz="900" dirty="0"/>
          </a:p>
        </p:txBody>
      </p:sp>
      <p:sp>
        <p:nvSpPr>
          <p:cNvPr id="21" name="Shape 19"/>
          <p:cNvSpPr/>
          <p:nvPr/>
        </p:nvSpPr>
        <p:spPr>
          <a:xfrm>
            <a:off x="6446520" y="3557016"/>
            <a:ext cx="1965960" cy="932688"/>
          </a:xfrm>
          <a:prstGeom prst="roundRect">
            <a:avLst>
              <a:gd name="adj" fmla="val 8824"/>
            </a:avLst>
          </a:prstGeom>
          <a:solidFill>
            <a:srgbClr val="FFFFFF"/>
          </a:solidFill>
          <a:ln w="12700">
            <a:solidFill>
              <a:srgbClr val="DDE8F2"/>
            </a:solidFill>
            <a:prstDash val="solid"/>
          </a:ln>
          <a:effectLst>
            <a:outerShdw sx="100000" sy="100000" kx="0" ky="0" algn="bl" rotWithShape="0" blurRad="38100" dist="19050" dir="2700000">
              <a:srgbClr val="000000">
                <a:alpha val="8000"/>
              </a:srgbClr>
            </a:outerShdw>
          </a:effectLst>
        </p:spPr>
      </p:sp>
      <p:sp>
        <p:nvSpPr>
          <p:cNvPr id="22" name="Shape 20"/>
          <p:cNvSpPr/>
          <p:nvPr/>
        </p:nvSpPr>
        <p:spPr>
          <a:xfrm>
            <a:off x="6446520" y="3557016"/>
            <a:ext cx="109728" cy="932688"/>
          </a:xfrm>
          <a:prstGeom prst="rect">
            <a:avLst/>
          </a:prstGeom>
          <a:solidFill>
            <a:srgbClr val="DCEEFF"/>
          </a:solidFill>
          <a:ln w="12700">
            <a:solidFill>
              <a:srgbClr val="DCEEFF"/>
            </a:solidFill>
            <a:prstDash val="solid"/>
          </a:ln>
        </p:spPr>
      </p:sp>
      <p:sp>
        <p:nvSpPr>
          <p:cNvPr id="23" name="Text 21"/>
          <p:cNvSpPr/>
          <p:nvPr/>
        </p:nvSpPr>
        <p:spPr>
          <a:xfrm>
            <a:off x="6647688" y="3648456"/>
            <a:ext cx="1673352" cy="146304"/>
          </a:xfrm>
          <a:prstGeom prst="rect">
            <a:avLst/>
          </a:prstGeom>
          <a:noFill/>
          <a:ln/>
        </p:spPr>
        <p:txBody>
          <a:bodyPr wrap="square" lIns="0" tIns="0" rIns="0" bIns="0" rtlCol="0" anchor="ctr"/>
          <a:lstStyle/>
          <a:p>
            <a:pPr indent="0" marL="0">
              <a:buNone/>
            </a:pPr>
            <a:r>
              <a:rPr lang="en-US" sz="850" b="1" dirty="0">
                <a:solidFill>
                  <a:srgbClr val="5F7084"/>
                </a:solidFill>
                <a:latin typeface="Aptos" pitchFamily="34" charset="0"/>
                <a:ea typeface="Aptos" pitchFamily="34" charset="-122"/>
                <a:cs typeface="Aptos" pitchFamily="34" charset="-120"/>
              </a:rPr>
              <a:t>Lag</a:t>
            </a:r>
            <a:endParaRPr lang="en-US" sz="850" dirty="0"/>
          </a:p>
        </p:txBody>
      </p:sp>
      <p:sp>
        <p:nvSpPr>
          <p:cNvPr id="24" name="Text 22"/>
          <p:cNvSpPr/>
          <p:nvPr/>
        </p:nvSpPr>
        <p:spPr>
          <a:xfrm>
            <a:off x="6647688" y="3813048"/>
            <a:ext cx="1673352" cy="274320"/>
          </a:xfrm>
          <a:prstGeom prst="rect">
            <a:avLst/>
          </a:prstGeom>
          <a:noFill/>
          <a:ln/>
        </p:spPr>
        <p:txBody>
          <a:bodyPr wrap="square" lIns="0" tIns="0" rIns="0" bIns="0" rtlCol="0" anchor="ctr">
            <a:normAutofit/>
          </a:bodyPr>
          <a:lstStyle/>
          <a:p>
            <a:pPr indent="0" marL="0">
              <a:buNone/>
            </a:pPr>
            <a:r>
              <a:rPr lang="en-US" sz="1700" b="1" dirty="0">
                <a:solidFill>
                  <a:srgbClr val="102A43"/>
                </a:solidFill>
                <a:latin typeface="Trebuchet MS" pitchFamily="34" charset="0"/>
                <a:ea typeface="Trebuchet MS" pitchFamily="34" charset="-122"/>
                <a:cs typeface="Trebuchet MS" pitchFamily="34" charset="-120"/>
              </a:rPr>
              <a:t>1 year</a:t>
            </a:r>
            <a:endParaRPr lang="en-US" sz="1700" dirty="0"/>
          </a:p>
        </p:txBody>
      </p:sp>
      <p:sp>
        <p:nvSpPr>
          <p:cNvPr id="25" name="Text 23"/>
          <p:cNvSpPr/>
          <p:nvPr/>
        </p:nvSpPr>
        <p:spPr>
          <a:xfrm>
            <a:off x="6647688" y="4105656"/>
            <a:ext cx="1673352" cy="329184"/>
          </a:xfrm>
          <a:prstGeom prst="rect">
            <a:avLst/>
          </a:prstGeom>
          <a:noFill/>
          <a:ln/>
        </p:spPr>
        <p:txBody>
          <a:bodyPr wrap="square" lIns="0" tIns="0" rIns="0" bIns="0" rtlCol="0" anchor="ctr">
            <a:normAutofit/>
          </a:bodyPr>
          <a:lstStyle/>
          <a:p>
            <a:pPr indent="0" marL="0">
              <a:buNone/>
            </a:pPr>
            <a:r>
              <a:rPr lang="en-US" sz="900" dirty="0">
                <a:solidFill>
                  <a:srgbClr val="24364B"/>
                </a:solidFill>
                <a:latin typeface="Aptos" pitchFamily="34" charset="0"/>
                <a:ea typeface="Aptos" pitchFamily="34" charset="-122"/>
                <a:cs typeface="Aptos" pitchFamily="34" charset="-120"/>
              </a:rPr>
              <a:t>Effect is measured with a one-year delay.</a:t>
            </a:r>
            <a:endParaRPr lang="en-US" sz="900" dirty="0"/>
          </a:p>
        </p:txBody>
      </p:sp>
      <p:sp>
        <p:nvSpPr>
          <p:cNvPr id="26" name="Text 24"/>
          <p:cNvSpPr/>
          <p:nvPr/>
        </p:nvSpPr>
        <p:spPr>
          <a:xfrm>
            <a:off x="502920" y="6492240"/>
            <a:ext cx="8138160" cy="146304"/>
          </a:xfrm>
          <a:prstGeom prst="rect">
            <a:avLst/>
          </a:prstGeom>
          <a:noFill/>
          <a:ln/>
        </p:spPr>
        <p:txBody>
          <a:bodyPr wrap="square" lIns="0" tIns="0" rIns="0" bIns="0" rtlCol="0" anchor="ctr"/>
          <a:lstStyle/>
          <a:p>
            <a:pPr indent="0" marL="0">
              <a:buNone/>
            </a:pPr>
            <a:r>
              <a:rPr lang="en-US" sz="800" dirty="0">
                <a:solidFill>
                  <a:srgbClr val="5F7084"/>
                </a:solidFill>
                <a:latin typeface="Aptos" pitchFamily="34" charset="0"/>
                <a:ea typeface="Aptos" pitchFamily="34" charset="-122"/>
                <a:cs typeface="Aptos" pitchFamily="34" charset="-120"/>
              </a:rPr>
              <a:t>Executive summary source: results/tables/M3_fixed_effects_coefficients.csv and results/reports/M3_interpretation.md.</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3F8FD"/>
        </a:solidFill>
      </p:bgPr>
    </p:bg>
    <p:spTree>
      <p:nvGrpSpPr>
        <p:cNvPr id="1" name=""/>
        <p:cNvGrpSpPr/>
        <p:nvPr/>
      </p:nvGrpSpPr>
      <p:grpSpPr>
        <a:xfrm>
          <a:off x="0" y="0"/>
          <a:ext cx="0" cy="0"/>
          <a:chOff x="0" y="0"/>
          <a:chExt cx="0" cy="0"/>
        </a:xfrm>
      </p:grpSpPr>
      <p:sp>
        <p:nvSpPr>
          <p:cNvPr id="2" name="Shape 0"/>
          <p:cNvSpPr/>
          <p:nvPr/>
        </p:nvSpPr>
        <p:spPr>
          <a:xfrm>
            <a:off x="502920" y="292608"/>
            <a:ext cx="1783080" cy="310896"/>
          </a:xfrm>
          <a:prstGeom prst="roundRect">
            <a:avLst>
              <a:gd name="adj" fmla="val 23529"/>
            </a:avLst>
          </a:prstGeom>
          <a:solidFill>
            <a:srgbClr val="DCEEFF"/>
          </a:solidFill>
          <a:ln w="12700">
            <a:solidFill>
              <a:srgbClr val="DCEEFF"/>
            </a:solidFill>
            <a:prstDash val="solid"/>
          </a:ln>
        </p:spPr>
      </p:sp>
      <p:sp>
        <p:nvSpPr>
          <p:cNvPr id="3" name="Text 1"/>
          <p:cNvSpPr/>
          <p:nvPr/>
        </p:nvSpPr>
        <p:spPr>
          <a:xfrm>
            <a:off x="502920" y="320040"/>
            <a:ext cx="1783080" cy="201168"/>
          </a:xfrm>
          <a:prstGeom prst="rect">
            <a:avLst/>
          </a:prstGeom>
          <a:noFill/>
          <a:ln/>
        </p:spPr>
        <p:txBody>
          <a:bodyPr wrap="square" lIns="0" tIns="0" rIns="0" bIns="0" rtlCol="0" anchor="ctr"/>
          <a:lstStyle/>
          <a:p>
            <a:pPr algn="ctr" indent="0" marL="0">
              <a:buNone/>
            </a:pPr>
            <a:r>
              <a:rPr lang="en-US" sz="900" b="1" spc="110" kern="0" dirty="0">
                <a:solidFill>
                  <a:srgbClr val="102A43"/>
                </a:solidFill>
                <a:latin typeface="Trebuchet MS" pitchFamily="34" charset="0"/>
                <a:ea typeface="Trebuchet MS" pitchFamily="34" charset="-122"/>
                <a:cs typeface="Trebuchet MS" pitchFamily="34" charset="-120"/>
              </a:rPr>
              <a:t>METHODOLOGY</a:t>
            </a:r>
            <a:endParaRPr lang="en-US" sz="900" dirty="0"/>
          </a:p>
        </p:txBody>
      </p:sp>
      <p:sp>
        <p:nvSpPr>
          <p:cNvPr id="4" name="Text 2"/>
          <p:cNvSpPr/>
          <p:nvPr/>
        </p:nvSpPr>
        <p:spPr>
          <a:xfrm>
            <a:off x="502920" y="658368"/>
            <a:ext cx="8046720" cy="420624"/>
          </a:xfrm>
          <a:prstGeom prst="rect">
            <a:avLst/>
          </a:prstGeom>
          <a:noFill/>
          <a:ln/>
        </p:spPr>
        <p:txBody>
          <a:bodyPr wrap="square" lIns="0" tIns="0" rIns="0" bIns="0" rtlCol="0" anchor="ctr">
            <a:normAutofit/>
          </a:bodyPr>
          <a:lstStyle/>
          <a:p>
            <a:pPr indent="0" marL="0">
              <a:buNone/>
            </a:pPr>
            <a:r>
              <a:rPr lang="en-US" sz="2400" b="1" dirty="0">
                <a:solidFill>
                  <a:srgbClr val="102A43"/>
                </a:solidFill>
                <a:latin typeface="Trebuchet MS" pitchFamily="34" charset="0"/>
                <a:ea typeface="Trebuchet MS" pitchFamily="34" charset="-122"/>
                <a:cs typeface="Trebuchet MS" pitchFamily="34" charset="-120"/>
              </a:rPr>
              <a:t>Data, sample construction, and model setup</a:t>
            </a:r>
            <a:endParaRPr lang="en-US" sz="2400" dirty="0"/>
          </a:p>
        </p:txBody>
      </p:sp>
      <p:sp>
        <p:nvSpPr>
          <p:cNvPr id="5" name="Text 3"/>
          <p:cNvSpPr/>
          <p:nvPr/>
        </p:nvSpPr>
        <p:spPr>
          <a:xfrm>
            <a:off x="502920" y="1024128"/>
            <a:ext cx="8138160" cy="310896"/>
          </a:xfrm>
          <a:prstGeom prst="rect">
            <a:avLst/>
          </a:prstGeom>
          <a:noFill/>
          <a:ln/>
        </p:spPr>
        <p:txBody>
          <a:bodyPr wrap="square" lIns="0" tIns="0" rIns="0" bIns="0" rtlCol="0" anchor="ctr">
            <a:normAutofit/>
          </a:bodyPr>
          <a:lstStyle/>
          <a:p>
            <a:pPr indent="0" marL="0">
              <a:buNone/>
            </a:pPr>
            <a:r>
              <a:rPr lang="en-US" sz="1050" dirty="0">
                <a:solidFill>
                  <a:srgbClr val="5F7084"/>
                </a:solidFill>
                <a:latin typeface="Aptos" pitchFamily="34" charset="0"/>
                <a:ea typeface="Aptos" pitchFamily="34" charset="-122"/>
                <a:cs typeface="Aptos" pitchFamily="34" charset="-120"/>
              </a:rPr>
              <a:t>This slide explains where the numbers came from and how the model was estimated.</a:t>
            </a:r>
            <a:endParaRPr lang="en-US" sz="1050" dirty="0"/>
          </a:p>
        </p:txBody>
      </p:sp>
      <p:sp>
        <p:nvSpPr>
          <p:cNvPr id="6" name="Shape 4"/>
          <p:cNvSpPr/>
          <p:nvPr/>
        </p:nvSpPr>
        <p:spPr>
          <a:xfrm>
            <a:off x="502920" y="1371600"/>
            <a:ext cx="3794760" cy="4617720"/>
          </a:xfrm>
          <a:prstGeom prst="roundRect">
            <a:avLst>
              <a:gd name="adj" fmla="val 2169"/>
            </a:avLst>
          </a:prstGeom>
          <a:solidFill>
            <a:srgbClr val="FFFFFF"/>
          </a:solidFill>
          <a:ln w="12700">
            <a:solidFill>
              <a:srgbClr val="DDE8F2"/>
            </a:solidFill>
            <a:prstDash val="solid"/>
          </a:ln>
          <a:effectLst>
            <a:outerShdw sx="100000" sy="100000" kx="0" ky="0" algn="bl" rotWithShape="0" blurRad="38100" dist="19050" dir="2700000">
              <a:srgbClr val="000000">
                <a:alpha val="7000"/>
              </a:srgbClr>
            </a:outerShdw>
          </a:effectLst>
        </p:spPr>
      </p:sp>
      <p:sp>
        <p:nvSpPr>
          <p:cNvPr id="7" name="Text 5"/>
          <p:cNvSpPr/>
          <p:nvPr/>
        </p:nvSpPr>
        <p:spPr>
          <a:xfrm>
            <a:off x="749808" y="1627632"/>
            <a:ext cx="3108960" cy="182880"/>
          </a:xfrm>
          <a:prstGeom prst="rect">
            <a:avLst/>
          </a:prstGeom>
          <a:noFill/>
          <a:ln/>
        </p:spPr>
        <p:txBody>
          <a:bodyPr wrap="square" lIns="0" tIns="0" rIns="0" bIns="0" rtlCol="0" anchor="ctr"/>
          <a:lstStyle/>
          <a:p>
            <a:pPr indent="0" marL="0">
              <a:buNone/>
            </a:pPr>
            <a:r>
              <a:rPr lang="en-US" sz="1400" b="1" dirty="0">
                <a:solidFill>
                  <a:srgbClr val="102A43"/>
                </a:solidFill>
                <a:latin typeface="Trebuchet MS" pitchFamily="34" charset="0"/>
                <a:ea typeface="Trebuchet MS" pitchFamily="34" charset="-122"/>
                <a:cs typeface="Trebuchet MS" pitchFamily="34" charset="-120"/>
              </a:rPr>
              <a:t>Data sources with citations</a:t>
            </a:r>
            <a:endParaRPr lang="en-US" sz="1400" dirty="0"/>
          </a:p>
        </p:txBody>
      </p:sp>
      <p:sp>
        <p:nvSpPr>
          <p:cNvPr id="8" name="Text 6"/>
          <p:cNvSpPr/>
          <p:nvPr/>
        </p:nvSpPr>
        <p:spPr>
          <a:xfrm>
            <a:off x="749808" y="1920240"/>
            <a:ext cx="3154680" cy="1051560"/>
          </a:xfrm>
          <a:prstGeom prst="rect">
            <a:avLst/>
          </a:prstGeom>
          <a:noFill/>
          <a:ln/>
        </p:spPr>
        <p:txBody>
          <a:bodyPr wrap="square" lIns="0" tIns="0" rIns="0" bIns="0" rtlCol="0" anchor="ctr">
            <a:normAutofit/>
          </a:bodyPr>
          <a:lstStyle/>
          <a:p>
            <a:pPr indent="0" marL="0">
              <a:buNone/>
            </a:pPr>
            <a:r>
              <a:rPr lang="en-US" sz="1150" dirty="0">
                <a:solidFill>
                  <a:srgbClr val="24364B"/>
                </a:solidFill>
                <a:latin typeface="Aptos" pitchFamily="34" charset="0"/>
                <a:ea typeface="Aptos" pitchFamily="34" charset="-122"/>
                <a:cs typeface="Aptos" pitchFamily="34" charset="-120"/>
              </a:rPr>
              <a:t>1) SEC XBRL 10-K filings (financial statements)</a:t>
            </a:r>
            <a:endParaRPr lang="en-US" sz="1150" dirty="0"/>
          </a:p>
          <a:p>
            <a:pPr indent="0" marL="0">
              <a:buNone/>
            </a:pPr>
            <a:r>
              <a:rPr lang="en-US" sz="1150" dirty="0">
                <a:solidFill>
                  <a:srgbClr val="24364B"/>
                </a:solidFill>
                <a:latin typeface="Aptos" pitchFamily="34" charset="0"/>
                <a:ea typeface="Aptos" pitchFamily="34" charset="-122"/>
                <a:cs typeface="Aptos" pitchFamily="34" charset="-120"/>
              </a:rPr>
              <a:t>2) Senate LDA data via LobbyView (lobbying spend)</a:t>
            </a:r>
            <a:endParaRPr lang="en-US" sz="1150" dirty="0"/>
          </a:p>
          <a:p>
            <a:pPr indent="0" marL="0">
              <a:buNone/>
            </a:pPr>
            <a:r>
              <a:rPr lang="en-US" sz="1150" dirty="0">
                <a:solidFill>
                  <a:srgbClr val="24364B"/>
                </a:solidFill>
                <a:latin typeface="Aptos" pitchFamily="34" charset="0"/>
                <a:ea typeface="Aptos" pitchFamily="34" charset="-122"/>
                <a:cs typeface="Aptos" pitchFamily="34" charset="-120"/>
              </a:rPr>
              <a:t>3) CIK-GVKEY crosswalk (entity matching)</a:t>
            </a:r>
            <a:endParaRPr lang="en-US" sz="1150" dirty="0"/>
          </a:p>
        </p:txBody>
      </p:sp>
      <p:sp>
        <p:nvSpPr>
          <p:cNvPr id="9" name="Text 7"/>
          <p:cNvSpPr/>
          <p:nvPr/>
        </p:nvSpPr>
        <p:spPr>
          <a:xfrm>
            <a:off x="749808" y="3163824"/>
            <a:ext cx="3108960" cy="182880"/>
          </a:xfrm>
          <a:prstGeom prst="rect">
            <a:avLst/>
          </a:prstGeom>
          <a:noFill/>
          <a:ln/>
        </p:spPr>
        <p:txBody>
          <a:bodyPr wrap="square" lIns="0" tIns="0" rIns="0" bIns="0" rtlCol="0" anchor="ctr"/>
          <a:lstStyle/>
          <a:p>
            <a:pPr indent="0" marL="0">
              <a:buNone/>
            </a:pPr>
            <a:r>
              <a:rPr lang="en-US" sz="1400" b="1" dirty="0">
                <a:solidFill>
                  <a:srgbClr val="102A43"/>
                </a:solidFill>
                <a:latin typeface="Trebuchet MS" pitchFamily="34" charset="0"/>
                <a:ea typeface="Trebuchet MS" pitchFamily="34" charset="-122"/>
                <a:cs typeface="Trebuchet MS" pitchFamily="34" charset="-120"/>
              </a:rPr>
              <a:t>Sample construction</a:t>
            </a:r>
            <a:endParaRPr lang="en-US" sz="1400" dirty="0"/>
          </a:p>
        </p:txBody>
      </p:sp>
      <p:sp>
        <p:nvSpPr>
          <p:cNvPr id="10" name="Text 8"/>
          <p:cNvSpPr/>
          <p:nvPr/>
        </p:nvSpPr>
        <p:spPr>
          <a:xfrm>
            <a:off x="749808" y="3456432"/>
            <a:ext cx="3154680" cy="1417320"/>
          </a:xfrm>
          <a:prstGeom prst="rect">
            <a:avLst/>
          </a:prstGeom>
          <a:noFill/>
          <a:ln/>
        </p:spPr>
        <p:txBody>
          <a:bodyPr wrap="square" lIns="0" tIns="0" rIns="0" bIns="0" rtlCol="0" anchor="ctr">
            <a:normAutofit/>
          </a:bodyPr>
          <a:lstStyle/>
          <a:p>
            <a:pPr indent="0" marL="0">
              <a:buNone/>
            </a:pPr>
            <a:r>
              <a:rPr lang="en-US" sz="1100" dirty="0">
                <a:solidFill>
                  <a:srgbClr val="24364B"/>
                </a:solidFill>
                <a:latin typeface="Aptos" pitchFamily="34" charset="0"/>
                <a:ea typeface="Aptos" pitchFamily="34" charset="-122"/>
                <a:cs typeface="Aptos" pitchFamily="34" charset="-120"/>
              </a:rPr>
              <a:t>Date range: 2010-2020</a:t>
            </a:r>
            <a:endParaRPr lang="en-US" sz="1100" dirty="0"/>
          </a:p>
          <a:p>
            <a:pPr indent="0" marL="0">
              <a:buNone/>
            </a:pPr>
            <a:r>
              <a:rPr lang="en-US" sz="1100" dirty="0">
                <a:solidFill>
                  <a:srgbClr val="24364B"/>
                </a:solidFill>
                <a:latin typeface="Aptos" pitchFamily="34" charset="0"/>
                <a:ea typeface="Aptos" pitchFamily="34" charset="-122"/>
                <a:cs typeface="Aptos" pitchFamily="34" charset="-120"/>
              </a:rPr>
              <a:t>Merged panel: n=5,099 firm-years, 1,375 firms</a:t>
            </a:r>
            <a:endParaRPr lang="en-US" sz="1100" dirty="0"/>
          </a:p>
          <a:p>
            <a:pPr indent="0" marL="0">
              <a:buNone/>
            </a:pPr>
            <a:r>
              <a:rPr lang="en-US" sz="1100" dirty="0">
                <a:solidFill>
                  <a:srgbClr val="24364B"/>
                </a:solidFill>
                <a:latin typeface="Aptos" pitchFamily="34" charset="0"/>
                <a:ea typeface="Aptos" pitchFamily="34" charset="-122"/>
                <a:cs typeface="Aptos" pitchFamily="34" charset="-120"/>
              </a:rPr>
              <a:t>After cleaning + lagging + controls: n=2,125</a:t>
            </a:r>
            <a:endParaRPr lang="en-US" sz="1100" dirty="0"/>
          </a:p>
          <a:p>
            <a:pPr indent="0" marL="0">
              <a:buNone/>
            </a:pPr>
            <a:r>
              <a:rPr lang="en-US" sz="1100" dirty="0">
                <a:solidFill>
                  <a:srgbClr val="24364B"/>
                </a:solidFill>
                <a:latin typeface="Aptos" pitchFamily="34" charset="0"/>
                <a:ea typeface="Aptos" pitchFamily="34" charset="-122"/>
                <a:cs typeface="Aptos" pitchFamily="34" charset="-120"/>
              </a:rPr>
              <a:t>Balanced panel robustness set: 836 obs, 66 firms</a:t>
            </a:r>
            <a:endParaRPr lang="en-US" sz="1100" dirty="0"/>
          </a:p>
        </p:txBody>
      </p:sp>
      <p:sp>
        <p:nvSpPr>
          <p:cNvPr id="11" name="Shape 9"/>
          <p:cNvSpPr/>
          <p:nvPr/>
        </p:nvSpPr>
        <p:spPr>
          <a:xfrm>
            <a:off x="4526280" y="1371600"/>
            <a:ext cx="3886200" cy="4617720"/>
          </a:xfrm>
          <a:prstGeom prst="roundRect">
            <a:avLst>
              <a:gd name="adj" fmla="val 2118"/>
            </a:avLst>
          </a:prstGeom>
          <a:solidFill>
            <a:srgbClr val="FFFFFF"/>
          </a:solidFill>
          <a:ln w="12700">
            <a:solidFill>
              <a:srgbClr val="DDE8F2"/>
            </a:solidFill>
            <a:prstDash val="solid"/>
          </a:ln>
          <a:effectLst>
            <a:outerShdw sx="100000" sy="100000" kx="0" ky="0" algn="bl" rotWithShape="0" blurRad="38100" dist="19050" dir="2700000">
              <a:srgbClr val="000000">
                <a:alpha val="7000"/>
              </a:srgbClr>
            </a:outerShdw>
          </a:effectLst>
        </p:spPr>
      </p:sp>
      <p:sp>
        <p:nvSpPr>
          <p:cNvPr id="12" name="Text 10"/>
          <p:cNvSpPr/>
          <p:nvPr/>
        </p:nvSpPr>
        <p:spPr>
          <a:xfrm>
            <a:off x="4773168" y="1627632"/>
            <a:ext cx="3291840" cy="182880"/>
          </a:xfrm>
          <a:prstGeom prst="rect">
            <a:avLst/>
          </a:prstGeom>
          <a:noFill/>
          <a:ln/>
        </p:spPr>
        <p:txBody>
          <a:bodyPr wrap="square" lIns="0" tIns="0" rIns="0" bIns="0" rtlCol="0" anchor="ctr"/>
          <a:lstStyle/>
          <a:p>
            <a:pPr indent="0" marL="0">
              <a:buNone/>
            </a:pPr>
            <a:r>
              <a:rPr lang="en-US" sz="1400" b="1" dirty="0">
                <a:solidFill>
                  <a:srgbClr val="102A43"/>
                </a:solidFill>
                <a:latin typeface="Trebuchet MS" pitchFamily="34" charset="0"/>
                <a:ea typeface="Trebuchet MS" pitchFamily="34" charset="-122"/>
                <a:cs typeface="Trebuchet MS" pitchFamily="34" charset="-120"/>
              </a:rPr>
              <a:t>Model equation and variable definitions</a:t>
            </a:r>
            <a:endParaRPr lang="en-US" sz="1400" dirty="0"/>
          </a:p>
        </p:txBody>
      </p:sp>
      <p:sp>
        <p:nvSpPr>
          <p:cNvPr id="13" name="Text 11"/>
          <p:cNvSpPr/>
          <p:nvPr/>
        </p:nvSpPr>
        <p:spPr>
          <a:xfrm>
            <a:off x="4773168" y="1920240"/>
            <a:ext cx="3383280" cy="777240"/>
          </a:xfrm>
          <a:prstGeom prst="rect">
            <a:avLst/>
          </a:prstGeom>
          <a:noFill/>
          <a:ln/>
        </p:spPr>
        <p:txBody>
          <a:bodyPr wrap="square" lIns="0" tIns="0" rIns="0" bIns="0" rtlCol="0" anchor="ctr">
            <a:normAutofit/>
          </a:bodyPr>
          <a:lstStyle/>
          <a:p>
            <a:pPr indent="0" marL="0">
              <a:buNone/>
            </a:pPr>
            <a:r>
              <a:rPr lang="en-US" sz="1180" dirty="0">
                <a:solidFill>
                  <a:srgbClr val="24364B"/>
                </a:solidFill>
                <a:latin typeface="Aptos" pitchFamily="34" charset="0"/>
                <a:ea typeface="Aptos" pitchFamily="34" charset="-122"/>
                <a:cs typeface="Aptos" pitchFamily="34" charset="-120"/>
              </a:rPr>
              <a:t>ROA_it = b1*Lobby_i,t-1 + b2*log(Assets_it) + b3*log(Revenue_it) + firm FE + year FE + error_it</a:t>
            </a:r>
            <a:endParaRPr lang="en-US" sz="1180" dirty="0"/>
          </a:p>
        </p:txBody>
      </p:sp>
      <p:sp>
        <p:nvSpPr>
          <p:cNvPr id="14" name="Text 12"/>
          <p:cNvSpPr/>
          <p:nvPr/>
        </p:nvSpPr>
        <p:spPr>
          <a:xfrm>
            <a:off x="4773168" y="2907792"/>
            <a:ext cx="3310128" cy="1207008"/>
          </a:xfrm>
          <a:prstGeom prst="rect">
            <a:avLst/>
          </a:prstGeom>
          <a:noFill/>
          <a:ln/>
        </p:spPr>
        <p:txBody>
          <a:bodyPr wrap="square" lIns="0" tIns="0" rIns="0" bIns="0" rtlCol="0" anchor="ctr">
            <a:normAutofit/>
          </a:bodyPr>
          <a:lstStyle/>
          <a:p>
            <a:pPr indent="0" marL="0">
              <a:buNone/>
            </a:pPr>
            <a:r>
              <a:rPr lang="en-US" sz="1060" dirty="0">
                <a:solidFill>
                  <a:srgbClr val="24364B"/>
                </a:solidFill>
                <a:latin typeface="Aptos" pitchFamily="34" charset="0"/>
                <a:ea typeface="Aptos" pitchFamily="34" charset="-122"/>
                <a:cs typeface="Aptos" pitchFamily="34" charset="-120"/>
              </a:rPr>
              <a:t>ROA: return on assets (profitability)</a:t>
            </a:r>
            <a:endParaRPr lang="en-US" sz="1060" dirty="0"/>
          </a:p>
          <a:p>
            <a:pPr indent="0" marL="0">
              <a:buNone/>
            </a:pPr>
            <a:r>
              <a:rPr lang="en-US" sz="1060" dirty="0">
                <a:solidFill>
                  <a:srgbClr val="24364B"/>
                </a:solidFill>
                <a:latin typeface="Aptos" pitchFamily="34" charset="0"/>
                <a:ea typeface="Aptos" pitchFamily="34" charset="-122"/>
                <a:cs typeface="Aptos" pitchFamily="34" charset="-120"/>
              </a:rPr>
              <a:t>Lobby_i,t-1: prior-year lobbying spend</a:t>
            </a:r>
            <a:endParaRPr lang="en-US" sz="1060" dirty="0"/>
          </a:p>
          <a:p>
            <a:pPr indent="0" marL="0">
              <a:buNone/>
            </a:pPr>
            <a:r>
              <a:rPr lang="en-US" sz="1060" dirty="0">
                <a:solidFill>
                  <a:srgbClr val="24364B"/>
                </a:solidFill>
                <a:latin typeface="Aptos" pitchFamily="34" charset="0"/>
                <a:ea typeface="Aptos" pitchFamily="34" charset="-122"/>
                <a:cs typeface="Aptos" pitchFamily="34" charset="-120"/>
              </a:rPr>
              <a:t>Firm FE: controls for stable firm differences</a:t>
            </a:r>
            <a:endParaRPr lang="en-US" sz="1060" dirty="0"/>
          </a:p>
          <a:p>
            <a:pPr indent="0" marL="0">
              <a:buNone/>
            </a:pPr>
            <a:r>
              <a:rPr lang="en-US" sz="1060" dirty="0">
                <a:solidFill>
                  <a:srgbClr val="24364B"/>
                </a:solidFill>
                <a:latin typeface="Aptos" pitchFamily="34" charset="0"/>
                <a:ea typeface="Aptos" pitchFamily="34" charset="-122"/>
                <a:cs typeface="Aptos" pitchFamily="34" charset="-120"/>
              </a:rPr>
              <a:t>Year FE: controls for economy-wide shocks</a:t>
            </a:r>
            <a:endParaRPr lang="en-US" sz="1060" dirty="0"/>
          </a:p>
        </p:txBody>
      </p:sp>
      <p:sp>
        <p:nvSpPr>
          <p:cNvPr id="15" name="Shape 13"/>
          <p:cNvSpPr/>
          <p:nvPr/>
        </p:nvSpPr>
        <p:spPr>
          <a:xfrm>
            <a:off x="4773168" y="4297680"/>
            <a:ext cx="3383280" cy="1005840"/>
          </a:xfrm>
          <a:prstGeom prst="roundRect">
            <a:avLst>
              <a:gd name="adj" fmla="val 8182"/>
            </a:avLst>
          </a:prstGeom>
          <a:solidFill>
            <a:srgbClr val="EDF5FF"/>
          </a:solidFill>
          <a:ln w="12700">
            <a:solidFill>
              <a:srgbClr val="DCEEFF"/>
            </a:solidFill>
            <a:prstDash val="solid"/>
          </a:ln>
          <a:effectLst>
            <a:outerShdw sx="100000" sy="100000" kx="0" ky="0" algn="bl" rotWithShape="0" blurRad="38100" dist="19050" dir="2700000">
              <a:srgbClr val="000000">
                <a:alpha val="75000"/>
              </a:srgbClr>
            </a:outerShdw>
          </a:effectLst>
        </p:spPr>
      </p:sp>
      <p:sp>
        <p:nvSpPr>
          <p:cNvPr id="16" name="Text 14"/>
          <p:cNvSpPr/>
          <p:nvPr/>
        </p:nvSpPr>
        <p:spPr>
          <a:xfrm>
            <a:off x="4919472" y="4553712"/>
            <a:ext cx="3072384" cy="566928"/>
          </a:xfrm>
          <a:prstGeom prst="rect">
            <a:avLst/>
          </a:prstGeom>
          <a:noFill/>
          <a:ln/>
        </p:spPr>
        <p:txBody>
          <a:bodyPr wrap="square" lIns="0" tIns="0" rIns="0" bIns="0" rtlCol="0" anchor="ctr">
            <a:normAutofit/>
          </a:bodyPr>
          <a:lstStyle/>
          <a:p>
            <a:pPr indent="0" marL="0">
              <a:buNone/>
            </a:pPr>
            <a:r>
              <a:rPr lang="en-US" sz="1040" b="1" dirty="0">
                <a:solidFill>
                  <a:srgbClr val="102A43"/>
                </a:solidFill>
                <a:latin typeface="Aptos" pitchFamily="34" charset="0"/>
                <a:ea typeface="Aptos" pitchFamily="34" charset="-122"/>
                <a:cs typeface="Aptos" pitchFamily="34" charset="-120"/>
              </a:rPr>
              <a:t>Standard errors are clustered at the entity (firm) level to handle repeated observations within each company.</a:t>
            </a:r>
            <a:endParaRPr lang="en-US" sz="1040" dirty="0"/>
          </a:p>
        </p:txBody>
      </p:sp>
      <p:sp>
        <p:nvSpPr>
          <p:cNvPr id="17" name="Text 15"/>
          <p:cNvSpPr/>
          <p:nvPr/>
        </p:nvSpPr>
        <p:spPr>
          <a:xfrm>
            <a:off x="502920" y="6492240"/>
            <a:ext cx="8138160" cy="146304"/>
          </a:xfrm>
          <a:prstGeom prst="rect">
            <a:avLst/>
          </a:prstGeom>
          <a:noFill/>
          <a:ln/>
        </p:spPr>
        <p:txBody>
          <a:bodyPr wrap="square" lIns="0" tIns="0" rIns="0" bIns="0" rtlCol="0" anchor="ctr"/>
          <a:lstStyle/>
          <a:p>
            <a:pPr indent="0" marL="0">
              <a:buNone/>
            </a:pPr>
            <a:r>
              <a:rPr lang="en-US" sz="800" dirty="0">
                <a:solidFill>
                  <a:srgbClr val="5F7084"/>
                </a:solidFill>
                <a:latin typeface="Aptos" pitchFamily="34" charset="0"/>
                <a:ea typeface="Aptos" pitchFamily="34" charset="-122"/>
                <a:cs typeface="Aptos" pitchFamily="34" charset="-120"/>
              </a:rPr>
              <a:t>Citations: SEC EDGAR XBRL, LobbyView/Senate LDA, and project crosswalk in data/processed/cik_gvkey_crosswalk.csv.</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3F8FD"/>
        </a:solidFill>
      </p:bgPr>
    </p:bg>
    <p:spTree>
      <p:nvGrpSpPr>
        <p:cNvPr id="1" name=""/>
        <p:cNvGrpSpPr/>
        <p:nvPr/>
      </p:nvGrpSpPr>
      <p:grpSpPr>
        <a:xfrm>
          <a:off x="0" y="0"/>
          <a:ext cx="0" cy="0"/>
          <a:chOff x="0" y="0"/>
          <a:chExt cx="0" cy="0"/>
        </a:xfrm>
      </p:grpSpPr>
      <p:sp>
        <p:nvSpPr>
          <p:cNvPr id="2" name="Shape 0"/>
          <p:cNvSpPr/>
          <p:nvPr/>
        </p:nvSpPr>
        <p:spPr>
          <a:xfrm>
            <a:off x="502920" y="292608"/>
            <a:ext cx="1783080" cy="310896"/>
          </a:xfrm>
          <a:prstGeom prst="roundRect">
            <a:avLst>
              <a:gd name="adj" fmla="val 23529"/>
            </a:avLst>
          </a:prstGeom>
          <a:solidFill>
            <a:srgbClr val="DCEEFF"/>
          </a:solidFill>
          <a:ln w="12700">
            <a:solidFill>
              <a:srgbClr val="DCEEFF"/>
            </a:solidFill>
            <a:prstDash val="solid"/>
          </a:ln>
        </p:spPr>
      </p:sp>
      <p:sp>
        <p:nvSpPr>
          <p:cNvPr id="3" name="Text 1"/>
          <p:cNvSpPr/>
          <p:nvPr/>
        </p:nvSpPr>
        <p:spPr>
          <a:xfrm>
            <a:off x="502920" y="320040"/>
            <a:ext cx="1783080" cy="201168"/>
          </a:xfrm>
          <a:prstGeom prst="rect">
            <a:avLst/>
          </a:prstGeom>
          <a:noFill/>
          <a:ln/>
        </p:spPr>
        <p:txBody>
          <a:bodyPr wrap="square" lIns="0" tIns="0" rIns="0" bIns="0" rtlCol="0" anchor="ctr"/>
          <a:lstStyle/>
          <a:p>
            <a:pPr algn="ctr" indent="0" marL="0">
              <a:buNone/>
            </a:pPr>
            <a:r>
              <a:rPr lang="en-US" sz="900" b="1" spc="110" kern="0" dirty="0">
                <a:solidFill>
                  <a:srgbClr val="102A43"/>
                </a:solidFill>
                <a:latin typeface="Trebuchet MS" pitchFamily="34" charset="0"/>
                <a:ea typeface="Trebuchet MS" pitchFamily="34" charset="-122"/>
                <a:cs typeface="Trebuchet MS" pitchFamily="34" charset="-120"/>
              </a:rPr>
              <a:t>RESULTS</a:t>
            </a:r>
            <a:endParaRPr lang="en-US" sz="900" dirty="0"/>
          </a:p>
        </p:txBody>
      </p:sp>
      <p:sp>
        <p:nvSpPr>
          <p:cNvPr id="4" name="Text 2"/>
          <p:cNvSpPr/>
          <p:nvPr/>
        </p:nvSpPr>
        <p:spPr>
          <a:xfrm>
            <a:off x="502920" y="658368"/>
            <a:ext cx="8046720" cy="420624"/>
          </a:xfrm>
          <a:prstGeom prst="rect">
            <a:avLst/>
          </a:prstGeom>
          <a:noFill/>
          <a:ln/>
        </p:spPr>
        <p:txBody>
          <a:bodyPr wrap="square" lIns="0" tIns="0" rIns="0" bIns="0" rtlCol="0" anchor="ctr">
            <a:normAutofit/>
          </a:bodyPr>
          <a:lstStyle/>
          <a:p>
            <a:pPr indent="0" marL="0">
              <a:buNone/>
            </a:pPr>
            <a:r>
              <a:rPr lang="en-US" sz="2400" b="1" dirty="0">
                <a:solidFill>
                  <a:srgbClr val="102A43"/>
                </a:solidFill>
                <a:latin typeface="Trebuchet MS" pitchFamily="34" charset="0"/>
                <a:ea typeface="Trebuchet MS" pitchFamily="34" charset="-122"/>
                <a:cs typeface="Trebuchet MS" pitchFamily="34" charset="-120"/>
              </a:rPr>
              <a:t>Table 1. Main fixed-effects regression</a:t>
            </a:r>
            <a:endParaRPr lang="en-US" sz="2400" dirty="0"/>
          </a:p>
        </p:txBody>
      </p:sp>
      <p:sp>
        <p:nvSpPr>
          <p:cNvPr id="5" name="Text 3"/>
          <p:cNvSpPr/>
          <p:nvPr/>
        </p:nvSpPr>
        <p:spPr>
          <a:xfrm>
            <a:off x="502920" y="1024128"/>
            <a:ext cx="8138160" cy="310896"/>
          </a:xfrm>
          <a:prstGeom prst="rect">
            <a:avLst/>
          </a:prstGeom>
          <a:noFill/>
          <a:ln/>
        </p:spPr>
        <p:txBody>
          <a:bodyPr wrap="square" lIns="0" tIns="0" rIns="0" bIns="0" rtlCol="0" anchor="ctr">
            <a:normAutofit/>
          </a:bodyPr>
          <a:lstStyle/>
          <a:p>
            <a:pPr indent="0" marL="0">
              <a:buNone/>
            </a:pPr>
            <a:r>
              <a:rPr lang="en-US" sz="1050" dirty="0">
                <a:solidFill>
                  <a:srgbClr val="5F7084"/>
                </a:solidFill>
                <a:latin typeface="Aptos" pitchFamily="34" charset="0"/>
                <a:ea typeface="Aptos" pitchFamily="34" charset="-122"/>
                <a:cs typeface="Aptos" pitchFamily="34" charset="-120"/>
              </a:rPr>
              <a:t>Coefficients, clustered SE, t-stats, p-values, stars, FE flags, and N.</a:t>
            </a:r>
            <a:endParaRPr lang="en-US" sz="1050" dirty="0"/>
          </a:p>
        </p:txBody>
      </p:sp>
      <p:sp>
        <p:nvSpPr>
          <p:cNvPr id="6" name="Shape 4"/>
          <p:cNvSpPr/>
          <p:nvPr/>
        </p:nvSpPr>
        <p:spPr>
          <a:xfrm>
            <a:off x="502920" y="1371600"/>
            <a:ext cx="8092440" cy="4572000"/>
          </a:xfrm>
          <a:prstGeom prst="roundRect">
            <a:avLst>
              <a:gd name="adj" fmla="val 1800"/>
            </a:avLst>
          </a:prstGeom>
          <a:solidFill>
            <a:srgbClr val="FFFFFF"/>
          </a:solidFill>
          <a:ln w="12700">
            <a:solidFill>
              <a:srgbClr val="DDE8F2"/>
            </a:solidFill>
            <a:prstDash val="solid"/>
          </a:ln>
          <a:effectLst>
            <a:outerShdw sx="100000" sy="100000" kx="0" ky="0" algn="bl" rotWithShape="0" blurRad="38100" dist="19050" dir="2700000">
              <a:srgbClr val="000000">
                <a:alpha val="7000"/>
              </a:srgbClr>
            </a:outerShdw>
          </a:effectLst>
        </p:spPr>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749808" y="1664208"/>
          <a:ext cx="7607808" cy="2057400"/>
        </p:xfrm>
        <a:graphic>
          <a:graphicData uri="http://schemas.openxmlformats.org/drawingml/2006/table">
            <a:tbl>
              <a:tblPr/>
              <a:tblGrid>
                <a:gridCol w="2377440"/>
                <a:gridCol w="960120"/>
                <a:gridCol w="1234440"/>
                <a:gridCol w="731520"/>
                <a:gridCol w="777240"/>
                <a:gridCol w="640080"/>
              </a:tblGrid>
              <a:tr h="347472">
                <a:tc>
                  <a:txBody>
                    <a:bodyPr/>
                    <a:lstStyle/>
                    <a:p>
                      <a:pPr algn="ctr" indent="0" marL="0">
                        <a:buNone/>
                      </a:pPr>
                      <a:r>
                        <a:rPr lang="en-US" sz="980" b="1" dirty="0">
                          <a:solidFill>
                            <a:srgbClr val="FFFFFF"/>
                          </a:solidFill>
                          <a:latin typeface="Aptos" pitchFamily="34" charset="0"/>
                          <a:ea typeface="Aptos" pitchFamily="34" charset="-122"/>
                          <a:cs typeface="Aptos" pitchFamily="34" charset="-120"/>
                        </a:rPr>
                        <a:t>Variable</a:t>
                      </a:r>
                      <a:endParaRPr lang="en-US" sz="980" dirty="0">
                        <a:latin typeface="Aptos" charset="0"/>
                        <a:ea typeface="Aptos" charset="0"/>
                        <a:cs typeface="Aptos" charset="0"/>
                      </a:endParaRPr>
                    </a:p>
                  </a:txBody>
                  <a:tcPr marL="54864" marR="54864" marT="54864" marB="54864" anchor="mid">
                    <a:lnL w="12700" cap="flat" cmpd="sng" algn="ctr">
                      <a:solidFill>
                        <a:srgbClr val="C9D8E8"/>
                      </a:solidFill>
                      <a:prstDash val="solid"/>
                      <a:round/>
                      <a:headEnd type="none" w="med" len="med"/>
                      <a:tailEnd type="none" w="med" len="med"/>
                    </a:lnL>
                    <a:lnR w="12700" cap="flat" cmpd="sng" algn="ctr">
                      <a:solidFill>
                        <a:srgbClr val="C9D8E8"/>
                      </a:solidFill>
                      <a:prstDash val="solid"/>
                      <a:round/>
                      <a:headEnd type="none" w="med" len="med"/>
                      <a:tailEnd type="none" w="med" len="med"/>
                    </a:lnR>
                    <a:lnT w="12700" cap="flat" cmpd="sng" algn="ctr">
                      <a:solidFill>
                        <a:srgbClr val="C9D8E8"/>
                      </a:solidFill>
                      <a:prstDash val="solid"/>
                      <a:round/>
                      <a:headEnd type="none" w="med" len="med"/>
                      <a:tailEnd type="none" w="med" len="med"/>
                    </a:lnT>
                    <a:lnB w="12700" cap="flat" cmpd="sng" algn="ctr">
                      <a:solidFill>
                        <a:srgbClr val="C9D8E8"/>
                      </a:solidFill>
                      <a:prstDash val="solid"/>
                      <a:round/>
                      <a:headEnd type="none" w="med" len="med"/>
                      <a:tailEnd type="none" w="med" len="med"/>
                    </a:lnB>
                    <a:solidFill>
                      <a:srgbClr val="102A43"/>
                    </a:solidFill>
                  </a:tcPr>
                </a:tc>
                <a:tc>
                  <a:txBody>
                    <a:bodyPr/>
                    <a:lstStyle/>
                    <a:p>
                      <a:pPr algn="ctr" indent="0" marL="0">
                        <a:buNone/>
                      </a:pPr>
                      <a:r>
                        <a:rPr lang="en-US" sz="980" b="1" dirty="0">
                          <a:solidFill>
                            <a:srgbClr val="FFFFFF"/>
                          </a:solidFill>
                          <a:latin typeface="Aptos" pitchFamily="34" charset="0"/>
                          <a:ea typeface="Aptos" pitchFamily="34" charset="-122"/>
                          <a:cs typeface="Aptos" pitchFamily="34" charset="-120"/>
                        </a:rPr>
                        <a:t>Coef.</a:t>
                      </a:r>
                      <a:endParaRPr lang="en-US" sz="980" dirty="0">
                        <a:latin typeface="Aptos" charset="0"/>
                        <a:ea typeface="Aptos" charset="0"/>
                        <a:cs typeface="Aptos" charset="0"/>
                      </a:endParaRPr>
                    </a:p>
                  </a:txBody>
                  <a:tcPr marL="54864" marR="54864" marT="54864" marB="54864" anchor="mid">
                    <a:lnL w="12700" cap="flat" cmpd="sng" algn="ctr">
                      <a:solidFill>
                        <a:srgbClr val="C9D8E8"/>
                      </a:solidFill>
                      <a:prstDash val="solid"/>
                      <a:round/>
                      <a:headEnd type="none" w="med" len="med"/>
                      <a:tailEnd type="none" w="med" len="med"/>
                    </a:lnL>
                    <a:lnR w="12700" cap="flat" cmpd="sng" algn="ctr">
                      <a:solidFill>
                        <a:srgbClr val="C9D8E8"/>
                      </a:solidFill>
                      <a:prstDash val="solid"/>
                      <a:round/>
                      <a:headEnd type="none" w="med" len="med"/>
                      <a:tailEnd type="none" w="med" len="med"/>
                    </a:lnR>
                    <a:lnT w="12700" cap="flat" cmpd="sng" algn="ctr">
                      <a:solidFill>
                        <a:srgbClr val="C9D8E8"/>
                      </a:solidFill>
                      <a:prstDash val="solid"/>
                      <a:round/>
                      <a:headEnd type="none" w="med" len="med"/>
                      <a:tailEnd type="none" w="med" len="med"/>
                    </a:lnT>
                    <a:lnB w="12700" cap="flat" cmpd="sng" algn="ctr">
                      <a:solidFill>
                        <a:srgbClr val="C9D8E8"/>
                      </a:solidFill>
                      <a:prstDash val="solid"/>
                      <a:round/>
                      <a:headEnd type="none" w="med" len="med"/>
                      <a:tailEnd type="none" w="med" len="med"/>
                    </a:lnB>
                    <a:solidFill>
                      <a:srgbClr val="102A43"/>
                    </a:solidFill>
                  </a:tcPr>
                </a:tc>
                <a:tc>
                  <a:txBody>
                    <a:bodyPr/>
                    <a:lstStyle/>
                    <a:p>
                      <a:pPr algn="ctr" indent="0" marL="0">
                        <a:buNone/>
                      </a:pPr>
                      <a:r>
                        <a:rPr lang="en-US" sz="980" b="1" dirty="0">
                          <a:solidFill>
                            <a:srgbClr val="FFFFFF"/>
                          </a:solidFill>
                          <a:latin typeface="Aptos" pitchFamily="34" charset="0"/>
                          <a:ea typeface="Aptos" pitchFamily="34" charset="-122"/>
                          <a:cs typeface="Aptos" pitchFamily="34" charset="-120"/>
                        </a:rPr>
                        <a:t>SE (clustered)</a:t>
                      </a:r>
                      <a:endParaRPr lang="en-US" sz="980" dirty="0">
                        <a:latin typeface="Aptos" charset="0"/>
                        <a:ea typeface="Aptos" charset="0"/>
                        <a:cs typeface="Aptos" charset="0"/>
                      </a:endParaRPr>
                    </a:p>
                  </a:txBody>
                  <a:tcPr marL="54864" marR="54864" marT="54864" marB="54864" anchor="mid">
                    <a:lnL w="12700" cap="flat" cmpd="sng" algn="ctr">
                      <a:solidFill>
                        <a:srgbClr val="C9D8E8"/>
                      </a:solidFill>
                      <a:prstDash val="solid"/>
                      <a:round/>
                      <a:headEnd type="none" w="med" len="med"/>
                      <a:tailEnd type="none" w="med" len="med"/>
                    </a:lnL>
                    <a:lnR w="12700" cap="flat" cmpd="sng" algn="ctr">
                      <a:solidFill>
                        <a:srgbClr val="C9D8E8"/>
                      </a:solidFill>
                      <a:prstDash val="solid"/>
                      <a:round/>
                      <a:headEnd type="none" w="med" len="med"/>
                      <a:tailEnd type="none" w="med" len="med"/>
                    </a:lnR>
                    <a:lnT w="12700" cap="flat" cmpd="sng" algn="ctr">
                      <a:solidFill>
                        <a:srgbClr val="C9D8E8"/>
                      </a:solidFill>
                      <a:prstDash val="solid"/>
                      <a:round/>
                      <a:headEnd type="none" w="med" len="med"/>
                      <a:tailEnd type="none" w="med" len="med"/>
                    </a:lnT>
                    <a:lnB w="12700" cap="flat" cmpd="sng" algn="ctr">
                      <a:solidFill>
                        <a:srgbClr val="C9D8E8"/>
                      </a:solidFill>
                      <a:prstDash val="solid"/>
                      <a:round/>
                      <a:headEnd type="none" w="med" len="med"/>
                      <a:tailEnd type="none" w="med" len="med"/>
                    </a:lnB>
                    <a:solidFill>
                      <a:srgbClr val="102A43"/>
                    </a:solidFill>
                  </a:tcPr>
                </a:tc>
                <a:tc>
                  <a:txBody>
                    <a:bodyPr/>
                    <a:lstStyle/>
                    <a:p>
                      <a:pPr algn="ctr" indent="0" marL="0">
                        <a:buNone/>
                      </a:pPr>
                      <a:r>
                        <a:rPr lang="en-US" sz="980" b="1" dirty="0">
                          <a:solidFill>
                            <a:srgbClr val="FFFFFF"/>
                          </a:solidFill>
                          <a:latin typeface="Aptos" pitchFamily="34" charset="0"/>
                          <a:ea typeface="Aptos" pitchFamily="34" charset="-122"/>
                          <a:cs typeface="Aptos" pitchFamily="34" charset="-120"/>
                        </a:rPr>
                        <a:t>t-stat</a:t>
                      </a:r>
                      <a:endParaRPr lang="en-US" sz="980" dirty="0">
                        <a:latin typeface="Aptos" charset="0"/>
                        <a:ea typeface="Aptos" charset="0"/>
                        <a:cs typeface="Aptos" charset="0"/>
                      </a:endParaRPr>
                    </a:p>
                  </a:txBody>
                  <a:tcPr marL="54864" marR="54864" marT="54864" marB="54864" anchor="mid">
                    <a:lnL w="12700" cap="flat" cmpd="sng" algn="ctr">
                      <a:solidFill>
                        <a:srgbClr val="C9D8E8"/>
                      </a:solidFill>
                      <a:prstDash val="solid"/>
                      <a:round/>
                      <a:headEnd type="none" w="med" len="med"/>
                      <a:tailEnd type="none" w="med" len="med"/>
                    </a:lnL>
                    <a:lnR w="12700" cap="flat" cmpd="sng" algn="ctr">
                      <a:solidFill>
                        <a:srgbClr val="C9D8E8"/>
                      </a:solidFill>
                      <a:prstDash val="solid"/>
                      <a:round/>
                      <a:headEnd type="none" w="med" len="med"/>
                      <a:tailEnd type="none" w="med" len="med"/>
                    </a:lnR>
                    <a:lnT w="12700" cap="flat" cmpd="sng" algn="ctr">
                      <a:solidFill>
                        <a:srgbClr val="C9D8E8"/>
                      </a:solidFill>
                      <a:prstDash val="solid"/>
                      <a:round/>
                      <a:headEnd type="none" w="med" len="med"/>
                      <a:tailEnd type="none" w="med" len="med"/>
                    </a:lnT>
                    <a:lnB w="12700" cap="flat" cmpd="sng" algn="ctr">
                      <a:solidFill>
                        <a:srgbClr val="C9D8E8"/>
                      </a:solidFill>
                      <a:prstDash val="solid"/>
                      <a:round/>
                      <a:headEnd type="none" w="med" len="med"/>
                      <a:tailEnd type="none" w="med" len="med"/>
                    </a:lnB>
                    <a:solidFill>
                      <a:srgbClr val="102A43"/>
                    </a:solidFill>
                  </a:tcPr>
                </a:tc>
                <a:tc>
                  <a:txBody>
                    <a:bodyPr/>
                    <a:lstStyle/>
                    <a:p>
                      <a:pPr algn="ctr" indent="0" marL="0">
                        <a:buNone/>
                      </a:pPr>
                      <a:r>
                        <a:rPr lang="en-US" sz="980" b="1" dirty="0">
                          <a:solidFill>
                            <a:srgbClr val="FFFFFF"/>
                          </a:solidFill>
                          <a:latin typeface="Aptos" pitchFamily="34" charset="0"/>
                          <a:ea typeface="Aptos" pitchFamily="34" charset="-122"/>
                          <a:cs typeface="Aptos" pitchFamily="34" charset="-120"/>
                        </a:rPr>
                        <a:t>p-value</a:t>
                      </a:r>
                      <a:endParaRPr lang="en-US" sz="980" dirty="0">
                        <a:latin typeface="Aptos" charset="0"/>
                        <a:ea typeface="Aptos" charset="0"/>
                        <a:cs typeface="Aptos" charset="0"/>
                      </a:endParaRPr>
                    </a:p>
                  </a:txBody>
                  <a:tcPr marL="54864" marR="54864" marT="54864" marB="54864" anchor="mid">
                    <a:lnL w="12700" cap="flat" cmpd="sng" algn="ctr">
                      <a:solidFill>
                        <a:srgbClr val="C9D8E8"/>
                      </a:solidFill>
                      <a:prstDash val="solid"/>
                      <a:round/>
                      <a:headEnd type="none" w="med" len="med"/>
                      <a:tailEnd type="none" w="med" len="med"/>
                    </a:lnL>
                    <a:lnR w="12700" cap="flat" cmpd="sng" algn="ctr">
                      <a:solidFill>
                        <a:srgbClr val="C9D8E8"/>
                      </a:solidFill>
                      <a:prstDash val="solid"/>
                      <a:round/>
                      <a:headEnd type="none" w="med" len="med"/>
                      <a:tailEnd type="none" w="med" len="med"/>
                    </a:lnR>
                    <a:lnT w="12700" cap="flat" cmpd="sng" algn="ctr">
                      <a:solidFill>
                        <a:srgbClr val="C9D8E8"/>
                      </a:solidFill>
                      <a:prstDash val="solid"/>
                      <a:round/>
                      <a:headEnd type="none" w="med" len="med"/>
                      <a:tailEnd type="none" w="med" len="med"/>
                    </a:lnT>
                    <a:lnB w="12700" cap="flat" cmpd="sng" algn="ctr">
                      <a:solidFill>
                        <a:srgbClr val="C9D8E8"/>
                      </a:solidFill>
                      <a:prstDash val="solid"/>
                      <a:round/>
                      <a:headEnd type="none" w="med" len="med"/>
                      <a:tailEnd type="none" w="med" len="med"/>
                    </a:lnB>
                    <a:solidFill>
                      <a:srgbClr val="102A43"/>
                    </a:solidFill>
                  </a:tcPr>
                </a:tc>
                <a:tc>
                  <a:txBody>
                    <a:bodyPr/>
                    <a:lstStyle/>
                    <a:p>
                      <a:pPr algn="ctr" indent="0" marL="0">
                        <a:buNone/>
                      </a:pPr>
                      <a:r>
                        <a:rPr lang="en-US" sz="980" b="1" dirty="0">
                          <a:solidFill>
                            <a:srgbClr val="FFFFFF"/>
                          </a:solidFill>
                          <a:latin typeface="Aptos" pitchFamily="34" charset="0"/>
                          <a:ea typeface="Aptos" pitchFamily="34" charset="-122"/>
                          <a:cs typeface="Aptos" pitchFamily="34" charset="-120"/>
                        </a:rPr>
                        <a:t>Stars</a:t>
                      </a:r>
                      <a:endParaRPr lang="en-US" sz="980" dirty="0">
                        <a:latin typeface="Aptos" charset="0"/>
                        <a:ea typeface="Aptos" charset="0"/>
                        <a:cs typeface="Aptos" charset="0"/>
                      </a:endParaRPr>
                    </a:p>
                  </a:txBody>
                  <a:tcPr marL="54864" marR="54864" marT="54864" marB="54864" anchor="mid">
                    <a:lnL w="12700" cap="flat" cmpd="sng" algn="ctr">
                      <a:solidFill>
                        <a:srgbClr val="C9D8E8"/>
                      </a:solidFill>
                      <a:prstDash val="solid"/>
                      <a:round/>
                      <a:headEnd type="none" w="med" len="med"/>
                      <a:tailEnd type="none" w="med" len="med"/>
                    </a:lnL>
                    <a:lnR w="12700" cap="flat" cmpd="sng" algn="ctr">
                      <a:solidFill>
                        <a:srgbClr val="C9D8E8"/>
                      </a:solidFill>
                      <a:prstDash val="solid"/>
                      <a:round/>
                      <a:headEnd type="none" w="med" len="med"/>
                      <a:tailEnd type="none" w="med" len="med"/>
                    </a:lnR>
                    <a:lnT w="12700" cap="flat" cmpd="sng" algn="ctr">
                      <a:solidFill>
                        <a:srgbClr val="C9D8E8"/>
                      </a:solidFill>
                      <a:prstDash val="solid"/>
                      <a:round/>
                      <a:headEnd type="none" w="med" len="med"/>
                      <a:tailEnd type="none" w="med" len="med"/>
                    </a:lnT>
                    <a:lnB w="12700" cap="flat" cmpd="sng" algn="ctr">
                      <a:solidFill>
                        <a:srgbClr val="C9D8E8"/>
                      </a:solidFill>
                      <a:prstDash val="solid"/>
                      <a:round/>
                      <a:headEnd type="none" w="med" len="med"/>
                      <a:tailEnd type="none" w="med" len="med"/>
                    </a:lnB>
                    <a:solidFill>
                      <a:srgbClr val="102A43"/>
                    </a:solidFill>
                  </a:tcPr>
                </a:tc>
              </a:tr>
              <a:tr h="475488">
                <a:tc>
                  <a:txBody>
                    <a:bodyPr/>
                    <a:lstStyle/>
                    <a:p>
                      <a:pPr algn="ctr" indent="0" marL="0">
                        <a:buNone/>
                      </a:pPr>
                      <a:r>
                        <a:rPr lang="en-US" sz="980" dirty="0">
                          <a:solidFill>
                            <a:srgbClr val="24364B"/>
                          </a:solidFill>
                          <a:latin typeface="Aptos" pitchFamily="34" charset="0"/>
                          <a:ea typeface="Aptos" pitchFamily="34" charset="-122"/>
                          <a:cs typeface="Aptos" pitchFamily="34" charset="-120"/>
                        </a:rPr>
                        <a:t>Lobbying spend, t-1 ($M)</a:t>
                      </a:r>
                      <a:endParaRPr lang="en-US" sz="980" dirty="0">
                        <a:latin typeface="Aptos" charset="0"/>
                        <a:ea typeface="Aptos" charset="0"/>
                        <a:cs typeface="Aptos" charset="0"/>
                      </a:endParaRPr>
                    </a:p>
                  </a:txBody>
                  <a:tcPr marL="54864" marR="54864" marT="54864" marB="54864" anchor="mid">
                    <a:lnL w="12700" cap="flat" cmpd="sng" algn="ctr">
                      <a:solidFill>
                        <a:srgbClr val="C9D8E8"/>
                      </a:solidFill>
                      <a:prstDash val="solid"/>
                      <a:round/>
                      <a:headEnd type="none" w="med" len="med"/>
                      <a:tailEnd type="none" w="med" len="med"/>
                    </a:lnL>
                    <a:lnR w="12700" cap="flat" cmpd="sng" algn="ctr">
                      <a:solidFill>
                        <a:srgbClr val="C9D8E8"/>
                      </a:solidFill>
                      <a:prstDash val="solid"/>
                      <a:round/>
                      <a:headEnd type="none" w="med" len="med"/>
                      <a:tailEnd type="none" w="med" len="med"/>
                    </a:lnR>
                    <a:lnT w="12700" cap="flat" cmpd="sng" algn="ctr">
                      <a:solidFill>
                        <a:srgbClr val="C9D8E8"/>
                      </a:solidFill>
                      <a:prstDash val="solid"/>
                      <a:round/>
                      <a:headEnd type="none" w="med" len="med"/>
                      <a:tailEnd type="none" w="med" len="med"/>
                    </a:lnT>
                    <a:lnB w="12700" cap="flat" cmpd="sng" algn="ctr">
                      <a:solidFill>
                        <a:srgbClr val="C9D8E8"/>
                      </a:solidFill>
                      <a:prstDash val="solid"/>
                      <a:round/>
                      <a:headEnd type="none" w="med" len="med"/>
                      <a:tailEnd type="none" w="med" len="med"/>
                    </a:lnB>
                    <a:solidFill>
                      <a:srgbClr val="FFFFFF"/>
                    </a:solidFill>
                  </a:tcPr>
                </a:tc>
                <a:tc>
                  <a:txBody>
                    <a:bodyPr/>
                    <a:lstStyle/>
                    <a:p>
                      <a:pPr algn="ctr" indent="0" marL="0">
                        <a:buNone/>
                      </a:pPr>
                      <a:r>
                        <a:rPr lang="en-US" sz="980" dirty="0">
                          <a:solidFill>
                            <a:srgbClr val="24364B"/>
                          </a:solidFill>
                          <a:latin typeface="Aptos" pitchFamily="34" charset="0"/>
                          <a:ea typeface="Aptos" pitchFamily="34" charset="-122"/>
                          <a:cs typeface="Aptos" pitchFamily="34" charset="-120"/>
                        </a:rPr>
                        <a:t>-174.587</a:t>
                      </a:r>
                      <a:endParaRPr lang="en-US" sz="980" dirty="0">
                        <a:latin typeface="Aptos" charset="0"/>
                        <a:ea typeface="Aptos" charset="0"/>
                        <a:cs typeface="Aptos" charset="0"/>
                      </a:endParaRPr>
                    </a:p>
                  </a:txBody>
                  <a:tcPr marL="54864" marR="54864" marT="54864" marB="54864" anchor="mid">
                    <a:lnL w="12700" cap="flat" cmpd="sng" algn="ctr">
                      <a:solidFill>
                        <a:srgbClr val="C9D8E8"/>
                      </a:solidFill>
                      <a:prstDash val="solid"/>
                      <a:round/>
                      <a:headEnd type="none" w="med" len="med"/>
                      <a:tailEnd type="none" w="med" len="med"/>
                    </a:lnL>
                    <a:lnR w="12700" cap="flat" cmpd="sng" algn="ctr">
                      <a:solidFill>
                        <a:srgbClr val="C9D8E8"/>
                      </a:solidFill>
                      <a:prstDash val="solid"/>
                      <a:round/>
                      <a:headEnd type="none" w="med" len="med"/>
                      <a:tailEnd type="none" w="med" len="med"/>
                    </a:lnR>
                    <a:lnT w="12700" cap="flat" cmpd="sng" algn="ctr">
                      <a:solidFill>
                        <a:srgbClr val="C9D8E8"/>
                      </a:solidFill>
                      <a:prstDash val="solid"/>
                      <a:round/>
                      <a:headEnd type="none" w="med" len="med"/>
                      <a:tailEnd type="none" w="med" len="med"/>
                    </a:lnT>
                    <a:lnB w="12700" cap="flat" cmpd="sng" algn="ctr">
                      <a:solidFill>
                        <a:srgbClr val="C9D8E8"/>
                      </a:solidFill>
                      <a:prstDash val="solid"/>
                      <a:round/>
                      <a:headEnd type="none" w="med" len="med"/>
                      <a:tailEnd type="none" w="med" len="med"/>
                    </a:lnB>
                    <a:solidFill>
                      <a:srgbClr val="FFFFFF"/>
                    </a:solidFill>
                  </a:tcPr>
                </a:tc>
                <a:tc>
                  <a:txBody>
                    <a:bodyPr/>
                    <a:lstStyle/>
                    <a:p>
                      <a:pPr algn="ctr" indent="0" marL="0">
                        <a:buNone/>
                      </a:pPr>
                      <a:r>
                        <a:rPr lang="en-US" sz="980" dirty="0">
                          <a:solidFill>
                            <a:srgbClr val="24364B"/>
                          </a:solidFill>
                          <a:latin typeface="Aptos" pitchFamily="34" charset="0"/>
                          <a:ea typeface="Aptos" pitchFamily="34" charset="-122"/>
                          <a:cs typeface="Aptos" pitchFamily="34" charset="-120"/>
                        </a:rPr>
                        <a:t>116.934</a:t>
                      </a:r>
                      <a:endParaRPr lang="en-US" sz="980" dirty="0">
                        <a:latin typeface="Aptos" charset="0"/>
                        <a:ea typeface="Aptos" charset="0"/>
                        <a:cs typeface="Aptos" charset="0"/>
                      </a:endParaRPr>
                    </a:p>
                  </a:txBody>
                  <a:tcPr marL="54864" marR="54864" marT="54864" marB="54864" anchor="mid">
                    <a:lnL w="12700" cap="flat" cmpd="sng" algn="ctr">
                      <a:solidFill>
                        <a:srgbClr val="C9D8E8"/>
                      </a:solidFill>
                      <a:prstDash val="solid"/>
                      <a:round/>
                      <a:headEnd type="none" w="med" len="med"/>
                      <a:tailEnd type="none" w="med" len="med"/>
                    </a:lnL>
                    <a:lnR w="12700" cap="flat" cmpd="sng" algn="ctr">
                      <a:solidFill>
                        <a:srgbClr val="C9D8E8"/>
                      </a:solidFill>
                      <a:prstDash val="solid"/>
                      <a:round/>
                      <a:headEnd type="none" w="med" len="med"/>
                      <a:tailEnd type="none" w="med" len="med"/>
                    </a:lnR>
                    <a:lnT w="12700" cap="flat" cmpd="sng" algn="ctr">
                      <a:solidFill>
                        <a:srgbClr val="C9D8E8"/>
                      </a:solidFill>
                      <a:prstDash val="solid"/>
                      <a:round/>
                      <a:headEnd type="none" w="med" len="med"/>
                      <a:tailEnd type="none" w="med" len="med"/>
                    </a:lnT>
                    <a:lnB w="12700" cap="flat" cmpd="sng" algn="ctr">
                      <a:solidFill>
                        <a:srgbClr val="C9D8E8"/>
                      </a:solidFill>
                      <a:prstDash val="solid"/>
                      <a:round/>
                      <a:headEnd type="none" w="med" len="med"/>
                      <a:tailEnd type="none" w="med" len="med"/>
                    </a:lnB>
                    <a:solidFill>
                      <a:srgbClr val="FFFFFF"/>
                    </a:solidFill>
                  </a:tcPr>
                </a:tc>
                <a:tc>
                  <a:txBody>
                    <a:bodyPr/>
                    <a:lstStyle/>
                    <a:p>
                      <a:pPr algn="ctr" indent="0" marL="0">
                        <a:buNone/>
                      </a:pPr>
                      <a:r>
                        <a:rPr lang="en-US" sz="980" dirty="0">
                          <a:solidFill>
                            <a:srgbClr val="24364B"/>
                          </a:solidFill>
                          <a:latin typeface="Aptos" pitchFamily="34" charset="0"/>
                          <a:ea typeface="Aptos" pitchFamily="34" charset="-122"/>
                          <a:cs typeface="Aptos" pitchFamily="34" charset="-120"/>
                        </a:rPr>
                        <a:t>-1.49</a:t>
                      </a:r>
                      <a:endParaRPr lang="en-US" sz="980" dirty="0">
                        <a:latin typeface="Aptos" charset="0"/>
                        <a:ea typeface="Aptos" charset="0"/>
                        <a:cs typeface="Aptos" charset="0"/>
                      </a:endParaRPr>
                    </a:p>
                  </a:txBody>
                  <a:tcPr marL="54864" marR="54864" marT="54864" marB="54864" anchor="mid">
                    <a:lnL w="12700" cap="flat" cmpd="sng" algn="ctr">
                      <a:solidFill>
                        <a:srgbClr val="C9D8E8"/>
                      </a:solidFill>
                      <a:prstDash val="solid"/>
                      <a:round/>
                      <a:headEnd type="none" w="med" len="med"/>
                      <a:tailEnd type="none" w="med" len="med"/>
                    </a:lnL>
                    <a:lnR w="12700" cap="flat" cmpd="sng" algn="ctr">
                      <a:solidFill>
                        <a:srgbClr val="C9D8E8"/>
                      </a:solidFill>
                      <a:prstDash val="solid"/>
                      <a:round/>
                      <a:headEnd type="none" w="med" len="med"/>
                      <a:tailEnd type="none" w="med" len="med"/>
                    </a:lnR>
                    <a:lnT w="12700" cap="flat" cmpd="sng" algn="ctr">
                      <a:solidFill>
                        <a:srgbClr val="C9D8E8"/>
                      </a:solidFill>
                      <a:prstDash val="solid"/>
                      <a:round/>
                      <a:headEnd type="none" w="med" len="med"/>
                      <a:tailEnd type="none" w="med" len="med"/>
                    </a:lnT>
                    <a:lnB w="12700" cap="flat" cmpd="sng" algn="ctr">
                      <a:solidFill>
                        <a:srgbClr val="C9D8E8"/>
                      </a:solidFill>
                      <a:prstDash val="solid"/>
                      <a:round/>
                      <a:headEnd type="none" w="med" len="med"/>
                      <a:tailEnd type="none" w="med" len="med"/>
                    </a:lnB>
                    <a:solidFill>
                      <a:srgbClr val="FFFFFF"/>
                    </a:solidFill>
                  </a:tcPr>
                </a:tc>
                <a:tc>
                  <a:txBody>
                    <a:bodyPr/>
                    <a:lstStyle/>
                    <a:p>
                      <a:pPr algn="ctr" indent="0" marL="0">
                        <a:buNone/>
                      </a:pPr>
                      <a:r>
                        <a:rPr lang="en-US" sz="980" dirty="0">
                          <a:solidFill>
                            <a:srgbClr val="24364B"/>
                          </a:solidFill>
                          <a:latin typeface="Aptos" pitchFamily="34" charset="0"/>
                          <a:ea typeface="Aptos" pitchFamily="34" charset="-122"/>
                          <a:cs typeface="Aptos" pitchFamily="34" charset="-120"/>
                        </a:rPr>
                        <a:t>0.135</a:t>
                      </a:r>
                      <a:endParaRPr lang="en-US" sz="980" dirty="0">
                        <a:latin typeface="Aptos" charset="0"/>
                        <a:ea typeface="Aptos" charset="0"/>
                        <a:cs typeface="Aptos" charset="0"/>
                      </a:endParaRPr>
                    </a:p>
                  </a:txBody>
                  <a:tcPr marL="54864" marR="54864" marT="54864" marB="54864" anchor="mid">
                    <a:lnL w="12700" cap="flat" cmpd="sng" algn="ctr">
                      <a:solidFill>
                        <a:srgbClr val="C9D8E8"/>
                      </a:solidFill>
                      <a:prstDash val="solid"/>
                      <a:round/>
                      <a:headEnd type="none" w="med" len="med"/>
                      <a:tailEnd type="none" w="med" len="med"/>
                    </a:lnL>
                    <a:lnR w="12700" cap="flat" cmpd="sng" algn="ctr">
                      <a:solidFill>
                        <a:srgbClr val="C9D8E8"/>
                      </a:solidFill>
                      <a:prstDash val="solid"/>
                      <a:round/>
                      <a:headEnd type="none" w="med" len="med"/>
                      <a:tailEnd type="none" w="med" len="med"/>
                    </a:lnR>
                    <a:lnT w="12700" cap="flat" cmpd="sng" algn="ctr">
                      <a:solidFill>
                        <a:srgbClr val="C9D8E8"/>
                      </a:solidFill>
                      <a:prstDash val="solid"/>
                      <a:round/>
                      <a:headEnd type="none" w="med" len="med"/>
                      <a:tailEnd type="none" w="med" len="med"/>
                    </a:lnT>
                    <a:lnB w="12700" cap="flat" cmpd="sng" algn="ctr">
                      <a:solidFill>
                        <a:srgbClr val="C9D8E8"/>
                      </a:solidFill>
                      <a:prstDash val="solid"/>
                      <a:round/>
                      <a:headEnd type="none" w="med" len="med"/>
                      <a:tailEnd type="none" w="med" len="med"/>
                    </a:lnB>
                    <a:solidFill>
                      <a:srgbClr val="FFFFFF"/>
                    </a:solidFill>
                  </a:tcPr>
                </a:tc>
                <a:tc>
                  <a:txBody>
                    <a:bodyPr/>
                    <a:lstStyle/>
                    <a:p>
                      <a:pPr algn="ctr" indent="0" marL="0">
                        <a:buNone/>
                      </a:pPr>
                      <a:endParaRPr lang="en-US" sz="980" dirty="0">
                        <a:latin typeface="Aptos" charset="0"/>
                        <a:ea typeface="Aptos" charset="0"/>
                        <a:cs typeface="Aptos" charset="0"/>
                      </a:endParaRPr>
                    </a:p>
                  </a:txBody>
                  <a:tcPr marL="54864" marR="54864" marT="54864" marB="54864" anchor="mid">
                    <a:lnL w="12700" cap="flat" cmpd="sng" algn="ctr">
                      <a:solidFill>
                        <a:srgbClr val="C9D8E8"/>
                      </a:solidFill>
                      <a:prstDash val="solid"/>
                      <a:round/>
                      <a:headEnd type="none" w="med" len="med"/>
                      <a:tailEnd type="none" w="med" len="med"/>
                    </a:lnL>
                    <a:lnR w="12700" cap="flat" cmpd="sng" algn="ctr">
                      <a:solidFill>
                        <a:srgbClr val="C9D8E8"/>
                      </a:solidFill>
                      <a:prstDash val="solid"/>
                      <a:round/>
                      <a:headEnd type="none" w="med" len="med"/>
                      <a:tailEnd type="none" w="med" len="med"/>
                    </a:lnR>
                    <a:lnT w="12700" cap="flat" cmpd="sng" algn="ctr">
                      <a:solidFill>
                        <a:srgbClr val="C9D8E8"/>
                      </a:solidFill>
                      <a:prstDash val="solid"/>
                      <a:round/>
                      <a:headEnd type="none" w="med" len="med"/>
                      <a:tailEnd type="none" w="med" len="med"/>
                    </a:lnT>
                    <a:lnB w="12700" cap="flat" cmpd="sng" algn="ctr">
                      <a:solidFill>
                        <a:srgbClr val="C9D8E8"/>
                      </a:solidFill>
                      <a:prstDash val="solid"/>
                      <a:round/>
                      <a:headEnd type="none" w="med" len="med"/>
                      <a:tailEnd type="none" w="med" len="med"/>
                    </a:lnB>
                    <a:solidFill>
                      <a:srgbClr val="FFFFFF"/>
                    </a:solidFill>
                  </a:tcPr>
                </a:tc>
              </a:tr>
              <a:tr h="475488">
                <a:tc>
                  <a:txBody>
                    <a:bodyPr/>
                    <a:lstStyle/>
                    <a:p>
                      <a:pPr algn="ctr" indent="0" marL="0">
                        <a:buNone/>
                      </a:pPr>
                      <a:r>
                        <a:rPr lang="en-US" sz="980" dirty="0">
                          <a:solidFill>
                            <a:srgbClr val="24364B"/>
                          </a:solidFill>
                          <a:latin typeface="Aptos" pitchFamily="34" charset="0"/>
                          <a:ea typeface="Aptos" pitchFamily="34" charset="-122"/>
                          <a:cs typeface="Aptos" pitchFamily="34" charset="-120"/>
                        </a:rPr>
                        <a:t>Log(Assets)</a:t>
                      </a:r>
                      <a:endParaRPr lang="en-US" sz="980" dirty="0">
                        <a:latin typeface="Aptos" charset="0"/>
                        <a:ea typeface="Aptos" charset="0"/>
                        <a:cs typeface="Aptos" charset="0"/>
                      </a:endParaRPr>
                    </a:p>
                  </a:txBody>
                  <a:tcPr marL="54864" marR="54864" marT="54864" marB="54864" anchor="mid">
                    <a:lnL w="12700" cap="flat" cmpd="sng" algn="ctr">
                      <a:solidFill>
                        <a:srgbClr val="C9D8E8"/>
                      </a:solidFill>
                      <a:prstDash val="solid"/>
                      <a:round/>
                      <a:headEnd type="none" w="med" len="med"/>
                      <a:tailEnd type="none" w="med" len="med"/>
                    </a:lnL>
                    <a:lnR w="12700" cap="flat" cmpd="sng" algn="ctr">
                      <a:solidFill>
                        <a:srgbClr val="C9D8E8"/>
                      </a:solidFill>
                      <a:prstDash val="solid"/>
                      <a:round/>
                      <a:headEnd type="none" w="med" len="med"/>
                      <a:tailEnd type="none" w="med" len="med"/>
                    </a:lnR>
                    <a:lnT w="12700" cap="flat" cmpd="sng" algn="ctr">
                      <a:solidFill>
                        <a:srgbClr val="C9D8E8"/>
                      </a:solidFill>
                      <a:prstDash val="solid"/>
                      <a:round/>
                      <a:headEnd type="none" w="med" len="med"/>
                      <a:tailEnd type="none" w="med" len="med"/>
                    </a:lnT>
                    <a:lnB w="12700" cap="flat" cmpd="sng" algn="ctr">
                      <a:solidFill>
                        <a:srgbClr val="C9D8E8"/>
                      </a:solidFill>
                      <a:prstDash val="solid"/>
                      <a:round/>
                      <a:headEnd type="none" w="med" len="med"/>
                      <a:tailEnd type="none" w="med" len="med"/>
                    </a:lnB>
                    <a:solidFill>
                      <a:srgbClr val="FFFFFF"/>
                    </a:solidFill>
                  </a:tcPr>
                </a:tc>
                <a:tc>
                  <a:txBody>
                    <a:bodyPr/>
                    <a:lstStyle/>
                    <a:p>
                      <a:pPr algn="ctr" indent="0" marL="0">
                        <a:buNone/>
                      </a:pPr>
                      <a:r>
                        <a:rPr lang="en-US" sz="980" dirty="0">
                          <a:solidFill>
                            <a:srgbClr val="24364B"/>
                          </a:solidFill>
                          <a:latin typeface="Aptos" pitchFamily="34" charset="0"/>
                          <a:ea typeface="Aptos" pitchFamily="34" charset="-122"/>
                          <a:cs typeface="Aptos" pitchFamily="34" charset="-120"/>
                        </a:rPr>
                        <a:t>234.706</a:t>
                      </a:r>
                      <a:endParaRPr lang="en-US" sz="980" dirty="0">
                        <a:latin typeface="Aptos" charset="0"/>
                        <a:ea typeface="Aptos" charset="0"/>
                        <a:cs typeface="Aptos" charset="0"/>
                      </a:endParaRPr>
                    </a:p>
                  </a:txBody>
                  <a:tcPr marL="54864" marR="54864" marT="54864" marB="54864" anchor="mid">
                    <a:lnL w="12700" cap="flat" cmpd="sng" algn="ctr">
                      <a:solidFill>
                        <a:srgbClr val="C9D8E8"/>
                      </a:solidFill>
                      <a:prstDash val="solid"/>
                      <a:round/>
                      <a:headEnd type="none" w="med" len="med"/>
                      <a:tailEnd type="none" w="med" len="med"/>
                    </a:lnL>
                    <a:lnR w="12700" cap="flat" cmpd="sng" algn="ctr">
                      <a:solidFill>
                        <a:srgbClr val="C9D8E8"/>
                      </a:solidFill>
                      <a:prstDash val="solid"/>
                      <a:round/>
                      <a:headEnd type="none" w="med" len="med"/>
                      <a:tailEnd type="none" w="med" len="med"/>
                    </a:lnR>
                    <a:lnT w="12700" cap="flat" cmpd="sng" algn="ctr">
                      <a:solidFill>
                        <a:srgbClr val="C9D8E8"/>
                      </a:solidFill>
                      <a:prstDash val="solid"/>
                      <a:round/>
                      <a:headEnd type="none" w="med" len="med"/>
                      <a:tailEnd type="none" w="med" len="med"/>
                    </a:lnT>
                    <a:lnB w="12700" cap="flat" cmpd="sng" algn="ctr">
                      <a:solidFill>
                        <a:srgbClr val="C9D8E8"/>
                      </a:solidFill>
                      <a:prstDash val="solid"/>
                      <a:round/>
                      <a:headEnd type="none" w="med" len="med"/>
                      <a:tailEnd type="none" w="med" len="med"/>
                    </a:lnB>
                    <a:solidFill>
                      <a:srgbClr val="FFFFFF"/>
                    </a:solidFill>
                  </a:tcPr>
                </a:tc>
                <a:tc>
                  <a:txBody>
                    <a:bodyPr/>
                    <a:lstStyle/>
                    <a:p>
                      <a:pPr algn="ctr" indent="0" marL="0">
                        <a:buNone/>
                      </a:pPr>
                      <a:r>
                        <a:rPr lang="en-US" sz="980" dirty="0">
                          <a:solidFill>
                            <a:srgbClr val="24364B"/>
                          </a:solidFill>
                          <a:latin typeface="Aptos" pitchFamily="34" charset="0"/>
                          <a:ea typeface="Aptos" pitchFamily="34" charset="-122"/>
                          <a:cs typeface="Aptos" pitchFamily="34" charset="-120"/>
                        </a:rPr>
                        <a:t>148.659</a:t>
                      </a:r>
                      <a:endParaRPr lang="en-US" sz="980" dirty="0">
                        <a:latin typeface="Aptos" charset="0"/>
                        <a:ea typeface="Aptos" charset="0"/>
                        <a:cs typeface="Aptos" charset="0"/>
                      </a:endParaRPr>
                    </a:p>
                  </a:txBody>
                  <a:tcPr marL="54864" marR="54864" marT="54864" marB="54864" anchor="mid">
                    <a:lnL w="12700" cap="flat" cmpd="sng" algn="ctr">
                      <a:solidFill>
                        <a:srgbClr val="C9D8E8"/>
                      </a:solidFill>
                      <a:prstDash val="solid"/>
                      <a:round/>
                      <a:headEnd type="none" w="med" len="med"/>
                      <a:tailEnd type="none" w="med" len="med"/>
                    </a:lnL>
                    <a:lnR w="12700" cap="flat" cmpd="sng" algn="ctr">
                      <a:solidFill>
                        <a:srgbClr val="C9D8E8"/>
                      </a:solidFill>
                      <a:prstDash val="solid"/>
                      <a:round/>
                      <a:headEnd type="none" w="med" len="med"/>
                      <a:tailEnd type="none" w="med" len="med"/>
                    </a:lnR>
                    <a:lnT w="12700" cap="flat" cmpd="sng" algn="ctr">
                      <a:solidFill>
                        <a:srgbClr val="C9D8E8"/>
                      </a:solidFill>
                      <a:prstDash val="solid"/>
                      <a:round/>
                      <a:headEnd type="none" w="med" len="med"/>
                      <a:tailEnd type="none" w="med" len="med"/>
                    </a:lnT>
                    <a:lnB w="12700" cap="flat" cmpd="sng" algn="ctr">
                      <a:solidFill>
                        <a:srgbClr val="C9D8E8"/>
                      </a:solidFill>
                      <a:prstDash val="solid"/>
                      <a:round/>
                      <a:headEnd type="none" w="med" len="med"/>
                      <a:tailEnd type="none" w="med" len="med"/>
                    </a:lnB>
                    <a:solidFill>
                      <a:srgbClr val="FFFFFF"/>
                    </a:solidFill>
                  </a:tcPr>
                </a:tc>
                <a:tc>
                  <a:txBody>
                    <a:bodyPr/>
                    <a:lstStyle/>
                    <a:p>
                      <a:pPr algn="ctr" indent="0" marL="0">
                        <a:buNone/>
                      </a:pPr>
                      <a:r>
                        <a:rPr lang="en-US" sz="980" dirty="0">
                          <a:solidFill>
                            <a:srgbClr val="24364B"/>
                          </a:solidFill>
                          <a:latin typeface="Aptos" pitchFamily="34" charset="0"/>
                          <a:ea typeface="Aptos" pitchFamily="34" charset="-122"/>
                          <a:cs typeface="Aptos" pitchFamily="34" charset="-120"/>
                        </a:rPr>
                        <a:t>1.58</a:t>
                      </a:r>
                      <a:endParaRPr lang="en-US" sz="980" dirty="0">
                        <a:latin typeface="Aptos" charset="0"/>
                        <a:ea typeface="Aptos" charset="0"/>
                        <a:cs typeface="Aptos" charset="0"/>
                      </a:endParaRPr>
                    </a:p>
                  </a:txBody>
                  <a:tcPr marL="54864" marR="54864" marT="54864" marB="54864" anchor="mid">
                    <a:lnL w="12700" cap="flat" cmpd="sng" algn="ctr">
                      <a:solidFill>
                        <a:srgbClr val="C9D8E8"/>
                      </a:solidFill>
                      <a:prstDash val="solid"/>
                      <a:round/>
                      <a:headEnd type="none" w="med" len="med"/>
                      <a:tailEnd type="none" w="med" len="med"/>
                    </a:lnL>
                    <a:lnR w="12700" cap="flat" cmpd="sng" algn="ctr">
                      <a:solidFill>
                        <a:srgbClr val="C9D8E8"/>
                      </a:solidFill>
                      <a:prstDash val="solid"/>
                      <a:round/>
                      <a:headEnd type="none" w="med" len="med"/>
                      <a:tailEnd type="none" w="med" len="med"/>
                    </a:lnR>
                    <a:lnT w="12700" cap="flat" cmpd="sng" algn="ctr">
                      <a:solidFill>
                        <a:srgbClr val="C9D8E8"/>
                      </a:solidFill>
                      <a:prstDash val="solid"/>
                      <a:round/>
                      <a:headEnd type="none" w="med" len="med"/>
                      <a:tailEnd type="none" w="med" len="med"/>
                    </a:lnT>
                    <a:lnB w="12700" cap="flat" cmpd="sng" algn="ctr">
                      <a:solidFill>
                        <a:srgbClr val="C9D8E8"/>
                      </a:solidFill>
                      <a:prstDash val="solid"/>
                      <a:round/>
                      <a:headEnd type="none" w="med" len="med"/>
                      <a:tailEnd type="none" w="med" len="med"/>
                    </a:lnB>
                    <a:solidFill>
                      <a:srgbClr val="FFFFFF"/>
                    </a:solidFill>
                  </a:tcPr>
                </a:tc>
                <a:tc>
                  <a:txBody>
                    <a:bodyPr/>
                    <a:lstStyle/>
                    <a:p>
                      <a:pPr algn="ctr" indent="0" marL="0">
                        <a:buNone/>
                      </a:pPr>
                      <a:r>
                        <a:rPr lang="en-US" sz="980" dirty="0">
                          <a:solidFill>
                            <a:srgbClr val="24364B"/>
                          </a:solidFill>
                          <a:latin typeface="Aptos" pitchFamily="34" charset="0"/>
                          <a:ea typeface="Aptos" pitchFamily="34" charset="-122"/>
                          <a:cs typeface="Aptos" pitchFamily="34" charset="-120"/>
                        </a:rPr>
                        <a:t>0.114</a:t>
                      </a:r>
                      <a:endParaRPr lang="en-US" sz="980" dirty="0">
                        <a:latin typeface="Aptos" charset="0"/>
                        <a:ea typeface="Aptos" charset="0"/>
                        <a:cs typeface="Aptos" charset="0"/>
                      </a:endParaRPr>
                    </a:p>
                  </a:txBody>
                  <a:tcPr marL="54864" marR="54864" marT="54864" marB="54864" anchor="mid">
                    <a:lnL w="12700" cap="flat" cmpd="sng" algn="ctr">
                      <a:solidFill>
                        <a:srgbClr val="C9D8E8"/>
                      </a:solidFill>
                      <a:prstDash val="solid"/>
                      <a:round/>
                      <a:headEnd type="none" w="med" len="med"/>
                      <a:tailEnd type="none" w="med" len="med"/>
                    </a:lnL>
                    <a:lnR w="12700" cap="flat" cmpd="sng" algn="ctr">
                      <a:solidFill>
                        <a:srgbClr val="C9D8E8"/>
                      </a:solidFill>
                      <a:prstDash val="solid"/>
                      <a:round/>
                      <a:headEnd type="none" w="med" len="med"/>
                      <a:tailEnd type="none" w="med" len="med"/>
                    </a:lnR>
                    <a:lnT w="12700" cap="flat" cmpd="sng" algn="ctr">
                      <a:solidFill>
                        <a:srgbClr val="C9D8E8"/>
                      </a:solidFill>
                      <a:prstDash val="solid"/>
                      <a:round/>
                      <a:headEnd type="none" w="med" len="med"/>
                      <a:tailEnd type="none" w="med" len="med"/>
                    </a:lnT>
                    <a:lnB w="12700" cap="flat" cmpd="sng" algn="ctr">
                      <a:solidFill>
                        <a:srgbClr val="C9D8E8"/>
                      </a:solidFill>
                      <a:prstDash val="solid"/>
                      <a:round/>
                      <a:headEnd type="none" w="med" len="med"/>
                      <a:tailEnd type="none" w="med" len="med"/>
                    </a:lnB>
                    <a:solidFill>
                      <a:srgbClr val="FFFFFF"/>
                    </a:solidFill>
                  </a:tcPr>
                </a:tc>
                <a:tc>
                  <a:txBody>
                    <a:bodyPr/>
                    <a:lstStyle/>
                    <a:p>
                      <a:pPr algn="ctr" indent="0" marL="0">
                        <a:buNone/>
                      </a:pPr>
                      <a:endParaRPr lang="en-US" sz="980" dirty="0">
                        <a:latin typeface="Aptos" charset="0"/>
                        <a:ea typeface="Aptos" charset="0"/>
                        <a:cs typeface="Aptos" charset="0"/>
                      </a:endParaRPr>
                    </a:p>
                  </a:txBody>
                  <a:tcPr marL="54864" marR="54864" marT="54864" marB="54864" anchor="mid">
                    <a:lnL w="12700" cap="flat" cmpd="sng" algn="ctr">
                      <a:solidFill>
                        <a:srgbClr val="C9D8E8"/>
                      </a:solidFill>
                      <a:prstDash val="solid"/>
                      <a:round/>
                      <a:headEnd type="none" w="med" len="med"/>
                      <a:tailEnd type="none" w="med" len="med"/>
                    </a:lnL>
                    <a:lnR w="12700" cap="flat" cmpd="sng" algn="ctr">
                      <a:solidFill>
                        <a:srgbClr val="C9D8E8"/>
                      </a:solidFill>
                      <a:prstDash val="solid"/>
                      <a:round/>
                      <a:headEnd type="none" w="med" len="med"/>
                      <a:tailEnd type="none" w="med" len="med"/>
                    </a:lnR>
                    <a:lnT w="12700" cap="flat" cmpd="sng" algn="ctr">
                      <a:solidFill>
                        <a:srgbClr val="C9D8E8"/>
                      </a:solidFill>
                      <a:prstDash val="solid"/>
                      <a:round/>
                      <a:headEnd type="none" w="med" len="med"/>
                      <a:tailEnd type="none" w="med" len="med"/>
                    </a:lnT>
                    <a:lnB w="12700" cap="flat" cmpd="sng" algn="ctr">
                      <a:solidFill>
                        <a:srgbClr val="C9D8E8"/>
                      </a:solidFill>
                      <a:prstDash val="solid"/>
                      <a:round/>
                      <a:headEnd type="none" w="med" len="med"/>
                      <a:tailEnd type="none" w="med" len="med"/>
                    </a:lnB>
                    <a:solidFill>
                      <a:srgbClr val="FFFFFF"/>
                    </a:solidFill>
                  </a:tcPr>
                </a:tc>
              </a:tr>
              <a:tr h="475488">
                <a:tc>
                  <a:txBody>
                    <a:bodyPr/>
                    <a:lstStyle/>
                    <a:p>
                      <a:pPr algn="ctr" indent="0" marL="0">
                        <a:buNone/>
                      </a:pPr>
                      <a:r>
                        <a:rPr lang="en-US" sz="980" dirty="0">
                          <a:solidFill>
                            <a:srgbClr val="24364B"/>
                          </a:solidFill>
                          <a:latin typeface="Aptos" pitchFamily="34" charset="0"/>
                          <a:ea typeface="Aptos" pitchFamily="34" charset="-122"/>
                          <a:cs typeface="Aptos" pitchFamily="34" charset="-120"/>
                        </a:rPr>
                        <a:t>Log(Revenue)</a:t>
                      </a:r>
                      <a:endParaRPr lang="en-US" sz="980" dirty="0">
                        <a:latin typeface="Aptos" charset="0"/>
                        <a:ea typeface="Aptos" charset="0"/>
                        <a:cs typeface="Aptos" charset="0"/>
                      </a:endParaRPr>
                    </a:p>
                  </a:txBody>
                  <a:tcPr marL="54864" marR="54864" marT="54864" marB="54864" anchor="mid">
                    <a:lnL w="12700" cap="flat" cmpd="sng" algn="ctr">
                      <a:solidFill>
                        <a:srgbClr val="C9D8E8"/>
                      </a:solidFill>
                      <a:prstDash val="solid"/>
                      <a:round/>
                      <a:headEnd type="none" w="med" len="med"/>
                      <a:tailEnd type="none" w="med" len="med"/>
                    </a:lnL>
                    <a:lnR w="12700" cap="flat" cmpd="sng" algn="ctr">
                      <a:solidFill>
                        <a:srgbClr val="C9D8E8"/>
                      </a:solidFill>
                      <a:prstDash val="solid"/>
                      <a:round/>
                      <a:headEnd type="none" w="med" len="med"/>
                      <a:tailEnd type="none" w="med" len="med"/>
                    </a:lnR>
                    <a:lnT w="12700" cap="flat" cmpd="sng" algn="ctr">
                      <a:solidFill>
                        <a:srgbClr val="C9D8E8"/>
                      </a:solidFill>
                      <a:prstDash val="solid"/>
                      <a:round/>
                      <a:headEnd type="none" w="med" len="med"/>
                      <a:tailEnd type="none" w="med" len="med"/>
                    </a:lnT>
                    <a:lnB w="12700" cap="flat" cmpd="sng" algn="ctr">
                      <a:solidFill>
                        <a:srgbClr val="C9D8E8"/>
                      </a:solidFill>
                      <a:prstDash val="solid"/>
                      <a:round/>
                      <a:headEnd type="none" w="med" len="med"/>
                      <a:tailEnd type="none" w="med" len="med"/>
                    </a:lnB>
                    <a:solidFill>
                      <a:srgbClr val="FFFFFF"/>
                    </a:solidFill>
                  </a:tcPr>
                </a:tc>
                <a:tc>
                  <a:txBody>
                    <a:bodyPr/>
                    <a:lstStyle/>
                    <a:p>
                      <a:pPr algn="ctr" indent="0" marL="0">
                        <a:buNone/>
                      </a:pPr>
                      <a:r>
                        <a:rPr lang="en-US" sz="980" dirty="0">
                          <a:solidFill>
                            <a:srgbClr val="24364B"/>
                          </a:solidFill>
                          <a:latin typeface="Aptos" pitchFamily="34" charset="0"/>
                          <a:ea typeface="Aptos" pitchFamily="34" charset="-122"/>
                          <a:cs typeface="Aptos" pitchFamily="34" charset="-120"/>
                        </a:rPr>
                        <a:t>47.835</a:t>
                      </a:r>
                      <a:endParaRPr lang="en-US" sz="980" dirty="0">
                        <a:latin typeface="Aptos" charset="0"/>
                        <a:ea typeface="Aptos" charset="0"/>
                        <a:cs typeface="Aptos" charset="0"/>
                      </a:endParaRPr>
                    </a:p>
                  </a:txBody>
                  <a:tcPr marL="54864" marR="54864" marT="54864" marB="54864" anchor="mid">
                    <a:lnL w="12700" cap="flat" cmpd="sng" algn="ctr">
                      <a:solidFill>
                        <a:srgbClr val="C9D8E8"/>
                      </a:solidFill>
                      <a:prstDash val="solid"/>
                      <a:round/>
                      <a:headEnd type="none" w="med" len="med"/>
                      <a:tailEnd type="none" w="med" len="med"/>
                    </a:lnL>
                    <a:lnR w="12700" cap="flat" cmpd="sng" algn="ctr">
                      <a:solidFill>
                        <a:srgbClr val="C9D8E8"/>
                      </a:solidFill>
                      <a:prstDash val="solid"/>
                      <a:round/>
                      <a:headEnd type="none" w="med" len="med"/>
                      <a:tailEnd type="none" w="med" len="med"/>
                    </a:lnR>
                    <a:lnT w="12700" cap="flat" cmpd="sng" algn="ctr">
                      <a:solidFill>
                        <a:srgbClr val="C9D8E8"/>
                      </a:solidFill>
                      <a:prstDash val="solid"/>
                      <a:round/>
                      <a:headEnd type="none" w="med" len="med"/>
                      <a:tailEnd type="none" w="med" len="med"/>
                    </a:lnT>
                    <a:lnB w="12700" cap="flat" cmpd="sng" algn="ctr">
                      <a:solidFill>
                        <a:srgbClr val="C9D8E8"/>
                      </a:solidFill>
                      <a:prstDash val="solid"/>
                      <a:round/>
                      <a:headEnd type="none" w="med" len="med"/>
                      <a:tailEnd type="none" w="med" len="med"/>
                    </a:lnB>
                    <a:solidFill>
                      <a:srgbClr val="FFFFFF"/>
                    </a:solidFill>
                  </a:tcPr>
                </a:tc>
                <a:tc>
                  <a:txBody>
                    <a:bodyPr/>
                    <a:lstStyle/>
                    <a:p>
                      <a:pPr algn="ctr" indent="0" marL="0">
                        <a:buNone/>
                      </a:pPr>
                      <a:r>
                        <a:rPr lang="en-US" sz="980" dirty="0">
                          <a:solidFill>
                            <a:srgbClr val="24364B"/>
                          </a:solidFill>
                          <a:latin typeface="Aptos" pitchFamily="34" charset="0"/>
                          <a:ea typeface="Aptos" pitchFamily="34" charset="-122"/>
                          <a:cs typeface="Aptos" pitchFamily="34" charset="-120"/>
                        </a:rPr>
                        <a:t>43.565</a:t>
                      </a:r>
                      <a:endParaRPr lang="en-US" sz="980" dirty="0">
                        <a:latin typeface="Aptos" charset="0"/>
                        <a:ea typeface="Aptos" charset="0"/>
                        <a:cs typeface="Aptos" charset="0"/>
                      </a:endParaRPr>
                    </a:p>
                  </a:txBody>
                  <a:tcPr marL="54864" marR="54864" marT="54864" marB="54864" anchor="mid">
                    <a:lnL w="12700" cap="flat" cmpd="sng" algn="ctr">
                      <a:solidFill>
                        <a:srgbClr val="C9D8E8"/>
                      </a:solidFill>
                      <a:prstDash val="solid"/>
                      <a:round/>
                      <a:headEnd type="none" w="med" len="med"/>
                      <a:tailEnd type="none" w="med" len="med"/>
                    </a:lnL>
                    <a:lnR w="12700" cap="flat" cmpd="sng" algn="ctr">
                      <a:solidFill>
                        <a:srgbClr val="C9D8E8"/>
                      </a:solidFill>
                      <a:prstDash val="solid"/>
                      <a:round/>
                      <a:headEnd type="none" w="med" len="med"/>
                      <a:tailEnd type="none" w="med" len="med"/>
                    </a:lnR>
                    <a:lnT w="12700" cap="flat" cmpd="sng" algn="ctr">
                      <a:solidFill>
                        <a:srgbClr val="C9D8E8"/>
                      </a:solidFill>
                      <a:prstDash val="solid"/>
                      <a:round/>
                      <a:headEnd type="none" w="med" len="med"/>
                      <a:tailEnd type="none" w="med" len="med"/>
                    </a:lnT>
                    <a:lnB w="12700" cap="flat" cmpd="sng" algn="ctr">
                      <a:solidFill>
                        <a:srgbClr val="C9D8E8"/>
                      </a:solidFill>
                      <a:prstDash val="solid"/>
                      <a:round/>
                      <a:headEnd type="none" w="med" len="med"/>
                      <a:tailEnd type="none" w="med" len="med"/>
                    </a:lnB>
                    <a:solidFill>
                      <a:srgbClr val="FFFFFF"/>
                    </a:solidFill>
                  </a:tcPr>
                </a:tc>
                <a:tc>
                  <a:txBody>
                    <a:bodyPr/>
                    <a:lstStyle/>
                    <a:p>
                      <a:pPr algn="ctr" indent="0" marL="0">
                        <a:buNone/>
                      </a:pPr>
                      <a:r>
                        <a:rPr lang="en-US" sz="980" dirty="0">
                          <a:solidFill>
                            <a:srgbClr val="24364B"/>
                          </a:solidFill>
                          <a:latin typeface="Aptos" pitchFamily="34" charset="0"/>
                          <a:ea typeface="Aptos" pitchFamily="34" charset="-122"/>
                          <a:cs typeface="Aptos" pitchFamily="34" charset="-120"/>
                        </a:rPr>
                        <a:t>1.10</a:t>
                      </a:r>
                      <a:endParaRPr lang="en-US" sz="980" dirty="0">
                        <a:latin typeface="Aptos" charset="0"/>
                        <a:ea typeface="Aptos" charset="0"/>
                        <a:cs typeface="Aptos" charset="0"/>
                      </a:endParaRPr>
                    </a:p>
                  </a:txBody>
                  <a:tcPr marL="54864" marR="54864" marT="54864" marB="54864" anchor="mid">
                    <a:lnL w="12700" cap="flat" cmpd="sng" algn="ctr">
                      <a:solidFill>
                        <a:srgbClr val="C9D8E8"/>
                      </a:solidFill>
                      <a:prstDash val="solid"/>
                      <a:round/>
                      <a:headEnd type="none" w="med" len="med"/>
                      <a:tailEnd type="none" w="med" len="med"/>
                    </a:lnL>
                    <a:lnR w="12700" cap="flat" cmpd="sng" algn="ctr">
                      <a:solidFill>
                        <a:srgbClr val="C9D8E8"/>
                      </a:solidFill>
                      <a:prstDash val="solid"/>
                      <a:round/>
                      <a:headEnd type="none" w="med" len="med"/>
                      <a:tailEnd type="none" w="med" len="med"/>
                    </a:lnR>
                    <a:lnT w="12700" cap="flat" cmpd="sng" algn="ctr">
                      <a:solidFill>
                        <a:srgbClr val="C9D8E8"/>
                      </a:solidFill>
                      <a:prstDash val="solid"/>
                      <a:round/>
                      <a:headEnd type="none" w="med" len="med"/>
                      <a:tailEnd type="none" w="med" len="med"/>
                    </a:lnT>
                    <a:lnB w="12700" cap="flat" cmpd="sng" algn="ctr">
                      <a:solidFill>
                        <a:srgbClr val="C9D8E8"/>
                      </a:solidFill>
                      <a:prstDash val="solid"/>
                      <a:round/>
                      <a:headEnd type="none" w="med" len="med"/>
                      <a:tailEnd type="none" w="med" len="med"/>
                    </a:lnB>
                    <a:solidFill>
                      <a:srgbClr val="FFFFFF"/>
                    </a:solidFill>
                  </a:tcPr>
                </a:tc>
                <a:tc>
                  <a:txBody>
                    <a:bodyPr/>
                    <a:lstStyle/>
                    <a:p>
                      <a:pPr algn="ctr" indent="0" marL="0">
                        <a:buNone/>
                      </a:pPr>
                      <a:r>
                        <a:rPr lang="en-US" sz="980" dirty="0">
                          <a:solidFill>
                            <a:srgbClr val="24364B"/>
                          </a:solidFill>
                          <a:latin typeface="Aptos" pitchFamily="34" charset="0"/>
                          <a:ea typeface="Aptos" pitchFamily="34" charset="-122"/>
                          <a:cs typeface="Aptos" pitchFamily="34" charset="-120"/>
                        </a:rPr>
                        <a:t>0.276</a:t>
                      </a:r>
                      <a:endParaRPr lang="en-US" sz="980" dirty="0">
                        <a:latin typeface="Aptos" charset="0"/>
                        <a:ea typeface="Aptos" charset="0"/>
                        <a:cs typeface="Aptos" charset="0"/>
                      </a:endParaRPr>
                    </a:p>
                  </a:txBody>
                  <a:tcPr marL="54864" marR="54864" marT="54864" marB="54864" anchor="mid">
                    <a:lnL w="12700" cap="flat" cmpd="sng" algn="ctr">
                      <a:solidFill>
                        <a:srgbClr val="C9D8E8"/>
                      </a:solidFill>
                      <a:prstDash val="solid"/>
                      <a:round/>
                      <a:headEnd type="none" w="med" len="med"/>
                      <a:tailEnd type="none" w="med" len="med"/>
                    </a:lnL>
                    <a:lnR w="12700" cap="flat" cmpd="sng" algn="ctr">
                      <a:solidFill>
                        <a:srgbClr val="C9D8E8"/>
                      </a:solidFill>
                      <a:prstDash val="solid"/>
                      <a:round/>
                      <a:headEnd type="none" w="med" len="med"/>
                      <a:tailEnd type="none" w="med" len="med"/>
                    </a:lnR>
                    <a:lnT w="12700" cap="flat" cmpd="sng" algn="ctr">
                      <a:solidFill>
                        <a:srgbClr val="C9D8E8"/>
                      </a:solidFill>
                      <a:prstDash val="solid"/>
                      <a:round/>
                      <a:headEnd type="none" w="med" len="med"/>
                      <a:tailEnd type="none" w="med" len="med"/>
                    </a:lnT>
                    <a:lnB w="12700" cap="flat" cmpd="sng" algn="ctr">
                      <a:solidFill>
                        <a:srgbClr val="C9D8E8"/>
                      </a:solidFill>
                      <a:prstDash val="solid"/>
                      <a:round/>
                      <a:headEnd type="none" w="med" len="med"/>
                      <a:tailEnd type="none" w="med" len="med"/>
                    </a:lnB>
                    <a:solidFill>
                      <a:srgbClr val="FFFFFF"/>
                    </a:solidFill>
                  </a:tcPr>
                </a:tc>
                <a:tc>
                  <a:txBody>
                    <a:bodyPr/>
                    <a:lstStyle/>
                    <a:p>
                      <a:pPr algn="ctr" indent="0" marL="0">
                        <a:buNone/>
                      </a:pPr>
                      <a:endParaRPr lang="en-US" sz="980" dirty="0">
                        <a:latin typeface="Aptos" charset="0"/>
                        <a:ea typeface="Aptos" charset="0"/>
                        <a:cs typeface="Aptos" charset="0"/>
                      </a:endParaRPr>
                    </a:p>
                  </a:txBody>
                  <a:tcPr marL="54864" marR="54864" marT="54864" marB="54864" anchor="mid">
                    <a:lnL w="12700" cap="flat" cmpd="sng" algn="ctr">
                      <a:solidFill>
                        <a:srgbClr val="C9D8E8"/>
                      </a:solidFill>
                      <a:prstDash val="solid"/>
                      <a:round/>
                      <a:headEnd type="none" w="med" len="med"/>
                      <a:tailEnd type="none" w="med" len="med"/>
                    </a:lnL>
                    <a:lnR w="12700" cap="flat" cmpd="sng" algn="ctr">
                      <a:solidFill>
                        <a:srgbClr val="C9D8E8"/>
                      </a:solidFill>
                      <a:prstDash val="solid"/>
                      <a:round/>
                      <a:headEnd type="none" w="med" len="med"/>
                      <a:tailEnd type="none" w="med" len="med"/>
                    </a:lnR>
                    <a:lnT w="12700" cap="flat" cmpd="sng" algn="ctr">
                      <a:solidFill>
                        <a:srgbClr val="C9D8E8"/>
                      </a:solidFill>
                      <a:prstDash val="solid"/>
                      <a:round/>
                      <a:headEnd type="none" w="med" len="med"/>
                      <a:tailEnd type="none" w="med" len="med"/>
                    </a:lnT>
                    <a:lnB w="12700" cap="flat" cmpd="sng" algn="ctr">
                      <a:solidFill>
                        <a:srgbClr val="C9D8E8"/>
                      </a:solidFill>
                      <a:prstDash val="solid"/>
                      <a:round/>
                      <a:headEnd type="none" w="med" len="med"/>
                      <a:tailEnd type="none" w="med" len="med"/>
                    </a:lnB>
                    <a:solidFill>
                      <a:srgbClr val="FFFFFF"/>
                    </a:solidFill>
                  </a:tcPr>
                </a:tc>
              </a:tr>
            </a:tbl>
          </a:graphicData>
        </a:graphic>
      </p:graphicFrame>
      <p:sp>
        <p:nvSpPr>
          <p:cNvPr id="8" name="Shape 5"/>
          <p:cNvSpPr/>
          <p:nvPr/>
        </p:nvSpPr>
        <p:spPr>
          <a:xfrm>
            <a:off x="749808" y="3977640"/>
            <a:ext cx="2194560" cy="868680"/>
          </a:xfrm>
          <a:prstGeom prst="roundRect">
            <a:avLst>
              <a:gd name="adj" fmla="val 9474"/>
            </a:avLst>
          </a:prstGeom>
          <a:solidFill>
            <a:srgbClr val="EDF5FF"/>
          </a:solidFill>
          <a:ln w="12700">
            <a:solidFill>
              <a:srgbClr val="DDE8F2"/>
            </a:solidFill>
            <a:prstDash val="solid"/>
          </a:ln>
          <a:effectLst>
            <a:outerShdw sx="100000" sy="100000" kx="0" ky="0" algn="bl" rotWithShape="0" blurRad="38100" dist="19050" dir="2700000">
              <a:srgbClr val="000000">
                <a:alpha val="8000"/>
              </a:srgbClr>
            </a:outerShdw>
          </a:effectLst>
        </p:spPr>
      </p:sp>
      <p:sp>
        <p:nvSpPr>
          <p:cNvPr id="9" name="Shape 6"/>
          <p:cNvSpPr/>
          <p:nvPr/>
        </p:nvSpPr>
        <p:spPr>
          <a:xfrm>
            <a:off x="749808" y="3977640"/>
            <a:ext cx="109728" cy="868680"/>
          </a:xfrm>
          <a:prstGeom prst="rect">
            <a:avLst/>
          </a:prstGeom>
          <a:solidFill>
            <a:srgbClr val="58A6FF"/>
          </a:solidFill>
          <a:ln w="12700">
            <a:solidFill>
              <a:srgbClr val="58A6FF"/>
            </a:solidFill>
            <a:prstDash val="solid"/>
          </a:ln>
        </p:spPr>
      </p:sp>
      <p:sp>
        <p:nvSpPr>
          <p:cNvPr id="10" name="Text 7"/>
          <p:cNvSpPr/>
          <p:nvPr/>
        </p:nvSpPr>
        <p:spPr>
          <a:xfrm>
            <a:off x="950976" y="4069080"/>
            <a:ext cx="1901952" cy="146304"/>
          </a:xfrm>
          <a:prstGeom prst="rect">
            <a:avLst/>
          </a:prstGeom>
          <a:noFill/>
          <a:ln/>
        </p:spPr>
        <p:txBody>
          <a:bodyPr wrap="square" lIns="0" tIns="0" rIns="0" bIns="0" rtlCol="0" anchor="ctr"/>
          <a:lstStyle/>
          <a:p>
            <a:pPr indent="0" marL="0">
              <a:buNone/>
            </a:pPr>
            <a:r>
              <a:rPr lang="en-US" sz="850" b="1" dirty="0">
                <a:solidFill>
                  <a:srgbClr val="5F7084"/>
                </a:solidFill>
                <a:latin typeface="Aptos" pitchFamily="34" charset="0"/>
                <a:ea typeface="Aptos" pitchFamily="34" charset="-122"/>
                <a:cs typeface="Aptos" pitchFamily="34" charset="-120"/>
              </a:rPr>
              <a:t>Entity FE</a:t>
            </a:r>
            <a:endParaRPr lang="en-US" sz="850" dirty="0"/>
          </a:p>
        </p:txBody>
      </p:sp>
      <p:sp>
        <p:nvSpPr>
          <p:cNvPr id="11" name="Text 8"/>
          <p:cNvSpPr/>
          <p:nvPr/>
        </p:nvSpPr>
        <p:spPr>
          <a:xfrm>
            <a:off x="950976" y="4233672"/>
            <a:ext cx="1901952" cy="274320"/>
          </a:xfrm>
          <a:prstGeom prst="rect">
            <a:avLst/>
          </a:prstGeom>
          <a:noFill/>
          <a:ln/>
        </p:spPr>
        <p:txBody>
          <a:bodyPr wrap="square" lIns="0" tIns="0" rIns="0" bIns="0" rtlCol="0" anchor="ctr">
            <a:normAutofit/>
          </a:bodyPr>
          <a:lstStyle/>
          <a:p>
            <a:pPr indent="0" marL="0">
              <a:buNone/>
            </a:pPr>
            <a:r>
              <a:rPr lang="en-US" sz="1700" b="1" dirty="0">
                <a:solidFill>
                  <a:srgbClr val="102A43"/>
                </a:solidFill>
                <a:latin typeface="Trebuchet MS" pitchFamily="34" charset="0"/>
                <a:ea typeface="Trebuchet MS" pitchFamily="34" charset="-122"/>
                <a:cs typeface="Trebuchet MS" pitchFamily="34" charset="-120"/>
              </a:rPr>
              <a:t>Yes</a:t>
            </a:r>
            <a:endParaRPr lang="en-US" sz="1700" dirty="0"/>
          </a:p>
        </p:txBody>
      </p:sp>
      <p:sp>
        <p:nvSpPr>
          <p:cNvPr id="12" name="Text 9"/>
          <p:cNvSpPr/>
          <p:nvPr/>
        </p:nvSpPr>
        <p:spPr>
          <a:xfrm>
            <a:off x="950976" y="4526280"/>
            <a:ext cx="1901952" cy="265176"/>
          </a:xfrm>
          <a:prstGeom prst="rect">
            <a:avLst/>
          </a:prstGeom>
          <a:noFill/>
          <a:ln/>
        </p:spPr>
        <p:txBody>
          <a:bodyPr wrap="square" lIns="0" tIns="0" rIns="0" bIns="0" rtlCol="0" anchor="ctr">
            <a:normAutofit/>
          </a:bodyPr>
          <a:lstStyle/>
          <a:p>
            <a:pPr indent="0" marL="0">
              <a:buNone/>
            </a:pPr>
            <a:r>
              <a:rPr lang="en-US" sz="900" dirty="0">
                <a:solidFill>
                  <a:srgbClr val="24364B"/>
                </a:solidFill>
                <a:latin typeface="Aptos" pitchFamily="34" charset="0"/>
                <a:ea typeface="Aptos" pitchFamily="34" charset="-122"/>
                <a:cs typeface="Aptos" pitchFamily="34" charset="-120"/>
              </a:rPr>
              <a:t>Firm fixed effects included.</a:t>
            </a:r>
            <a:endParaRPr lang="en-US" sz="900" dirty="0"/>
          </a:p>
        </p:txBody>
      </p:sp>
      <p:sp>
        <p:nvSpPr>
          <p:cNvPr id="13" name="Shape 10"/>
          <p:cNvSpPr/>
          <p:nvPr/>
        </p:nvSpPr>
        <p:spPr>
          <a:xfrm>
            <a:off x="3108960" y="3977640"/>
            <a:ext cx="2194560" cy="868680"/>
          </a:xfrm>
          <a:prstGeom prst="roundRect">
            <a:avLst>
              <a:gd name="adj" fmla="val 9474"/>
            </a:avLst>
          </a:prstGeom>
          <a:solidFill>
            <a:srgbClr val="EDF5FF"/>
          </a:solidFill>
          <a:ln w="12700">
            <a:solidFill>
              <a:srgbClr val="DDE8F2"/>
            </a:solidFill>
            <a:prstDash val="solid"/>
          </a:ln>
          <a:effectLst>
            <a:outerShdw sx="100000" sy="100000" kx="0" ky="0" algn="bl" rotWithShape="0" blurRad="38100" dist="19050" dir="2700000">
              <a:srgbClr val="000000">
                <a:alpha val="8000"/>
              </a:srgbClr>
            </a:outerShdw>
          </a:effectLst>
        </p:spPr>
      </p:sp>
      <p:sp>
        <p:nvSpPr>
          <p:cNvPr id="14" name="Shape 11"/>
          <p:cNvSpPr/>
          <p:nvPr/>
        </p:nvSpPr>
        <p:spPr>
          <a:xfrm>
            <a:off x="3108960" y="3977640"/>
            <a:ext cx="109728" cy="868680"/>
          </a:xfrm>
          <a:prstGeom prst="rect">
            <a:avLst/>
          </a:prstGeom>
          <a:solidFill>
            <a:srgbClr val="DCEEFF"/>
          </a:solidFill>
          <a:ln w="12700">
            <a:solidFill>
              <a:srgbClr val="DCEEFF"/>
            </a:solidFill>
            <a:prstDash val="solid"/>
          </a:ln>
        </p:spPr>
      </p:sp>
      <p:sp>
        <p:nvSpPr>
          <p:cNvPr id="15" name="Text 12"/>
          <p:cNvSpPr/>
          <p:nvPr/>
        </p:nvSpPr>
        <p:spPr>
          <a:xfrm>
            <a:off x="3310128" y="4069080"/>
            <a:ext cx="1901952" cy="146304"/>
          </a:xfrm>
          <a:prstGeom prst="rect">
            <a:avLst/>
          </a:prstGeom>
          <a:noFill/>
          <a:ln/>
        </p:spPr>
        <p:txBody>
          <a:bodyPr wrap="square" lIns="0" tIns="0" rIns="0" bIns="0" rtlCol="0" anchor="ctr"/>
          <a:lstStyle/>
          <a:p>
            <a:pPr indent="0" marL="0">
              <a:buNone/>
            </a:pPr>
            <a:r>
              <a:rPr lang="en-US" sz="850" b="1" dirty="0">
                <a:solidFill>
                  <a:srgbClr val="5F7084"/>
                </a:solidFill>
                <a:latin typeface="Aptos" pitchFamily="34" charset="0"/>
                <a:ea typeface="Aptos" pitchFamily="34" charset="-122"/>
                <a:cs typeface="Aptos" pitchFamily="34" charset="-120"/>
              </a:rPr>
              <a:t>Year FE</a:t>
            </a:r>
            <a:endParaRPr lang="en-US" sz="850" dirty="0"/>
          </a:p>
        </p:txBody>
      </p:sp>
      <p:sp>
        <p:nvSpPr>
          <p:cNvPr id="16" name="Text 13"/>
          <p:cNvSpPr/>
          <p:nvPr/>
        </p:nvSpPr>
        <p:spPr>
          <a:xfrm>
            <a:off x="3310128" y="4233672"/>
            <a:ext cx="1901952" cy="274320"/>
          </a:xfrm>
          <a:prstGeom prst="rect">
            <a:avLst/>
          </a:prstGeom>
          <a:noFill/>
          <a:ln/>
        </p:spPr>
        <p:txBody>
          <a:bodyPr wrap="square" lIns="0" tIns="0" rIns="0" bIns="0" rtlCol="0" anchor="ctr">
            <a:normAutofit/>
          </a:bodyPr>
          <a:lstStyle/>
          <a:p>
            <a:pPr indent="0" marL="0">
              <a:buNone/>
            </a:pPr>
            <a:r>
              <a:rPr lang="en-US" sz="1700" b="1" dirty="0">
                <a:solidFill>
                  <a:srgbClr val="102A43"/>
                </a:solidFill>
                <a:latin typeface="Trebuchet MS" pitchFamily="34" charset="0"/>
                <a:ea typeface="Trebuchet MS" pitchFamily="34" charset="-122"/>
                <a:cs typeface="Trebuchet MS" pitchFamily="34" charset="-120"/>
              </a:rPr>
              <a:t>Yes</a:t>
            </a:r>
            <a:endParaRPr lang="en-US" sz="1700" dirty="0"/>
          </a:p>
        </p:txBody>
      </p:sp>
      <p:sp>
        <p:nvSpPr>
          <p:cNvPr id="17" name="Text 14"/>
          <p:cNvSpPr/>
          <p:nvPr/>
        </p:nvSpPr>
        <p:spPr>
          <a:xfrm>
            <a:off x="3310128" y="4526280"/>
            <a:ext cx="1901952" cy="265176"/>
          </a:xfrm>
          <a:prstGeom prst="rect">
            <a:avLst/>
          </a:prstGeom>
          <a:noFill/>
          <a:ln/>
        </p:spPr>
        <p:txBody>
          <a:bodyPr wrap="square" lIns="0" tIns="0" rIns="0" bIns="0" rtlCol="0" anchor="ctr">
            <a:normAutofit/>
          </a:bodyPr>
          <a:lstStyle/>
          <a:p>
            <a:pPr indent="0" marL="0">
              <a:buNone/>
            </a:pPr>
            <a:r>
              <a:rPr lang="en-US" sz="900" dirty="0">
                <a:solidFill>
                  <a:srgbClr val="24364B"/>
                </a:solidFill>
                <a:latin typeface="Aptos" pitchFamily="34" charset="0"/>
                <a:ea typeface="Aptos" pitchFamily="34" charset="-122"/>
                <a:cs typeface="Aptos" pitchFamily="34" charset="-120"/>
              </a:rPr>
              <a:t>Year fixed effects included.</a:t>
            </a:r>
            <a:endParaRPr lang="en-US" sz="900" dirty="0"/>
          </a:p>
        </p:txBody>
      </p:sp>
      <p:sp>
        <p:nvSpPr>
          <p:cNvPr id="18" name="Shape 15"/>
          <p:cNvSpPr/>
          <p:nvPr/>
        </p:nvSpPr>
        <p:spPr>
          <a:xfrm>
            <a:off x="5468112" y="3977640"/>
            <a:ext cx="2194560" cy="868680"/>
          </a:xfrm>
          <a:prstGeom prst="roundRect">
            <a:avLst>
              <a:gd name="adj" fmla="val 9474"/>
            </a:avLst>
          </a:prstGeom>
          <a:solidFill>
            <a:srgbClr val="EDF5FF"/>
          </a:solidFill>
          <a:ln w="12700">
            <a:solidFill>
              <a:srgbClr val="DDE8F2"/>
            </a:solidFill>
            <a:prstDash val="solid"/>
          </a:ln>
          <a:effectLst>
            <a:outerShdw sx="100000" sy="100000" kx="0" ky="0" algn="bl" rotWithShape="0" blurRad="38100" dist="19050" dir="2700000">
              <a:srgbClr val="000000">
                <a:alpha val="8000"/>
              </a:srgbClr>
            </a:outerShdw>
          </a:effectLst>
        </p:spPr>
      </p:sp>
      <p:sp>
        <p:nvSpPr>
          <p:cNvPr id="19" name="Shape 16"/>
          <p:cNvSpPr/>
          <p:nvPr/>
        </p:nvSpPr>
        <p:spPr>
          <a:xfrm>
            <a:off x="5468112" y="3977640"/>
            <a:ext cx="109728" cy="868680"/>
          </a:xfrm>
          <a:prstGeom prst="rect">
            <a:avLst/>
          </a:prstGeom>
          <a:solidFill>
            <a:srgbClr val="DCEEFF"/>
          </a:solidFill>
          <a:ln w="12700">
            <a:solidFill>
              <a:srgbClr val="DCEEFF"/>
            </a:solidFill>
            <a:prstDash val="solid"/>
          </a:ln>
        </p:spPr>
      </p:sp>
      <p:sp>
        <p:nvSpPr>
          <p:cNvPr id="20" name="Text 17"/>
          <p:cNvSpPr/>
          <p:nvPr/>
        </p:nvSpPr>
        <p:spPr>
          <a:xfrm>
            <a:off x="5669280" y="4069080"/>
            <a:ext cx="1901952" cy="146304"/>
          </a:xfrm>
          <a:prstGeom prst="rect">
            <a:avLst/>
          </a:prstGeom>
          <a:noFill/>
          <a:ln/>
        </p:spPr>
        <p:txBody>
          <a:bodyPr wrap="square" lIns="0" tIns="0" rIns="0" bIns="0" rtlCol="0" anchor="ctr"/>
          <a:lstStyle/>
          <a:p>
            <a:pPr indent="0" marL="0">
              <a:buNone/>
            </a:pPr>
            <a:r>
              <a:rPr lang="en-US" sz="850" b="1" dirty="0">
                <a:solidFill>
                  <a:srgbClr val="5F7084"/>
                </a:solidFill>
                <a:latin typeface="Aptos" pitchFamily="34" charset="0"/>
                <a:ea typeface="Aptos" pitchFamily="34" charset="-122"/>
                <a:cs typeface="Aptos" pitchFamily="34" charset="-120"/>
              </a:rPr>
              <a:t>N</a:t>
            </a:r>
            <a:endParaRPr lang="en-US" sz="850" dirty="0"/>
          </a:p>
        </p:txBody>
      </p:sp>
      <p:sp>
        <p:nvSpPr>
          <p:cNvPr id="21" name="Text 18"/>
          <p:cNvSpPr/>
          <p:nvPr/>
        </p:nvSpPr>
        <p:spPr>
          <a:xfrm>
            <a:off x="5669280" y="4233672"/>
            <a:ext cx="1901952" cy="274320"/>
          </a:xfrm>
          <a:prstGeom prst="rect">
            <a:avLst/>
          </a:prstGeom>
          <a:noFill/>
          <a:ln/>
        </p:spPr>
        <p:txBody>
          <a:bodyPr wrap="square" lIns="0" tIns="0" rIns="0" bIns="0" rtlCol="0" anchor="ctr">
            <a:normAutofit/>
          </a:bodyPr>
          <a:lstStyle/>
          <a:p>
            <a:pPr indent="0" marL="0">
              <a:buNone/>
            </a:pPr>
            <a:r>
              <a:rPr lang="en-US" sz="1700" b="1" dirty="0">
                <a:solidFill>
                  <a:srgbClr val="102A43"/>
                </a:solidFill>
                <a:latin typeface="Trebuchet MS" pitchFamily="34" charset="0"/>
                <a:ea typeface="Trebuchet MS" pitchFamily="34" charset="-122"/>
                <a:cs typeface="Trebuchet MS" pitchFamily="34" charset="-120"/>
              </a:rPr>
              <a:t>2,125</a:t>
            </a:r>
            <a:endParaRPr lang="en-US" sz="1700" dirty="0"/>
          </a:p>
        </p:txBody>
      </p:sp>
      <p:sp>
        <p:nvSpPr>
          <p:cNvPr id="22" name="Text 19"/>
          <p:cNvSpPr/>
          <p:nvPr/>
        </p:nvSpPr>
        <p:spPr>
          <a:xfrm>
            <a:off x="5669280" y="4526280"/>
            <a:ext cx="1901952" cy="265176"/>
          </a:xfrm>
          <a:prstGeom prst="rect">
            <a:avLst/>
          </a:prstGeom>
          <a:noFill/>
          <a:ln/>
        </p:spPr>
        <p:txBody>
          <a:bodyPr wrap="square" lIns="0" tIns="0" rIns="0" bIns="0" rtlCol="0" anchor="ctr">
            <a:normAutofit/>
          </a:bodyPr>
          <a:lstStyle/>
          <a:p>
            <a:pPr indent="0" marL="0">
              <a:buNone/>
            </a:pPr>
            <a:r>
              <a:rPr lang="en-US" sz="900" dirty="0">
                <a:solidFill>
                  <a:srgbClr val="24364B"/>
                </a:solidFill>
                <a:latin typeface="Aptos" pitchFamily="34" charset="0"/>
                <a:ea typeface="Aptos" pitchFamily="34" charset="-122"/>
                <a:cs typeface="Aptos" pitchFamily="34" charset="-120"/>
              </a:rPr>
              <a:t>Main estimation sample size.</a:t>
            </a:r>
            <a:endParaRPr lang="en-US" sz="900" dirty="0"/>
          </a:p>
        </p:txBody>
      </p:sp>
      <p:sp>
        <p:nvSpPr>
          <p:cNvPr id="23" name="Shape 20"/>
          <p:cNvSpPr/>
          <p:nvPr/>
        </p:nvSpPr>
        <p:spPr>
          <a:xfrm>
            <a:off x="749808" y="5010912"/>
            <a:ext cx="7607808" cy="768096"/>
          </a:xfrm>
          <a:prstGeom prst="roundRect">
            <a:avLst>
              <a:gd name="adj" fmla="val 10714"/>
            </a:avLst>
          </a:prstGeom>
          <a:solidFill>
            <a:srgbClr val="E7F1FB"/>
          </a:solidFill>
          <a:ln w="12700">
            <a:solidFill>
              <a:srgbClr val="DCEEFF"/>
            </a:solidFill>
            <a:prstDash val="solid"/>
          </a:ln>
          <a:effectLst>
            <a:outerShdw sx="100000" sy="100000" kx="0" ky="0" algn="bl" rotWithShape="0" blurRad="38100" dist="19050" dir="2700000">
              <a:srgbClr val="000000">
                <a:alpha val="75000"/>
              </a:srgbClr>
            </a:outerShdw>
          </a:effectLst>
        </p:spPr>
      </p:sp>
      <p:sp>
        <p:nvSpPr>
          <p:cNvPr id="24" name="Text 21"/>
          <p:cNvSpPr/>
          <p:nvPr/>
        </p:nvSpPr>
        <p:spPr>
          <a:xfrm>
            <a:off x="932688" y="5257800"/>
            <a:ext cx="7269480" cy="274320"/>
          </a:xfrm>
          <a:prstGeom prst="rect">
            <a:avLst/>
          </a:prstGeom>
          <a:noFill/>
          <a:ln/>
        </p:spPr>
        <p:txBody>
          <a:bodyPr wrap="square" lIns="0" tIns="0" rIns="0" bIns="0" rtlCol="0" anchor="ctr">
            <a:normAutofit/>
          </a:bodyPr>
          <a:lstStyle/>
          <a:p>
            <a:pPr indent="0" marL="0">
              <a:buNone/>
            </a:pPr>
            <a:r>
              <a:rPr lang="en-US" sz="1100" dirty="0">
                <a:solidFill>
                  <a:srgbClr val="102A43"/>
                </a:solidFill>
                <a:latin typeface="Aptos" pitchFamily="34" charset="0"/>
                <a:ea typeface="Aptos" pitchFamily="34" charset="-122"/>
                <a:cs typeface="Aptos" pitchFamily="34" charset="-120"/>
              </a:rPr>
              <a:t>Interpretation: roughly, an extra $100K in lobbying is linked with about a 17.5-point lower ROA in the next year, but this estimate is not statistically decisive.</a:t>
            </a:r>
            <a:endParaRPr lang="en-US" sz="1100" dirty="0"/>
          </a:p>
        </p:txBody>
      </p:sp>
      <p:sp>
        <p:nvSpPr>
          <p:cNvPr id="25" name="Text 22"/>
          <p:cNvSpPr/>
          <p:nvPr/>
        </p:nvSpPr>
        <p:spPr>
          <a:xfrm>
            <a:off x="502920" y="6492240"/>
            <a:ext cx="8138160" cy="146304"/>
          </a:xfrm>
          <a:prstGeom prst="rect">
            <a:avLst/>
          </a:prstGeom>
          <a:noFill/>
          <a:ln/>
        </p:spPr>
        <p:txBody>
          <a:bodyPr wrap="square" lIns="0" tIns="0" rIns="0" bIns="0" rtlCol="0" anchor="ctr"/>
          <a:lstStyle/>
          <a:p>
            <a:pPr indent="0" marL="0">
              <a:buNone/>
            </a:pPr>
            <a:r>
              <a:rPr lang="en-US" sz="800" dirty="0">
                <a:solidFill>
                  <a:srgbClr val="5F7084"/>
                </a:solidFill>
                <a:latin typeface="Aptos" pitchFamily="34" charset="0"/>
                <a:ea typeface="Aptos" pitchFamily="34" charset="-122"/>
                <a:cs typeface="Aptos" pitchFamily="34" charset="-120"/>
              </a:rPr>
              <a:t>Stars: * p&lt;0.10, ** p&lt;0.05, *** p&lt;0.01. Source: results/tables/M3_fixed_effects_coefficients.csv.</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3F8FD"/>
        </a:solidFill>
      </p:bgPr>
    </p:bg>
    <p:spTree>
      <p:nvGrpSpPr>
        <p:cNvPr id="1" name=""/>
        <p:cNvGrpSpPr/>
        <p:nvPr/>
      </p:nvGrpSpPr>
      <p:grpSpPr>
        <a:xfrm>
          <a:off x="0" y="0"/>
          <a:ext cx="0" cy="0"/>
          <a:chOff x="0" y="0"/>
          <a:chExt cx="0" cy="0"/>
        </a:xfrm>
      </p:grpSpPr>
      <p:sp>
        <p:nvSpPr>
          <p:cNvPr id="2" name="Shape 0"/>
          <p:cNvSpPr/>
          <p:nvPr/>
        </p:nvSpPr>
        <p:spPr>
          <a:xfrm>
            <a:off x="502920" y="292608"/>
            <a:ext cx="1783080" cy="310896"/>
          </a:xfrm>
          <a:prstGeom prst="roundRect">
            <a:avLst>
              <a:gd name="adj" fmla="val 23529"/>
            </a:avLst>
          </a:prstGeom>
          <a:solidFill>
            <a:srgbClr val="DCEEFF"/>
          </a:solidFill>
          <a:ln w="12700">
            <a:solidFill>
              <a:srgbClr val="DCEEFF"/>
            </a:solidFill>
            <a:prstDash val="solid"/>
          </a:ln>
        </p:spPr>
      </p:sp>
      <p:sp>
        <p:nvSpPr>
          <p:cNvPr id="3" name="Text 1"/>
          <p:cNvSpPr/>
          <p:nvPr/>
        </p:nvSpPr>
        <p:spPr>
          <a:xfrm>
            <a:off x="502920" y="320040"/>
            <a:ext cx="1783080" cy="201168"/>
          </a:xfrm>
          <a:prstGeom prst="rect">
            <a:avLst/>
          </a:prstGeom>
          <a:noFill/>
          <a:ln/>
        </p:spPr>
        <p:txBody>
          <a:bodyPr wrap="square" lIns="0" tIns="0" rIns="0" bIns="0" rtlCol="0" anchor="ctr"/>
          <a:lstStyle/>
          <a:p>
            <a:pPr algn="ctr" indent="0" marL="0">
              <a:buNone/>
            </a:pPr>
            <a:r>
              <a:rPr lang="en-US" sz="900" b="1" spc="110" kern="0" dirty="0">
                <a:solidFill>
                  <a:srgbClr val="102A43"/>
                </a:solidFill>
                <a:latin typeface="Trebuchet MS" pitchFamily="34" charset="0"/>
                <a:ea typeface="Trebuchet MS" pitchFamily="34" charset="-122"/>
                <a:cs typeface="Trebuchet MS" pitchFamily="34" charset="-120"/>
              </a:rPr>
              <a:t>RESULTS</a:t>
            </a:r>
            <a:endParaRPr lang="en-US" sz="900" dirty="0"/>
          </a:p>
        </p:txBody>
      </p:sp>
      <p:sp>
        <p:nvSpPr>
          <p:cNvPr id="4" name="Text 2"/>
          <p:cNvSpPr/>
          <p:nvPr/>
        </p:nvSpPr>
        <p:spPr>
          <a:xfrm>
            <a:off x="502920" y="658368"/>
            <a:ext cx="8046720" cy="420624"/>
          </a:xfrm>
          <a:prstGeom prst="rect">
            <a:avLst/>
          </a:prstGeom>
          <a:noFill/>
          <a:ln/>
        </p:spPr>
        <p:txBody>
          <a:bodyPr wrap="square" lIns="0" tIns="0" rIns="0" bIns="0" rtlCol="0" anchor="ctr">
            <a:normAutofit/>
          </a:bodyPr>
          <a:lstStyle/>
          <a:p>
            <a:pPr indent="0" marL="0">
              <a:buNone/>
            </a:pPr>
            <a:r>
              <a:rPr lang="en-US" sz="2400" b="1" dirty="0">
                <a:solidFill>
                  <a:srgbClr val="102A43"/>
                </a:solidFill>
                <a:latin typeface="Trebuchet MS" pitchFamily="34" charset="0"/>
                <a:ea typeface="Trebuchet MS" pitchFamily="34" charset="-122"/>
                <a:cs typeface="Trebuchet MS" pitchFamily="34" charset="-120"/>
              </a:rPr>
              <a:t>Table 2. Alternative spec and Figure 1</a:t>
            </a:r>
            <a:endParaRPr lang="en-US" sz="2400" dirty="0"/>
          </a:p>
        </p:txBody>
      </p:sp>
      <p:sp>
        <p:nvSpPr>
          <p:cNvPr id="5" name="Text 3"/>
          <p:cNvSpPr/>
          <p:nvPr/>
        </p:nvSpPr>
        <p:spPr>
          <a:xfrm>
            <a:off x="502920" y="1024128"/>
            <a:ext cx="8138160" cy="310896"/>
          </a:xfrm>
          <a:prstGeom prst="rect">
            <a:avLst/>
          </a:prstGeom>
          <a:noFill/>
          <a:ln/>
        </p:spPr>
        <p:txBody>
          <a:bodyPr wrap="square" lIns="0" tIns="0" rIns="0" bIns="0" rtlCol="0" anchor="ctr">
            <a:normAutofit/>
          </a:bodyPr>
          <a:lstStyle/>
          <a:p>
            <a:pPr indent="0" marL="0">
              <a:buNone/>
            </a:pPr>
            <a:r>
              <a:rPr lang="en-US" sz="1050" dirty="0">
                <a:solidFill>
                  <a:srgbClr val="5F7084"/>
                </a:solidFill>
                <a:latin typeface="Aptos" pitchFamily="34" charset="0"/>
                <a:ea typeface="Aptos" pitchFamily="34" charset="-122"/>
                <a:cs typeface="Aptos" pitchFamily="34" charset="-120"/>
              </a:rPr>
              <a:t>Alternative models plus a key visual of outcome vs. driver.</a:t>
            </a:r>
            <a:endParaRPr lang="en-US" sz="1050" dirty="0"/>
          </a:p>
        </p:txBody>
      </p:sp>
      <p:sp>
        <p:nvSpPr>
          <p:cNvPr id="6" name="Shape 4"/>
          <p:cNvSpPr/>
          <p:nvPr/>
        </p:nvSpPr>
        <p:spPr>
          <a:xfrm>
            <a:off x="502920" y="1389888"/>
            <a:ext cx="3749040" cy="4526280"/>
          </a:xfrm>
          <a:prstGeom prst="roundRect">
            <a:avLst>
              <a:gd name="adj" fmla="val 2195"/>
            </a:avLst>
          </a:prstGeom>
          <a:solidFill>
            <a:srgbClr val="FFFFFF"/>
          </a:solidFill>
          <a:ln w="12700">
            <a:solidFill>
              <a:srgbClr val="DDE8F2"/>
            </a:solidFill>
            <a:prstDash val="solid"/>
          </a:ln>
          <a:effectLst>
            <a:outerShdw sx="100000" sy="100000" kx="0" ky="0" algn="bl" rotWithShape="0" blurRad="38100" dist="19050" dir="2700000">
              <a:srgbClr val="000000">
                <a:alpha val="7000"/>
              </a:srgbClr>
            </a:outerShdw>
          </a:effectLst>
        </p:spPr>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713232" y="1682496"/>
          <a:ext cx="3291840" cy="3767328"/>
        </p:xfrm>
        <a:graphic>
          <a:graphicData uri="http://schemas.openxmlformats.org/drawingml/2006/table">
            <a:tbl>
              <a:tblPr/>
              <a:tblGrid>
                <a:gridCol w="914400"/>
                <a:gridCol w="1097280"/>
                <a:gridCol w="1280160"/>
              </a:tblGrid>
              <a:tr h="347472">
                <a:tc>
                  <a:txBody>
                    <a:bodyPr/>
                    <a:lstStyle/>
                    <a:p>
                      <a:pPr algn="ctr" indent="0" marL="0">
                        <a:buNone/>
                      </a:pPr>
                      <a:r>
                        <a:rPr lang="en-US" sz="850" b="1" dirty="0">
                          <a:solidFill>
                            <a:srgbClr val="FFFFFF"/>
                          </a:solidFill>
                          <a:latin typeface="Aptos" pitchFamily="34" charset="0"/>
                          <a:ea typeface="Aptos" pitchFamily="34" charset="-122"/>
                          <a:cs typeface="Aptos" pitchFamily="34" charset="-120"/>
                        </a:rPr>
                        <a:t>Spec</a:t>
                      </a:r>
                      <a:endParaRPr lang="en-US" sz="850" dirty="0">
                        <a:latin typeface="Aptos" charset="0"/>
                        <a:ea typeface="Aptos" charset="0"/>
                        <a:cs typeface="Aptos" charset="0"/>
                      </a:endParaRPr>
                    </a:p>
                  </a:txBody>
                  <a:tcPr marL="45720" marR="45720" marT="45720" marB="45720" anchor="mid">
                    <a:lnL w="12700" cap="flat" cmpd="sng" algn="ctr">
                      <a:solidFill>
                        <a:srgbClr val="C9D8E8"/>
                      </a:solidFill>
                      <a:prstDash val="solid"/>
                      <a:round/>
                      <a:headEnd type="none" w="med" len="med"/>
                      <a:tailEnd type="none" w="med" len="med"/>
                    </a:lnL>
                    <a:lnR w="12700" cap="flat" cmpd="sng" algn="ctr">
                      <a:solidFill>
                        <a:srgbClr val="C9D8E8"/>
                      </a:solidFill>
                      <a:prstDash val="solid"/>
                      <a:round/>
                      <a:headEnd type="none" w="med" len="med"/>
                      <a:tailEnd type="none" w="med" len="med"/>
                    </a:lnR>
                    <a:lnT w="12700" cap="flat" cmpd="sng" algn="ctr">
                      <a:solidFill>
                        <a:srgbClr val="C9D8E8"/>
                      </a:solidFill>
                      <a:prstDash val="solid"/>
                      <a:round/>
                      <a:headEnd type="none" w="med" len="med"/>
                      <a:tailEnd type="none" w="med" len="med"/>
                    </a:lnT>
                    <a:lnB w="12700" cap="flat" cmpd="sng" algn="ctr">
                      <a:solidFill>
                        <a:srgbClr val="C9D8E8"/>
                      </a:solidFill>
                      <a:prstDash val="solid"/>
                      <a:round/>
                      <a:headEnd type="none" w="med" len="med"/>
                      <a:tailEnd type="none" w="med" len="med"/>
                    </a:lnB>
                    <a:solidFill>
                      <a:srgbClr val="102A43"/>
                    </a:solidFill>
                  </a:tcPr>
                </a:tc>
                <a:tc>
                  <a:txBody>
                    <a:bodyPr/>
                    <a:lstStyle/>
                    <a:p>
                      <a:pPr algn="ctr" indent="0" marL="0">
                        <a:buNone/>
                      </a:pPr>
                      <a:r>
                        <a:rPr lang="en-US" sz="850" b="1" dirty="0">
                          <a:solidFill>
                            <a:srgbClr val="FFFFFF"/>
                          </a:solidFill>
                          <a:latin typeface="Aptos" pitchFamily="34" charset="0"/>
                          <a:ea typeface="Aptos" pitchFamily="34" charset="-122"/>
                          <a:cs typeface="Aptos" pitchFamily="34" charset="-120"/>
                        </a:rPr>
                        <a:t>Result</a:t>
                      </a:r>
                      <a:endParaRPr lang="en-US" sz="850" dirty="0">
                        <a:latin typeface="Aptos" charset="0"/>
                        <a:ea typeface="Aptos" charset="0"/>
                        <a:cs typeface="Aptos" charset="0"/>
                      </a:endParaRPr>
                    </a:p>
                  </a:txBody>
                  <a:tcPr marL="45720" marR="45720" marT="45720" marB="45720" anchor="mid">
                    <a:lnL w="12700" cap="flat" cmpd="sng" algn="ctr">
                      <a:solidFill>
                        <a:srgbClr val="C9D8E8"/>
                      </a:solidFill>
                      <a:prstDash val="solid"/>
                      <a:round/>
                      <a:headEnd type="none" w="med" len="med"/>
                      <a:tailEnd type="none" w="med" len="med"/>
                    </a:lnL>
                    <a:lnR w="12700" cap="flat" cmpd="sng" algn="ctr">
                      <a:solidFill>
                        <a:srgbClr val="C9D8E8"/>
                      </a:solidFill>
                      <a:prstDash val="solid"/>
                      <a:round/>
                      <a:headEnd type="none" w="med" len="med"/>
                      <a:tailEnd type="none" w="med" len="med"/>
                    </a:lnR>
                    <a:lnT w="12700" cap="flat" cmpd="sng" algn="ctr">
                      <a:solidFill>
                        <a:srgbClr val="C9D8E8"/>
                      </a:solidFill>
                      <a:prstDash val="solid"/>
                      <a:round/>
                      <a:headEnd type="none" w="med" len="med"/>
                      <a:tailEnd type="none" w="med" len="med"/>
                    </a:lnT>
                    <a:lnB w="12700" cap="flat" cmpd="sng" algn="ctr">
                      <a:solidFill>
                        <a:srgbClr val="C9D8E8"/>
                      </a:solidFill>
                      <a:prstDash val="solid"/>
                      <a:round/>
                      <a:headEnd type="none" w="med" len="med"/>
                      <a:tailEnd type="none" w="med" len="med"/>
                    </a:lnB>
                    <a:solidFill>
                      <a:srgbClr val="102A43"/>
                    </a:solidFill>
                  </a:tcPr>
                </a:tc>
                <a:tc>
                  <a:txBody>
                    <a:bodyPr/>
                    <a:lstStyle/>
                    <a:p>
                      <a:pPr algn="ctr" indent="0" marL="0">
                        <a:buNone/>
                      </a:pPr>
                      <a:r>
                        <a:rPr lang="en-US" sz="850" b="1" dirty="0">
                          <a:solidFill>
                            <a:srgbClr val="FFFFFF"/>
                          </a:solidFill>
                          <a:latin typeface="Aptos" pitchFamily="34" charset="0"/>
                          <a:ea typeface="Aptos" pitchFamily="34" charset="-122"/>
                          <a:cs typeface="Aptos" pitchFamily="34" charset="-120"/>
                        </a:rPr>
                        <a:t>Readout</a:t>
                      </a:r>
                      <a:endParaRPr lang="en-US" sz="850" dirty="0">
                        <a:latin typeface="Aptos" charset="0"/>
                        <a:ea typeface="Aptos" charset="0"/>
                        <a:cs typeface="Aptos" charset="0"/>
                      </a:endParaRPr>
                    </a:p>
                  </a:txBody>
                  <a:tcPr marL="45720" marR="45720" marT="45720" marB="45720" anchor="mid">
                    <a:lnL w="12700" cap="flat" cmpd="sng" algn="ctr">
                      <a:solidFill>
                        <a:srgbClr val="C9D8E8"/>
                      </a:solidFill>
                      <a:prstDash val="solid"/>
                      <a:round/>
                      <a:headEnd type="none" w="med" len="med"/>
                      <a:tailEnd type="none" w="med" len="med"/>
                    </a:lnL>
                    <a:lnR w="12700" cap="flat" cmpd="sng" algn="ctr">
                      <a:solidFill>
                        <a:srgbClr val="C9D8E8"/>
                      </a:solidFill>
                      <a:prstDash val="solid"/>
                      <a:round/>
                      <a:headEnd type="none" w="med" len="med"/>
                      <a:tailEnd type="none" w="med" len="med"/>
                    </a:lnR>
                    <a:lnT w="12700" cap="flat" cmpd="sng" algn="ctr">
                      <a:solidFill>
                        <a:srgbClr val="C9D8E8"/>
                      </a:solidFill>
                      <a:prstDash val="solid"/>
                      <a:round/>
                      <a:headEnd type="none" w="med" len="med"/>
                      <a:tailEnd type="none" w="med" len="med"/>
                    </a:lnT>
                    <a:lnB w="12700" cap="flat" cmpd="sng" algn="ctr">
                      <a:solidFill>
                        <a:srgbClr val="C9D8E8"/>
                      </a:solidFill>
                      <a:prstDash val="solid"/>
                      <a:round/>
                      <a:headEnd type="none" w="med" len="med"/>
                      <a:tailEnd type="none" w="med" len="med"/>
                    </a:lnB>
                    <a:solidFill>
                      <a:srgbClr val="102A43"/>
                    </a:solidFill>
                  </a:tcPr>
                </a:tc>
              </a:tr>
              <a:tr h="475488">
                <a:tc>
                  <a:txBody>
                    <a:bodyPr/>
                    <a:lstStyle/>
                    <a:p>
                      <a:pPr algn="ctr" indent="0" marL="0">
                        <a:buNone/>
                      </a:pPr>
                      <a:r>
                        <a:rPr lang="en-US" sz="850" dirty="0">
                          <a:solidFill>
                            <a:srgbClr val="24364B"/>
                          </a:solidFill>
                          <a:latin typeface="Aptos" pitchFamily="34" charset="0"/>
                          <a:ea typeface="Aptos" pitchFamily="34" charset="-122"/>
                          <a:cs typeface="Aptos" pitchFamily="34" charset="-120"/>
                        </a:rPr>
                        <a:t>Three-way FE</a:t>
                      </a:r>
                      <a:endParaRPr lang="en-US" sz="850" dirty="0">
                        <a:latin typeface="Aptos" charset="0"/>
                        <a:ea typeface="Aptos" charset="0"/>
                        <a:cs typeface="Aptos" charset="0"/>
                      </a:endParaRPr>
                    </a:p>
                  </a:txBody>
                  <a:tcPr marL="45720" marR="45720" marT="45720" marB="45720" anchor="mid">
                    <a:lnL w="12700" cap="flat" cmpd="sng" algn="ctr">
                      <a:solidFill>
                        <a:srgbClr val="C9D8E8"/>
                      </a:solidFill>
                      <a:prstDash val="solid"/>
                      <a:round/>
                      <a:headEnd type="none" w="med" len="med"/>
                      <a:tailEnd type="none" w="med" len="med"/>
                    </a:lnL>
                    <a:lnR w="12700" cap="flat" cmpd="sng" algn="ctr">
                      <a:solidFill>
                        <a:srgbClr val="C9D8E8"/>
                      </a:solidFill>
                      <a:prstDash val="solid"/>
                      <a:round/>
                      <a:headEnd type="none" w="med" len="med"/>
                      <a:tailEnd type="none" w="med" len="med"/>
                    </a:lnR>
                    <a:lnT w="12700" cap="flat" cmpd="sng" algn="ctr">
                      <a:solidFill>
                        <a:srgbClr val="C9D8E8"/>
                      </a:solidFill>
                      <a:prstDash val="solid"/>
                      <a:round/>
                      <a:headEnd type="none" w="med" len="med"/>
                      <a:tailEnd type="none" w="med" len="med"/>
                    </a:lnT>
                    <a:lnB w="12700" cap="flat" cmpd="sng" algn="ctr">
                      <a:solidFill>
                        <a:srgbClr val="C9D8E8"/>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4364B"/>
                          </a:solidFill>
                          <a:latin typeface="Aptos" pitchFamily="34" charset="0"/>
                          <a:ea typeface="Aptos" pitchFamily="34" charset="-122"/>
                          <a:cs typeface="Aptos" pitchFamily="34" charset="-120"/>
                        </a:rPr>
                        <a:t>-159.5, p=0.367</a:t>
                      </a:r>
                      <a:endParaRPr lang="en-US" sz="850" dirty="0">
                        <a:latin typeface="Aptos" charset="0"/>
                        <a:ea typeface="Aptos" charset="0"/>
                        <a:cs typeface="Aptos" charset="0"/>
                      </a:endParaRPr>
                    </a:p>
                  </a:txBody>
                  <a:tcPr marL="45720" marR="45720" marT="45720" marB="45720" anchor="mid">
                    <a:lnL w="12700" cap="flat" cmpd="sng" algn="ctr">
                      <a:solidFill>
                        <a:srgbClr val="C9D8E8"/>
                      </a:solidFill>
                      <a:prstDash val="solid"/>
                      <a:round/>
                      <a:headEnd type="none" w="med" len="med"/>
                      <a:tailEnd type="none" w="med" len="med"/>
                    </a:lnL>
                    <a:lnR w="12700" cap="flat" cmpd="sng" algn="ctr">
                      <a:solidFill>
                        <a:srgbClr val="C9D8E8"/>
                      </a:solidFill>
                      <a:prstDash val="solid"/>
                      <a:round/>
                      <a:headEnd type="none" w="med" len="med"/>
                      <a:tailEnd type="none" w="med" len="med"/>
                    </a:lnR>
                    <a:lnT w="12700" cap="flat" cmpd="sng" algn="ctr">
                      <a:solidFill>
                        <a:srgbClr val="C9D8E8"/>
                      </a:solidFill>
                      <a:prstDash val="solid"/>
                      <a:round/>
                      <a:headEnd type="none" w="med" len="med"/>
                      <a:tailEnd type="none" w="med" len="med"/>
                    </a:lnT>
                    <a:lnB w="12700" cap="flat" cmpd="sng" algn="ctr">
                      <a:solidFill>
                        <a:srgbClr val="C9D8E8"/>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4364B"/>
                          </a:solidFill>
                          <a:latin typeface="Aptos" pitchFamily="34" charset="0"/>
                          <a:ea typeface="Aptos" pitchFamily="34" charset="-122"/>
                          <a:cs typeface="Aptos" pitchFamily="34" charset="-120"/>
                        </a:rPr>
                        <a:t>Sign stays negative, still weak.</a:t>
                      </a:r>
                      <a:endParaRPr lang="en-US" sz="850" dirty="0">
                        <a:latin typeface="Aptos" charset="0"/>
                        <a:ea typeface="Aptos" charset="0"/>
                        <a:cs typeface="Aptos" charset="0"/>
                      </a:endParaRPr>
                    </a:p>
                  </a:txBody>
                  <a:tcPr marL="45720" marR="45720" marT="45720" marB="45720" anchor="mid">
                    <a:lnL w="12700" cap="flat" cmpd="sng" algn="ctr">
                      <a:solidFill>
                        <a:srgbClr val="C9D8E8"/>
                      </a:solidFill>
                      <a:prstDash val="solid"/>
                      <a:round/>
                      <a:headEnd type="none" w="med" len="med"/>
                      <a:tailEnd type="none" w="med" len="med"/>
                    </a:lnL>
                    <a:lnR w="12700" cap="flat" cmpd="sng" algn="ctr">
                      <a:solidFill>
                        <a:srgbClr val="C9D8E8"/>
                      </a:solidFill>
                      <a:prstDash val="solid"/>
                      <a:round/>
                      <a:headEnd type="none" w="med" len="med"/>
                      <a:tailEnd type="none" w="med" len="med"/>
                    </a:lnR>
                    <a:lnT w="12700" cap="flat" cmpd="sng" algn="ctr">
                      <a:solidFill>
                        <a:srgbClr val="C9D8E8"/>
                      </a:solidFill>
                      <a:prstDash val="solid"/>
                      <a:round/>
                      <a:headEnd type="none" w="med" len="med"/>
                      <a:tailEnd type="none" w="med" len="med"/>
                    </a:lnT>
                    <a:lnB w="12700" cap="flat" cmpd="sng" algn="ctr">
                      <a:solidFill>
                        <a:srgbClr val="C9D8E8"/>
                      </a:solidFill>
                      <a:prstDash val="solid"/>
                      <a:round/>
                      <a:headEnd type="none" w="med" len="med"/>
                      <a:tailEnd type="none" w="med" len="med"/>
                    </a:lnB>
                    <a:solidFill>
                      <a:srgbClr val="FFFFFF"/>
                    </a:solidFill>
                  </a:tcPr>
                </a:tc>
              </a:tr>
              <a:tr h="475488">
                <a:tc>
                  <a:txBody>
                    <a:bodyPr/>
                    <a:lstStyle/>
                    <a:p>
                      <a:pPr algn="ctr" indent="0" marL="0">
                        <a:buNone/>
                      </a:pPr>
                      <a:r>
                        <a:rPr lang="en-US" sz="850" dirty="0">
                          <a:solidFill>
                            <a:srgbClr val="24364B"/>
                          </a:solidFill>
                          <a:latin typeface="Aptos" pitchFamily="34" charset="0"/>
                          <a:ea typeface="Aptos" pitchFamily="34" charset="-122"/>
                          <a:cs typeface="Aptos" pitchFamily="34" charset="-120"/>
                        </a:rPr>
                        <a:t>DiD (ATT)</a:t>
                      </a:r>
                      <a:endParaRPr lang="en-US" sz="850" dirty="0">
                        <a:latin typeface="Aptos" charset="0"/>
                        <a:ea typeface="Aptos" charset="0"/>
                        <a:cs typeface="Aptos" charset="0"/>
                      </a:endParaRPr>
                    </a:p>
                  </a:txBody>
                  <a:tcPr marL="45720" marR="45720" marT="45720" marB="45720" anchor="mid">
                    <a:lnL w="12700" cap="flat" cmpd="sng" algn="ctr">
                      <a:solidFill>
                        <a:srgbClr val="C9D8E8"/>
                      </a:solidFill>
                      <a:prstDash val="solid"/>
                      <a:round/>
                      <a:headEnd type="none" w="med" len="med"/>
                      <a:tailEnd type="none" w="med" len="med"/>
                    </a:lnL>
                    <a:lnR w="12700" cap="flat" cmpd="sng" algn="ctr">
                      <a:solidFill>
                        <a:srgbClr val="C9D8E8"/>
                      </a:solidFill>
                      <a:prstDash val="solid"/>
                      <a:round/>
                      <a:headEnd type="none" w="med" len="med"/>
                      <a:tailEnd type="none" w="med" len="med"/>
                    </a:lnR>
                    <a:lnT w="12700" cap="flat" cmpd="sng" algn="ctr">
                      <a:solidFill>
                        <a:srgbClr val="C9D8E8"/>
                      </a:solidFill>
                      <a:prstDash val="solid"/>
                      <a:round/>
                      <a:headEnd type="none" w="med" len="med"/>
                      <a:tailEnd type="none" w="med" len="med"/>
                    </a:lnT>
                    <a:lnB w="12700" cap="flat" cmpd="sng" algn="ctr">
                      <a:solidFill>
                        <a:srgbClr val="C9D8E8"/>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4364B"/>
                          </a:solidFill>
                          <a:latin typeface="Aptos" pitchFamily="34" charset="0"/>
                          <a:ea typeface="Aptos" pitchFamily="34" charset="-122"/>
                          <a:cs typeface="Aptos" pitchFamily="34" charset="-120"/>
                        </a:rPr>
                        <a:t>-338.8</a:t>
                      </a:r>
                      <a:endParaRPr lang="en-US" sz="850" dirty="0">
                        <a:latin typeface="Aptos" charset="0"/>
                        <a:ea typeface="Aptos" charset="0"/>
                        <a:cs typeface="Aptos" charset="0"/>
                      </a:endParaRPr>
                    </a:p>
                  </a:txBody>
                  <a:tcPr marL="45720" marR="45720" marT="45720" marB="45720" anchor="mid">
                    <a:lnL w="12700" cap="flat" cmpd="sng" algn="ctr">
                      <a:solidFill>
                        <a:srgbClr val="C9D8E8"/>
                      </a:solidFill>
                      <a:prstDash val="solid"/>
                      <a:round/>
                      <a:headEnd type="none" w="med" len="med"/>
                      <a:tailEnd type="none" w="med" len="med"/>
                    </a:lnL>
                    <a:lnR w="12700" cap="flat" cmpd="sng" algn="ctr">
                      <a:solidFill>
                        <a:srgbClr val="C9D8E8"/>
                      </a:solidFill>
                      <a:prstDash val="solid"/>
                      <a:round/>
                      <a:headEnd type="none" w="med" len="med"/>
                      <a:tailEnd type="none" w="med" len="med"/>
                    </a:lnR>
                    <a:lnT w="12700" cap="flat" cmpd="sng" algn="ctr">
                      <a:solidFill>
                        <a:srgbClr val="C9D8E8"/>
                      </a:solidFill>
                      <a:prstDash val="solid"/>
                      <a:round/>
                      <a:headEnd type="none" w="med" len="med"/>
                      <a:tailEnd type="none" w="med" len="med"/>
                    </a:lnT>
                    <a:lnB w="12700" cap="flat" cmpd="sng" algn="ctr">
                      <a:solidFill>
                        <a:srgbClr val="C9D8E8"/>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4364B"/>
                          </a:solidFill>
                          <a:latin typeface="Aptos" pitchFamily="34" charset="0"/>
                          <a:ea typeface="Aptos" pitchFamily="34" charset="-122"/>
                          <a:cs typeface="Aptos" pitchFamily="34" charset="-120"/>
                        </a:rPr>
                        <a:t>Negative average effect, uncertain precision.</a:t>
                      </a:r>
                      <a:endParaRPr lang="en-US" sz="850" dirty="0">
                        <a:latin typeface="Aptos" charset="0"/>
                        <a:ea typeface="Aptos" charset="0"/>
                        <a:cs typeface="Aptos" charset="0"/>
                      </a:endParaRPr>
                    </a:p>
                  </a:txBody>
                  <a:tcPr marL="45720" marR="45720" marT="45720" marB="45720" anchor="mid">
                    <a:lnL w="12700" cap="flat" cmpd="sng" algn="ctr">
                      <a:solidFill>
                        <a:srgbClr val="C9D8E8"/>
                      </a:solidFill>
                      <a:prstDash val="solid"/>
                      <a:round/>
                      <a:headEnd type="none" w="med" len="med"/>
                      <a:tailEnd type="none" w="med" len="med"/>
                    </a:lnL>
                    <a:lnR w="12700" cap="flat" cmpd="sng" algn="ctr">
                      <a:solidFill>
                        <a:srgbClr val="C9D8E8"/>
                      </a:solidFill>
                      <a:prstDash val="solid"/>
                      <a:round/>
                      <a:headEnd type="none" w="med" len="med"/>
                      <a:tailEnd type="none" w="med" len="med"/>
                    </a:lnR>
                    <a:lnT w="12700" cap="flat" cmpd="sng" algn="ctr">
                      <a:solidFill>
                        <a:srgbClr val="C9D8E8"/>
                      </a:solidFill>
                      <a:prstDash val="solid"/>
                      <a:round/>
                      <a:headEnd type="none" w="med" len="med"/>
                      <a:tailEnd type="none" w="med" len="med"/>
                    </a:lnT>
                    <a:lnB w="12700" cap="flat" cmpd="sng" algn="ctr">
                      <a:solidFill>
                        <a:srgbClr val="C9D8E8"/>
                      </a:solidFill>
                      <a:prstDash val="solid"/>
                      <a:round/>
                      <a:headEnd type="none" w="med" len="med"/>
                      <a:tailEnd type="none" w="med" len="med"/>
                    </a:lnB>
                    <a:solidFill>
                      <a:srgbClr val="FFFFFF"/>
                    </a:solidFill>
                  </a:tcPr>
                </a:tc>
              </a:tr>
              <a:tr h="475488">
                <a:tc>
                  <a:txBody>
                    <a:bodyPr/>
                    <a:lstStyle/>
                    <a:p>
                      <a:pPr algn="ctr" indent="0" marL="0">
                        <a:buNone/>
                      </a:pPr>
                      <a:r>
                        <a:rPr lang="en-US" sz="850" dirty="0">
                          <a:solidFill>
                            <a:srgbClr val="24364B"/>
                          </a:solidFill>
                          <a:latin typeface="Aptos" pitchFamily="34" charset="0"/>
                          <a:ea typeface="Aptos" pitchFamily="34" charset="-122"/>
                          <a:cs typeface="Aptos" pitchFamily="34" charset="-120"/>
                        </a:rPr>
                        <a:t>Lead-1 placebo</a:t>
                      </a:r>
                      <a:endParaRPr lang="en-US" sz="850" dirty="0">
                        <a:latin typeface="Aptos" charset="0"/>
                        <a:ea typeface="Aptos" charset="0"/>
                        <a:cs typeface="Aptos" charset="0"/>
                      </a:endParaRPr>
                    </a:p>
                  </a:txBody>
                  <a:tcPr marL="45720" marR="45720" marT="45720" marB="45720" anchor="mid">
                    <a:lnL w="12700" cap="flat" cmpd="sng" algn="ctr">
                      <a:solidFill>
                        <a:srgbClr val="C9D8E8"/>
                      </a:solidFill>
                      <a:prstDash val="solid"/>
                      <a:round/>
                      <a:headEnd type="none" w="med" len="med"/>
                      <a:tailEnd type="none" w="med" len="med"/>
                    </a:lnL>
                    <a:lnR w="12700" cap="flat" cmpd="sng" algn="ctr">
                      <a:solidFill>
                        <a:srgbClr val="C9D8E8"/>
                      </a:solidFill>
                      <a:prstDash val="solid"/>
                      <a:round/>
                      <a:headEnd type="none" w="med" len="med"/>
                      <a:tailEnd type="none" w="med" len="med"/>
                    </a:lnR>
                    <a:lnT w="12700" cap="flat" cmpd="sng" algn="ctr">
                      <a:solidFill>
                        <a:srgbClr val="C9D8E8"/>
                      </a:solidFill>
                      <a:prstDash val="solid"/>
                      <a:round/>
                      <a:headEnd type="none" w="med" len="med"/>
                      <a:tailEnd type="none" w="med" len="med"/>
                    </a:lnT>
                    <a:lnB w="12700" cap="flat" cmpd="sng" algn="ctr">
                      <a:solidFill>
                        <a:srgbClr val="C9D8E8"/>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4364B"/>
                          </a:solidFill>
                          <a:latin typeface="Aptos" pitchFamily="34" charset="0"/>
                          <a:ea typeface="Aptos" pitchFamily="34" charset="-122"/>
                          <a:cs typeface="Aptos" pitchFamily="34" charset="-120"/>
                        </a:rPr>
                        <a:t>-302.7*</a:t>
                      </a:r>
                      <a:endParaRPr lang="en-US" sz="850" dirty="0">
                        <a:latin typeface="Aptos" charset="0"/>
                        <a:ea typeface="Aptos" charset="0"/>
                        <a:cs typeface="Aptos" charset="0"/>
                      </a:endParaRPr>
                    </a:p>
                  </a:txBody>
                  <a:tcPr marL="45720" marR="45720" marT="45720" marB="45720" anchor="mid">
                    <a:lnL w="12700" cap="flat" cmpd="sng" algn="ctr">
                      <a:solidFill>
                        <a:srgbClr val="C9D8E8"/>
                      </a:solidFill>
                      <a:prstDash val="solid"/>
                      <a:round/>
                      <a:headEnd type="none" w="med" len="med"/>
                      <a:tailEnd type="none" w="med" len="med"/>
                    </a:lnL>
                    <a:lnR w="12700" cap="flat" cmpd="sng" algn="ctr">
                      <a:solidFill>
                        <a:srgbClr val="C9D8E8"/>
                      </a:solidFill>
                      <a:prstDash val="solid"/>
                      <a:round/>
                      <a:headEnd type="none" w="med" len="med"/>
                      <a:tailEnd type="none" w="med" len="med"/>
                    </a:lnR>
                    <a:lnT w="12700" cap="flat" cmpd="sng" algn="ctr">
                      <a:solidFill>
                        <a:srgbClr val="C9D8E8"/>
                      </a:solidFill>
                      <a:prstDash val="solid"/>
                      <a:round/>
                      <a:headEnd type="none" w="med" len="med"/>
                      <a:tailEnd type="none" w="med" len="med"/>
                    </a:lnT>
                    <a:lnB w="12700" cap="flat" cmpd="sng" algn="ctr">
                      <a:solidFill>
                        <a:srgbClr val="C9D8E8"/>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4364B"/>
                          </a:solidFill>
                          <a:latin typeface="Aptos" pitchFamily="34" charset="0"/>
                          <a:ea typeface="Aptos" pitchFamily="34" charset="-122"/>
                          <a:cs typeface="Aptos" pitchFamily="34" charset="-120"/>
                        </a:rPr>
                        <a:t>Reverse timing is a concern.</a:t>
                      </a:r>
                      <a:endParaRPr lang="en-US" sz="850" dirty="0">
                        <a:latin typeface="Aptos" charset="0"/>
                        <a:ea typeface="Aptos" charset="0"/>
                        <a:cs typeface="Aptos" charset="0"/>
                      </a:endParaRPr>
                    </a:p>
                  </a:txBody>
                  <a:tcPr marL="45720" marR="45720" marT="45720" marB="45720" anchor="mid">
                    <a:lnL w="12700" cap="flat" cmpd="sng" algn="ctr">
                      <a:solidFill>
                        <a:srgbClr val="C9D8E8"/>
                      </a:solidFill>
                      <a:prstDash val="solid"/>
                      <a:round/>
                      <a:headEnd type="none" w="med" len="med"/>
                      <a:tailEnd type="none" w="med" len="med"/>
                    </a:lnL>
                    <a:lnR w="12700" cap="flat" cmpd="sng" algn="ctr">
                      <a:solidFill>
                        <a:srgbClr val="C9D8E8"/>
                      </a:solidFill>
                      <a:prstDash val="solid"/>
                      <a:round/>
                      <a:headEnd type="none" w="med" len="med"/>
                      <a:tailEnd type="none" w="med" len="med"/>
                    </a:lnR>
                    <a:lnT w="12700" cap="flat" cmpd="sng" algn="ctr">
                      <a:solidFill>
                        <a:srgbClr val="C9D8E8"/>
                      </a:solidFill>
                      <a:prstDash val="solid"/>
                      <a:round/>
                      <a:headEnd type="none" w="med" len="med"/>
                      <a:tailEnd type="none" w="med" len="med"/>
                    </a:lnT>
                    <a:lnB w="12700" cap="flat" cmpd="sng" algn="ctr">
                      <a:solidFill>
                        <a:srgbClr val="C9D8E8"/>
                      </a:solidFill>
                      <a:prstDash val="solid"/>
                      <a:round/>
                      <a:headEnd type="none" w="med" len="med"/>
                      <a:tailEnd type="none" w="med" len="med"/>
                    </a:lnB>
                    <a:solidFill>
                      <a:srgbClr val="FFFFFF"/>
                    </a:solidFill>
                  </a:tcPr>
                </a:tc>
              </a:tr>
              <a:tr h="475488">
                <a:tc>
                  <a:txBody>
                    <a:bodyPr/>
                    <a:lstStyle/>
                    <a:p>
                      <a:pPr algn="ctr" indent="0" marL="0">
                        <a:buNone/>
                      </a:pPr>
                      <a:r>
                        <a:rPr lang="en-US" sz="850" dirty="0">
                          <a:solidFill>
                            <a:srgbClr val="24364B"/>
                          </a:solidFill>
                          <a:latin typeface="Aptos" pitchFamily="34" charset="0"/>
                          <a:ea typeface="Aptos" pitchFamily="34" charset="-122"/>
                          <a:cs typeface="Aptos" pitchFamily="34" charset="-120"/>
                        </a:rPr>
                        <a:t>ARIMA(0,1,0)</a:t>
                      </a:r>
                      <a:endParaRPr lang="en-US" sz="850" dirty="0">
                        <a:latin typeface="Aptos" charset="0"/>
                        <a:ea typeface="Aptos" charset="0"/>
                        <a:cs typeface="Aptos" charset="0"/>
                      </a:endParaRPr>
                    </a:p>
                  </a:txBody>
                  <a:tcPr marL="45720" marR="45720" marT="45720" marB="45720" anchor="mid">
                    <a:lnL w="12700" cap="flat" cmpd="sng" algn="ctr">
                      <a:solidFill>
                        <a:srgbClr val="C9D8E8"/>
                      </a:solidFill>
                      <a:prstDash val="solid"/>
                      <a:round/>
                      <a:headEnd type="none" w="med" len="med"/>
                      <a:tailEnd type="none" w="med" len="med"/>
                    </a:lnL>
                    <a:lnR w="12700" cap="flat" cmpd="sng" algn="ctr">
                      <a:solidFill>
                        <a:srgbClr val="C9D8E8"/>
                      </a:solidFill>
                      <a:prstDash val="solid"/>
                      <a:round/>
                      <a:headEnd type="none" w="med" len="med"/>
                      <a:tailEnd type="none" w="med" len="med"/>
                    </a:lnR>
                    <a:lnT w="12700" cap="flat" cmpd="sng" algn="ctr">
                      <a:solidFill>
                        <a:srgbClr val="C9D8E8"/>
                      </a:solidFill>
                      <a:prstDash val="solid"/>
                      <a:round/>
                      <a:headEnd type="none" w="med" len="med"/>
                      <a:tailEnd type="none" w="med" len="med"/>
                    </a:lnT>
                    <a:lnB w="12700" cap="flat" cmpd="sng" algn="ctr">
                      <a:solidFill>
                        <a:srgbClr val="C9D8E8"/>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4364B"/>
                          </a:solidFill>
                          <a:latin typeface="Aptos" pitchFamily="34" charset="0"/>
                          <a:ea typeface="Aptos" pitchFamily="34" charset="-122"/>
                          <a:cs typeface="Aptos" pitchFamily="34" charset="-120"/>
                        </a:rPr>
                        <a:t>RMSE=523.5</a:t>
                      </a:r>
                      <a:endParaRPr lang="en-US" sz="850" dirty="0">
                        <a:latin typeface="Aptos" charset="0"/>
                        <a:ea typeface="Aptos" charset="0"/>
                        <a:cs typeface="Aptos" charset="0"/>
                      </a:endParaRPr>
                    </a:p>
                  </a:txBody>
                  <a:tcPr marL="45720" marR="45720" marT="45720" marB="45720" anchor="mid">
                    <a:lnL w="12700" cap="flat" cmpd="sng" algn="ctr">
                      <a:solidFill>
                        <a:srgbClr val="C9D8E8"/>
                      </a:solidFill>
                      <a:prstDash val="solid"/>
                      <a:round/>
                      <a:headEnd type="none" w="med" len="med"/>
                      <a:tailEnd type="none" w="med" len="med"/>
                    </a:lnL>
                    <a:lnR w="12700" cap="flat" cmpd="sng" algn="ctr">
                      <a:solidFill>
                        <a:srgbClr val="C9D8E8"/>
                      </a:solidFill>
                      <a:prstDash val="solid"/>
                      <a:round/>
                      <a:headEnd type="none" w="med" len="med"/>
                      <a:tailEnd type="none" w="med" len="med"/>
                    </a:lnR>
                    <a:lnT w="12700" cap="flat" cmpd="sng" algn="ctr">
                      <a:solidFill>
                        <a:srgbClr val="C9D8E8"/>
                      </a:solidFill>
                      <a:prstDash val="solid"/>
                      <a:round/>
                      <a:headEnd type="none" w="med" len="med"/>
                      <a:tailEnd type="none" w="med" len="med"/>
                    </a:lnT>
                    <a:lnB w="12700" cap="flat" cmpd="sng" algn="ctr">
                      <a:solidFill>
                        <a:srgbClr val="C9D8E8"/>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4364B"/>
                          </a:solidFill>
                          <a:latin typeface="Aptos" pitchFamily="34" charset="0"/>
                          <a:ea typeface="Aptos" pitchFamily="34" charset="-122"/>
                          <a:cs typeface="Aptos" pitchFamily="34" charset="-120"/>
                        </a:rPr>
                        <a:t>No gain over naive benchmark.</a:t>
                      </a:r>
                      <a:endParaRPr lang="en-US" sz="850" dirty="0">
                        <a:latin typeface="Aptos" charset="0"/>
                        <a:ea typeface="Aptos" charset="0"/>
                        <a:cs typeface="Aptos" charset="0"/>
                      </a:endParaRPr>
                    </a:p>
                  </a:txBody>
                  <a:tcPr marL="45720" marR="45720" marT="45720" marB="45720" anchor="mid">
                    <a:lnL w="12700" cap="flat" cmpd="sng" algn="ctr">
                      <a:solidFill>
                        <a:srgbClr val="C9D8E8"/>
                      </a:solidFill>
                      <a:prstDash val="solid"/>
                      <a:round/>
                      <a:headEnd type="none" w="med" len="med"/>
                      <a:tailEnd type="none" w="med" len="med"/>
                    </a:lnL>
                    <a:lnR w="12700" cap="flat" cmpd="sng" algn="ctr">
                      <a:solidFill>
                        <a:srgbClr val="C9D8E8"/>
                      </a:solidFill>
                      <a:prstDash val="solid"/>
                      <a:round/>
                      <a:headEnd type="none" w="med" len="med"/>
                      <a:tailEnd type="none" w="med" len="med"/>
                    </a:lnR>
                    <a:lnT w="12700" cap="flat" cmpd="sng" algn="ctr">
                      <a:solidFill>
                        <a:srgbClr val="C9D8E8"/>
                      </a:solidFill>
                      <a:prstDash val="solid"/>
                      <a:round/>
                      <a:headEnd type="none" w="med" len="med"/>
                      <a:tailEnd type="none" w="med" len="med"/>
                    </a:lnT>
                    <a:lnB w="12700" cap="flat" cmpd="sng" algn="ctr">
                      <a:solidFill>
                        <a:srgbClr val="C9D8E8"/>
                      </a:solidFill>
                      <a:prstDash val="solid"/>
                      <a:round/>
                      <a:headEnd type="none" w="med" len="med"/>
                      <a:tailEnd type="none" w="med" len="med"/>
                    </a:lnB>
                    <a:solidFill>
                      <a:srgbClr val="FFFFFF"/>
                    </a:solidFill>
                  </a:tcPr>
                </a:tc>
              </a:tr>
              <a:tr h="475488">
                <a:tc>
                  <a:txBody>
                    <a:bodyPr/>
                    <a:lstStyle/>
                    <a:p>
                      <a:pPr algn="ctr" indent="0" marL="0">
                        <a:buNone/>
                      </a:pPr>
                      <a:r>
                        <a:rPr lang="en-US" sz="850" dirty="0">
                          <a:solidFill>
                            <a:srgbClr val="24364B"/>
                          </a:solidFill>
                          <a:latin typeface="Aptos" pitchFamily="34" charset="0"/>
                          <a:ea typeface="Aptos" pitchFamily="34" charset="-122"/>
                          <a:cs typeface="Aptos" pitchFamily="34" charset="-120"/>
                        </a:rPr>
                        <a:t>Bootstrap CI</a:t>
                      </a:r>
                      <a:endParaRPr lang="en-US" sz="850" dirty="0">
                        <a:latin typeface="Aptos" charset="0"/>
                        <a:ea typeface="Aptos" charset="0"/>
                        <a:cs typeface="Aptos" charset="0"/>
                      </a:endParaRPr>
                    </a:p>
                  </a:txBody>
                  <a:tcPr marL="45720" marR="45720" marT="45720" marB="45720" anchor="mid">
                    <a:lnL w="12700" cap="flat" cmpd="sng" algn="ctr">
                      <a:solidFill>
                        <a:srgbClr val="C9D8E8"/>
                      </a:solidFill>
                      <a:prstDash val="solid"/>
                      <a:round/>
                      <a:headEnd type="none" w="med" len="med"/>
                      <a:tailEnd type="none" w="med" len="med"/>
                    </a:lnL>
                    <a:lnR w="12700" cap="flat" cmpd="sng" algn="ctr">
                      <a:solidFill>
                        <a:srgbClr val="C9D8E8"/>
                      </a:solidFill>
                      <a:prstDash val="solid"/>
                      <a:round/>
                      <a:headEnd type="none" w="med" len="med"/>
                      <a:tailEnd type="none" w="med" len="med"/>
                    </a:lnR>
                    <a:lnT w="12700" cap="flat" cmpd="sng" algn="ctr">
                      <a:solidFill>
                        <a:srgbClr val="C9D8E8"/>
                      </a:solidFill>
                      <a:prstDash val="solid"/>
                      <a:round/>
                      <a:headEnd type="none" w="med" len="med"/>
                      <a:tailEnd type="none" w="med" len="med"/>
                    </a:lnT>
                    <a:lnB w="12700" cap="flat" cmpd="sng" algn="ctr">
                      <a:solidFill>
                        <a:srgbClr val="C9D8E8"/>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4364B"/>
                          </a:solidFill>
                          <a:latin typeface="Aptos" pitchFamily="34" charset="0"/>
                          <a:ea typeface="Aptos" pitchFamily="34" charset="-122"/>
                          <a:cs typeface="Aptos" pitchFamily="34" charset="-120"/>
                        </a:rPr>
                        <a:t>[-517.6, 149.7]</a:t>
                      </a:r>
                      <a:endParaRPr lang="en-US" sz="850" dirty="0">
                        <a:latin typeface="Aptos" charset="0"/>
                        <a:ea typeface="Aptos" charset="0"/>
                        <a:cs typeface="Aptos" charset="0"/>
                      </a:endParaRPr>
                    </a:p>
                  </a:txBody>
                  <a:tcPr marL="45720" marR="45720" marT="45720" marB="45720" anchor="mid">
                    <a:lnL w="12700" cap="flat" cmpd="sng" algn="ctr">
                      <a:solidFill>
                        <a:srgbClr val="C9D8E8"/>
                      </a:solidFill>
                      <a:prstDash val="solid"/>
                      <a:round/>
                      <a:headEnd type="none" w="med" len="med"/>
                      <a:tailEnd type="none" w="med" len="med"/>
                    </a:lnL>
                    <a:lnR w="12700" cap="flat" cmpd="sng" algn="ctr">
                      <a:solidFill>
                        <a:srgbClr val="C9D8E8"/>
                      </a:solidFill>
                      <a:prstDash val="solid"/>
                      <a:round/>
                      <a:headEnd type="none" w="med" len="med"/>
                      <a:tailEnd type="none" w="med" len="med"/>
                    </a:lnR>
                    <a:lnT w="12700" cap="flat" cmpd="sng" algn="ctr">
                      <a:solidFill>
                        <a:srgbClr val="C9D8E8"/>
                      </a:solidFill>
                      <a:prstDash val="solid"/>
                      <a:round/>
                      <a:headEnd type="none" w="med" len="med"/>
                      <a:tailEnd type="none" w="med" len="med"/>
                    </a:lnT>
                    <a:lnB w="12700" cap="flat" cmpd="sng" algn="ctr">
                      <a:solidFill>
                        <a:srgbClr val="C9D8E8"/>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4364B"/>
                          </a:solidFill>
                          <a:latin typeface="Aptos" pitchFamily="34" charset="0"/>
                          <a:ea typeface="Aptos" pitchFamily="34" charset="-122"/>
                          <a:cs typeface="Aptos" pitchFamily="34" charset="-120"/>
                        </a:rPr>
                        <a:t>Interval crosses zero.</a:t>
                      </a:r>
                      <a:endParaRPr lang="en-US" sz="850" dirty="0">
                        <a:latin typeface="Aptos" charset="0"/>
                        <a:ea typeface="Aptos" charset="0"/>
                        <a:cs typeface="Aptos" charset="0"/>
                      </a:endParaRPr>
                    </a:p>
                  </a:txBody>
                  <a:tcPr marL="45720" marR="45720" marT="45720" marB="45720" anchor="mid">
                    <a:lnL w="12700" cap="flat" cmpd="sng" algn="ctr">
                      <a:solidFill>
                        <a:srgbClr val="C9D8E8"/>
                      </a:solidFill>
                      <a:prstDash val="solid"/>
                      <a:round/>
                      <a:headEnd type="none" w="med" len="med"/>
                      <a:tailEnd type="none" w="med" len="med"/>
                    </a:lnL>
                    <a:lnR w="12700" cap="flat" cmpd="sng" algn="ctr">
                      <a:solidFill>
                        <a:srgbClr val="C9D8E8"/>
                      </a:solidFill>
                      <a:prstDash val="solid"/>
                      <a:round/>
                      <a:headEnd type="none" w="med" len="med"/>
                      <a:tailEnd type="none" w="med" len="med"/>
                    </a:lnR>
                    <a:lnT w="12700" cap="flat" cmpd="sng" algn="ctr">
                      <a:solidFill>
                        <a:srgbClr val="C9D8E8"/>
                      </a:solidFill>
                      <a:prstDash val="solid"/>
                      <a:round/>
                      <a:headEnd type="none" w="med" len="med"/>
                      <a:tailEnd type="none" w="med" len="med"/>
                    </a:lnT>
                    <a:lnB w="12700" cap="flat" cmpd="sng" algn="ctr">
                      <a:solidFill>
                        <a:srgbClr val="C9D8E8"/>
                      </a:solidFill>
                      <a:prstDash val="solid"/>
                      <a:round/>
                      <a:headEnd type="none" w="med" len="med"/>
                      <a:tailEnd type="none" w="med" len="med"/>
                    </a:lnB>
                    <a:solidFill>
                      <a:srgbClr val="FFFFFF"/>
                    </a:solidFill>
                  </a:tcPr>
                </a:tc>
              </a:tr>
            </a:tbl>
          </a:graphicData>
        </a:graphic>
      </p:graphicFrame>
      <p:sp>
        <p:nvSpPr>
          <p:cNvPr id="8" name="Shape 5"/>
          <p:cNvSpPr/>
          <p:nvPr/>
        </p:nvSpPr>
        <p:spPr>
          <a:xfrm>
            <a:off x="4526280" y="1389888"/>
            <a:ext cx="3886200" cy="4526280"/>
          </a:xfrm>
          <a:prstGeom prst="roundRect">
            <a:avLst>
              <a:gd name="adj" fmla="val 2118"/>
            </a:avLst>
          </a:prstGeom>
          <a:solidFill>
            <a:srgbClr val="FFFFFF"/>
          </a:solidFill>
          <a:ln w="12700">
            <a:solidFill>
              <a:srgbClr val="DDE8F2"/>
            </a:solidFill>
            <a:prstDash val="solid"/>
          </a:ln>
          <a:effectLst>
            <a:outerShdw sx="100000" sy="100000" kx="0" ky="0" algn="bl" rotWithShape="0" blurRad="38100" dist="19050" dir="2700000">
              <a:srgbClr val="000000">
                <a:alpha val="8000"/>
              </a:srgbClr>
            </a:outerShdw>
          </a:effectLst>
        </p:spPr>
      </p:sp>
      <p:pic>
        <p:nvPicPr>
          <p:cNvPr id="9" name="Image 0" descr="/workspaces/qm2023-capstone-silly-geese/results/figures/M2/plot3_dual_axis_outcome_driver.png">    </p:cNvPr>
          <p:cNvPicPr>
            <a:picLocks noChangeAspect="1"/>
          </p:cNvPicPr>
          <p:nvPr/>
        </p:nvPicPr>
        <p:blipFill>
          <a:blip r:embed="rId1"/>
          <a:srcRect l="0" r="0" t="0" b="0"/>
          <a:stretch/>
        </p:blipFill>
        <p:spPr>
          <a:xfrm>
            <a:off x="4636008" y="1499616"/>
            <a:ext cx="3666744" cy="3922776"/>
          </a:xfrm>
          <a:prstGeom prst="rect">
            <a:avLst/>
          </a:prstGeom>
        </p:spPr>
      </p:pic>
      <p:sp>
        <p:nvSpPr>
          <p:cNvPr id="10" name="Text 6"/>
          <p:cNvSpPr/>
          <p:nvPr/>
        </p:nvSpPr>
        <p:spPr>
          <a:xfrm>
            <a:off x="4654296" y="5532120"/>
            <a:ext cx="3630168" cy="146304"/>
          </a:xfrm>
          <a:prstGeom prst="rect">
            <a:avLst/>
          </a:prstGeom>
          <a:noFill/>
          <a:ln/>
        </p:spPr>
        <p:txBody>
          <a:bodyPr wrap="square" lIns="0" tIns="0" rIns="0" bIns="0" rtlCol="0" anchor="ctr">
            <a:normAutofit/>
          </a:bodyPr>
          <a:lstStyle/>
          <a:p>
            <a:pPr indent="0" marL="0">
              <a:buNone/>
            </a:pPr>
            <a:r>
              <a:rPr lang="en-US" sz="880" i="1" dirty="0">
                <a:solidFill>
                  <a:srgbClr val="5F7084"/>
                </a:solidFill>
                <a:latin typeface="Aptos" pitchFamily="34" charset="0"/>
                <a:ea typeface="Aptos" pitchFamily="34" charset="-122"/>
                <a:cs typeface="Aptos" pitchFamily="34" charset="-120"/>
              </a:rPr>
              <a:t>Figure 1. Dual-axis trend of profitability outcome vs. lobbying driver</a:t>
            </a:r>
            <a:endParaRPr lang="en-US" sz="880" dirty="0"/>
          </a:p>
        </p:txBody>
      </p:sp>
      <p:sp>
        <p:nvSpPr>
          <p:cNvPr id="11" name="Text 7"/>
          <p:cNvSpPr/>
          <p:nvPr/>
        </p:nvSpPr>
        <p:spPr>
          <a:xfrm>
            <a:off x="4654296" y="5696712"/>
            <a:ext cx="3630168" cy="137160"/>
          </a:xfrm>
          <a:prstGeom prst="rect">
            <a:avLst/>
          </a:prstGeom>
          <a:noFill/>
          <a:ln/>
        </p:spPr>
        <p:txBody>
          <a:bodyPr wrap="square" lIns="0" tIns="0" rIns="0" bIns="0" rtlCol="0" anchor="ctr">
            <a:normAutofit/>
          </a:bodyPr>
          <a:lstStyle/>
          <a:p>
            <a:pPr indent="0" marL="0">
              <a:buNone/>
            </a:pPr>
            <a:r>
              <a:rPr lang="en-US" sz="780" dirty="0">
                <a:solidFill>
                  <a:srgbClr val="5F7084"/>
                </a:solidFill>
                <a:latin typeface="Aptos" pitchFamily="34" charset="0"/>
                <a:ea typeface="Aptos" pitchFamily="34" charset="-122"/>
                <a:cs typeface="Aptos" pitchFamily="34" charset="-120"/>
              </a:rPr>
              <a:t>../figures/M2/plot3_dual_axis_outcome_driver.png</a:t>
            </a:r>
            <a:endParaRPr lang="en-US" sz="780" dirty="0"/>
          </a:p>
        </p:txBody>
      </p:sp>
      <p:sp>
        <p:nvSpPr>
          <p:cNvPr id="12" name="Text 8"/>
          <p:cNvSpPr/>
          <p:nvPr/>
        </p:nvSpPr>
        <p:spPr>
          <a:xfrm>
            <a:off x="502920" y="6492240"/>
            <a:ext cx="8138160" cy="146304"/>
          </a:xfrm>
          <a:prstGeom prst="rect">
            <a:avLst/>
          </a:prstGeom>
          <a:noFill/>
          <a:ln/>
        </p:spPr>
        <p:txBody>
          <a:bodyPr wrap="square" lIns="0" tIns="0" rIns="0" bIns="0" rtlCol="0" anchor="ctr"/>
          <a:lstStyle/>
          <a:p>
            <a:pPr indent="0" marL="0">
              <a:buNone/>
            </a:pPr>
            <a:r>
              <a:rPr lang="en-US" sz="800" dirty="0">
                <a:solidFill>
                  <a:srgbClr val="5F7084"/>
                </a:solidFill>
                <a:latin typeface="Aptos" pitchFamily="34" charset="0"/>
                <a:ea typeface="Aptos" pitchFamily="34" charset="-122"/>
                <a:cs typeface="Aptos" pitchFamily="34" charset="-120"/>
              </a:rPr>
              <a:t>Table 2 sources: results/tables/M3_bonus_did_summary.txt, results/tables/M3_arima_metrics.csv, and robustness tables.</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3F8FD"/>
        </a:solidFill>
      </p:bgPr>
    </p:bg>
    <p:spTree>
      <p:nvGrpSpPr>
        <p:cNvPr id="1" name=""/>
        <p:cNvGrpSpPr/>
        <p:nvPr/>
      </p:nvGrpSpPr>
      <p:grpSpPr>
        <a:xfrm>
          <a:off x="0" y="0"/>
          <a:ext cx="0" cy="0"/>
          <a:chOff x="0" y="0"/>
          <a:chExt cx="0" cy="0"/>
        </a:xfrm>
      </p:grpSpPr>
      <p:sp>
        <p:nvSpPr>
          <p:cNvPr id="2" name="Shape 0"/>
          <p:cNvSpPr/>
          <p:nvPr/>
        </p:nvSpPr>
        <p:spPr>
          <a:xfrm>
            <a:off x="502920" y="292608"/>
            <a:ext cx="1783080" cy="310896"/>
          </a:xfrm>
          <a:prstGeom prst="roundRect">
            <a:avLst>
              <a:gd name="adj" fmla="val 23529"/>
            </a:avLst>
          </a:prstGeom>
          <a:solidFill>
            <a:srgbClr val="DCEEFF"/>
          </a:solidFill>
          <a:ln w="12700">
            <a:solidFill>
              <a:srgbClr val="DCEEFF"/>
            </a:solidFill>
            <a:prstDash val="solid"/>
          </a:ln>
        </p:spPr>
      </p:sp>
      <p:sp>
        <p:nvSpPr>
          <p:cNvPr id="3" name="Text 1"/>
          <p:cNvSpPr/>
          <p:nvPr/>
        </p:nvSpPr>
        <p:spPr>
          <a:xfrm>
            <a:off x="502920" y="320040"/>
            <a:ext cx="1783080" cy="201168"/>
          </a:xfrm>
          <a:prstGeom prst="rect">
            <a:avLst/>
          </a:prstGeom>
          <a:noFill/>
          <a:ln/>
        </p:spPr>
        <p:txBody>
          <a:bodyPr wrap="square" lIns="0" tIns="0" rIns="0" bIns="0" rtlCol="0" anchor="ctr"/>
          <a:lstStyle/>
          <a:p>
            <a:pPr algn="ctr" indent="0" marL="0">
              <a:buNone/>
            </a:pPr>
            <a:r>
              <a:rPr lang="en-US" sz="900" b="1" spc="110" kern="0" dirty="0">
                <a:solidFill>
                  <a:srgbClr val="102A43"/>
                </a:solidFill>
                <a:latin typeface="Trebuchet MS" pitchFamily="34" charset="0"/>
                <a:ea typeface="Trebuchet MS" pitchFamily="34" charset="-122"/>
                <a:cs typeface="Trebuchet MS" pitchFamily="34" charset="-120"/>
              </a:rPr>
              <a:t>DIAGNOSTICS</a:t>
            </a:r>
            <a:endParaRPr lang="en-US" sz="900" dirty="0"/>
          </a:p>
        </p:txBody>
      </p:sp>
      <p:sp>
        <p:nvSpPr>
          <p:cNvPr id="4" name="Text 2"/>
          <p:cNvSpPr/>
          <p:nvPr/>
        </p:nvSpPr>
        <p:spPr>
          <a:xfrm>
            <a:off x="502920" y="658368"/>
            <a:ext cx="8046720" cy="420624"/>
          </a:xfrm>
          <a:prstGeom prst="rect">
            <a:avLst/>
          </a:prstGeom>
          <a:noFill/>
          <a:ln/>
        </p:spPr>
        <p:txBody>
          <a:bodyPr wrap="square" lIns="0" tIns="0" rIns="0" bIns="0" rtlCol="0" anchor="ctr">
            <a:normAutofit/>
          </a:bodyPr>
          <a:lstStyle/>
          <a:p>
            <a:pPr indent="0" marL="0">
              <a:buNone/>
            </a:pPr>
            <a:r>
              <a:rPr lang="en-US" sz="2400" b="1" dirty="0">
                <a:solidFill>
                  <a:srgbClr val="102A43"/>
                </a:solidFill>
                <a:latin typeface="Trebuchet MS" pitchFamily="34" charset="0"/>
                <a:ea typeface="Trebuchet MS" pitchFamily="34" charset="-122"/>
                <a:cs typeface="Trebuchet MS" pitchFamily="34" charset="-120"/>
              </a:rPr>
              <a:t>Figure 2. Diagnostics and economic interpretation</a:t>
            </a:r>
            <a:endParaRPr lang="en-US" sz="2400" dirty="0"/>
          </a:p>
        </p:txBody>
      </p:sp>
      <p:sp>
        <p:nvSpPr>
          <p:cNvPr id="5" name="Text 3"/>
          <p:cNvSpPr/>
          <p:nvPr/>
        </p:nvSpPr>
        <p:spPr>
          <a:xfrm>
            <a:off x="502920" y="1024128"/>
            <a:ext cx="8138160" cy="310896"/>
          </a:xfrm>
          <a:prstGeom prst="rect">
            <a:avLst/>
          </a:prstGeom>
          <a:noFill/>
          <a:ln/>
        </p:spPr>
        <p:txBody>
          <a:bodyPr wrap="square" lIns="0" tIns="0" rIns="0" bIns="0" rtlCol="0" anchor="ctr">
            <a:normAutofit/>
          </a:bodyPr>
          <a:lstStyle/>
          <a:p>
            <a:pPr indent="0" marL="0">
              <a:buNone/>
            </a:pPr>
            <a:r>
              <a:rPr lang="en-US" sz="1050" dirty="0">
                <a:solidFill>
                  <a:srgbClr val="5F7084"/>
                </a:solidFill>
                <a:latin typeface="Aptos" pitchFamily="34" charset="0"/>
                <a:ea typeface="Aptos" pitchFamily="34" charset="-122"/>
                <a:cs typeface="Aptos" pitchFamily="34" charset="-120"/>
              </a:rPr>
              <a:t>Diagnostic fit checks plus translation of the coefficient into business terms.</a:t>
            </a:r>
            <a:endParaRPr lang="en-US" sz="1050" dirty="0"/>
          </a:p>
        </p:txBody>
      </p:sp>
      <p:sp>
        <p:nvSpPr>
          <p:cNvPr id="6" name="Shape 4"/>
          <p:cNvSpPr/>
          <p:nvPr/>
        </p:nvSpPr>
        <p:spPr>
          <a:xfrm>
            <a:off x="502920" y="1417320"/>
            <a:ext cx="3794760" cy="2880360"/>
          </a:xfrm>
          <a:prstGeom prst="roundRect">
            <a:avLst>
              <a:gd name="adj" fmla="val 2857"/>
            </a:avLst>
          </a:prstGeom>
          <a:solidFill>
            <a:srgbClr val="FFFFFF"/>
          </a:solidFill>
          <a:ln w="12700">
            <a:solidFill>
              <a:srgbClr val="DDE8F2"/>
            </a:solidFill>
            <a:prstDash val="solid"/>
          </a:ln>
          <a:effectLst>
            <a:outerShdw sx="100000" sy="100000" kx="0" ky="0" algn="bl" rotWithShape="0" blurRad="38100" dist="19050" dir="2700000">
              <a:srgbClr val="000000">
                <a:alpha val="8000"/>
              </a:srgbClr>
            </a:outerShdw>
          </a:effectLst>
        </p:spPr>
      </p:sp>
      <p:pic>
        <p:nvPicPr>
          <p:cNvPr id="7" name="Image 0" descr="/workspaces/qm2023-capstone-silly-geese/results/figures/M3_residuals_vs_fitted.png">    </p:cNvPr>
          <p:cNvPicPr>
            <a:picLocks noChangeAspect="1"/>
          </p:cNvPicPr>
          <p:nvPr/>
        </p:nvPicPr>
        <p:blipFill>
          <a:blip r:embed="rId1"/>
          <a:srcRect l="0" r="0" t="0" b="0"/>
          <a:stretch/>
        </p:blipFill>
        <p:spPr>
          <a:xfrm>
            <a:off x="612648" y="1527048"/>
            <a:ext cx="3575304" cy="2276856"/>
          </a:xfrm>
          <a:prstGeom prst="rect">
            <a:avLst/>
          </a:prstGeom>
        </p:spPr>
      </p:pic>
      <p:sp>
        <p:nvSpPr>
          <p:cNvPr id="8" name="Text 5"/>
          <p:cNvSpPr/>
          <p:nvPr/>
        </p:nvSpPr>
        <p:spPr>
          <a:xfrm>
            <a:off x="630936" y="3913632"/>
            <a:ext cx="3538728" cy="146304"/>
          </a:xfrm>
          <a:prstGeom prst="rect">
            <a:avLst/>
          </a:prstGeom>
          <a:noFill/>
          <a:ln/>
        </p:spPr>
        <p:txBody>
          <a:bodyPr wrap="square" lIns="0" tIns="0" rIns="0" bIns="0" rtlCol="0" anchor="ctr">
            <a:normAutofit/>
          </a:bodyPr>
          <a:lstStyle/>
          <a:p>
            <a:pPr indent="0" marL="0">
              <a:buNone/>
            </a:pPr>
            <a:r>
              <a:rPr lang="en-US" sz="880" i="1" dirty="0">
                <a:solidFill>
                  <a:srgbClr val="5F7084"/>
                </a:solidFill>
                <a:latin typeface="Aptos" pitchFamily="34" charset="0"/>
                <a:ea typeface="Aptos" pitchFamily="34" charset="-122"/>
                <a:cs typeface="Aptos" pitchFamily="34" charset="-120"/>
              </a:rPr>
              <a:t>Figure 2A. Residuals vs. fitted</a:t>
            </a:r>
            <a:endParaRPr lang="en-US" sz="880" dirty="0"/>
          </a:p>
        </p:txBody>
      </p:sp>
      <p:sp>
        <p:nvSpPr>
          <p:cNvPr id="9" name="Text 6"/>
          <p:cNvSpPr/>
          <p:nvPr/>
        </p:nvSpPr>
        <p:spPr>
          <a:xfrm>
            <a:off x="630936" y="4078224"/>
            <a:ext cx="3538728" cy="137160"/>
          </a:xfrm>
          <a:prstGeom prst="rect">
            <a:avLst/>
          </a:prstGeom>
          <a:noFill/>
          <a:ln/>
        </p:spPr>
        <p:txBody>
          <a:bodyPr wrap="square" lIns="0" tIns="0" rIns="0" bIns="0" rtlCol="0" anchor="ctr">
            <a:normAutofit/>
          </a:bodyPr>
          <a:lstStyle/>
          <a:p>
            <a:pPr indent="0" marL="0">
              <a:buNone/>
            </a:pPr>
            <a:r>
              <a:rPr lang="en-US" sz="780" dirty="0">
                <a:solidFill>
                  <a:srgbClr val="5F7084"/>
                </a:solidFill>
                <a:latin typeface="Aptos" pitchFamily="34" charset="0"/>
                <a:ea typeface="Aptos" pitchFamily="34" charset="-122"/>
                <a:cs typeface="Aptos" pitchFamily="34" charset="-120"/>
              </a:rPr>
              <a:t>../figures/M3_residuals_vs_fitted.png</a:t>
            </a:r>
            <a:endParaRPr lang="en-US" sz="780" dirty="0"/>
          </a:p>
        </p:txBody>
      </p:sp>
      <p:sp>
        <p:nvSpPr>
          <p:cNvPr id="10" name="Shape 7"/>
          <p:cNvSpPr/>
          <p:nvPr/>
        </p:nvSpPr>
        <p:spPr>
          <a:xfrm>
            <a:off x="4526280" y="1417320"/>
            <a:ext cx="3794760" cy="2880360"/>
          </a:xfrm>
          <a:prstGeom prst="roundRect">
            <a:avLst>
              <a:gd name="adj" fmla="val 2857"/>
            </a:avLst>
          </a:prstGeom>
          <a:solidFill>
            <a:srgbClr val="FFFFFF"/>
          </a:solidFill>
          <a:ln w="12700">
            <a:solidFill>
              <a:srgbClr val="DDE8F2"/>
            </a:solidFill>
            <a:prstDash val="solid"/>
          </a:ln>
          <a:effectLst>
            <a:outerShdw sx="100000" sy="100000" kx="0" ky="0" algn="bl" rotWithShape="0" blurRad="38100" dist="19050" dir="2700000">
              <a:srgbClr val="000000">
                <a:alpha val="8000"/>
              </a:srgbClr>
            </a:outerShdw>
          </a:effectLst>
        </p:spPr>
      </p:sp>
      <p:pic>
        <p:nvPicPr>
          <p:cNvPr id="11" name="Image 1" descr="/workspaces/qm2023-capstone-silly-geese/results/figures/M3_qq_plot.png">    </p:cNvPr>
          <p:cNvPicPr>
            <a:picLocks noChangeAspect="1"/>
          </p:cNvPicPr>
          <p:nvPr/>
        </p:nvPicPr>
        <p:blipFill>
          <a:blip r:embed="rId2"/>
          <a:srcRect l="0" r="0" t="0" b="0"/>
          <a:stretch/>
        </p:blipFill>
        <p:spPr>
          <a:xfrm>
            <a:off x="4636008" y="1527048"/>
            <a:ext cx="3575304" cy="2276856"/>
          </a:xfrm>
          <a:prstGeom prst="rect">
            <a:avLst/>
          </a:prstGeom>
        </p:spPr>
      </p:pic>
      <p:sp>
        <p:nvSpPr>
          <p:cNvPr id="12" name="Text 8"/>
          <p:cNvSpPr/>
          <p:nvPr/>
        </p:nvSpPr>
        <p:spPr>
          <a:xfrm>
            <a:off x="4654296" y="3913632"/>
            <a:ext cx="3538728" cy="146304"/>
          </a:xfrm>
          <a:prstGeom prst="rect">
            <a:avLst/>
          </a:prstGeom>
          <a:noFill/>
          <a:ln/>
        </p:spPr>
        <p:txBody>
          <a:bodyPr wrap="square" lIns="0" tIns="0" rIns="0" bIns="0" rtlCol="0" anchor="ctr">
            <a:normAutofit/>
          </a:bodyPr>
          <a:lstStyle/>
          <a:p>
            <a:pPr indent="0" marL="0">
              <a:buNone/>
            </a:pPr>
            <a:r>
              <a:rPr lang="en-US" sz="880" i="1" dirty="0">
                <a:solidFill>
                  <a:srgbClr val="5F7084"/>
                </a:solidFill>
                <a:latin typeface="Aptos" pitchFamily="34" charset="0"/>
                <a:ea typeface="Aptos" pitchFamily="34" charset="-122"/>
                <a:cs typeface="Aptos" pitchFamily="34" charset="-120"/>
              </a:rPr>
              <a:t>Figure 2B. Q-Q plot</a:t>
            </a:r>
            <a:endParaRPr lang="en-US" sz="880" dirty="0"/>
          </a:p>
        </p:txBody>
      </p:sp>
      <p:sp>
        <p:nvSpPr>
          <p:cNvPr id="13" name="Text 9"/>
          <p:cNvSpPr/>
          <p:nvPr/>
        </p:nvSpPr>
        <p:spPr>
          <a:xfrm>
            <a:off x="4654296" y="4078224"/>
            <a:ext cx="3538728" cy="137160"/>
          </a:xfrm>
          <a:prstGeom prst="rect">
            <a:avLst/>
          </a:prstGeom>
          <a:noFill/>
          <a:ln/>
        </p:spPr>
        <p:txBody>
          <a:bodyPr wrap="square" lIns="0" tIns="0" rIns="0" bIns="0" rtlCol="0" anchor="ctr">
            <a:normAutofit/>
          </a:bodyPr>
          <a:lstStyle/>
          <a:p>
            <a:pPr indent="0" marL="0">
              <a:buNone/>
            </a:pPr>
            <a:r>
              <a:rPr lang="en-US" sz="780" dirty="0">
                <a:solidFill>
                  <a:srgbClr val="5F7084"/>
                </a:solidFill>
                <a:latin typeface="Aptos" pitchFamily="34" charset="0"/>
                <a:ea typeface="Aptos" pitchFamily="34" charset="-122"/>
                <a:cs typeface="Aptos" pitchFamily="34" charset="-120"/>
              </a:rPr>
              <a:t>../figures/M3_qq_plot.png</a:t>
            </a:r>
            <a:endParaRPr lang="en-US" sz="780" dirty="0"/>
          </a:p>
        </p:txBody>
      </p:sp>
      <p:sp>
        <p:nvSpPr>
          <p:cNvPr id="14" name="Shape 10"/>
          <p:cNvSpPr/>
          <p:nvPr/>
        </p:nvSpPr>
        <p:spPr>
          <a:xfrm>
            <a:off x="502920" y="4526280"/>
            <a:ext cx="7818120" cy="1234440"/>
          </a:xfrm>
          <a:prstGeom prst="roundRect">
            <a:avLst>
              <a:gd name="adj" fmla="val 6667"/>
            </a:avLst>
          </a:prstGeom>
          <a:solidFill>
            <a:srgbClr val="EDF5FF"/>
          </a:solidFill>
          <a:ln w="12700">
            <a:solidFill>
              <a:srgbClr val="DCEEFF"/>
            </a:solidFill>
            <a:prstDash val="solid"/>
          </a:ln>
          <a:effectLst>
            <a:outerShdw sx="100000" sy="100000" kx="0" ky="0" algn="bl" rotWithShape="0" blurRad="38100" dist="19050" dir="2700000">
              <a:srgbClr val="000000">
                <a:alpha val="75000"/>
              </a:srgbClr>
            </a:outerShdw>
          </a:effectLst>
        </p:spPr>
      </p:sp>
      <p:sp>
        <p:nvSpPr>
          <p:cNvPr id="15" name="Text 11"/>
          <p:cNvSpPr/>
          <p:nvPr/>
        </p:nvSpPr>
        <p:spPr>
          <a:xfrm>
            <a:off x="749808" y="4754880"/>
            <a:ext cx="7315200" cy="676656"/>
          </a:xfrm>
          <a:prstGeom prst="rect">
            <a:avLst/>
          </a:prstGeom>
          <a:noFill/>
          <a:ln/>
        </p:spPr>
        <p:txBody>
          <a:bodyPr wrap="square" lIns="0" tIns="0" rIns="0" bIns="0" rtlCol="0" anchor="ctr">
            <a:normAutofit/>
          </a:bodyPr>
          <a:lstStyle/>
          <a:p>
            <a:pPr indent="0" marL="0">
              <a:buNone/>
            </a:pPr>
            <a:r>
              <a:rPr lang="en-US" sz="1050" dirty="0">
                <a:solidFill>
                  <a:srgbClr val="102A43"/>
                </a:solidFill>
                <a:latin typeface="Aptos" pitchFamily="34" charset="0"/>
                <a:ea typeface="Aptos" pitchFamily="34" charset="-122"/>
                <a:cs typeface="Aptos" pitchFamily="34" charset="-120"/>
              </a:rPr>
              <a:t>Economic magnitude: a $1M increase in lobbying maps to about -174.6 points in next-year ROA in this model. Robustness and theory check: negative sign aligns with defensive-lobbying theory, but the wide uncertainty and placebo lead mean we should treat this as suggestive, not definitive.</a:t>
            </a:r>
            <a:endParaRPr lang="en-US" sz="1050" dirty="0"/>
          </a:p>
        </p:txBody>
      </p:sp>
      <p:sp>
        <p:nvSpPr>
          <p:cNvPr id="16" name="Text 12"/>
          <p:cNvSpPr/>
          <p:nvPr/>
        </p:nvSpPr>
        <p:spPr>
          <a:xfrm>
            <a:off x="502920" y="6492240"/>
            <a:ext cx="8138160" cy="146304"/>
          </a:xfrm>
          <a:prstGeom prst="rect">
            <a:avLst/>
          </a:prstGeom>
          <a:noFill/>
          <a:ln/>
        </p:spPr>
        <p:txBody>
          <a:bodyPr wrap="square" lIns="0" tIns="0" rIns="0" bIns="0" rtlCol="0" anchor="ctr"/>
          <a:lstStyle/>
          <a:p>
            <a:pPr indent="0" marL="0">
              <a:buNone/>
            </a:pPr>
            <a:r>
              <a:rPr lang="en-US" sz="800" dirty="0">
                <a:solidFill>
                  <a:srgbClr val="5F7084"/>
                </a:solidFill>
                <a:latin typeface="Aptos" pitchFamily="34" charset="0"/>
                <a:ea typeface="Aptos" pitchFamily="34" charset="-122"/>
                <a:cs typeface="Aptos" pitchFamily="34" charset="-120"/>
              </a:rPr>
              <a:t>Diagnostics from results/reports/M3_diagnostics_summary.txt and results/tables/M3_vif_results.csv.</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02A43"/>
        </a:solidFill>
      </p:bgPr>
    </p:bg>
    <p:spTree>
      <p:nvGrpSpPr>
        <p:cNvPr id="1" name=""/>
        <p:cNvGrpSpPr/>
        <p:nvPr/>
      </p:nvGrpSpPr>
      <p:grpSpPr>
        <a:xfrm>
          <a:off x="0" y="0"/>
          <a:ext cx="0" cy="0"/>
          <a:chOff x="0" y="0"/>
          <a:chExt cx="0" cy="0"/>
        </a:xfrm>
      </p:grpSpPr>
      <p:sp>
        <p:nvSpPr>
          <p:cNvPr id="2" name="Shape 0"/>
          <p:cNvSpPr/>
          <p:nvPr/>
        </p:nvSpPr>
        <p:spPr>
          <a:xfrm>
            <a:off x="-548640" y="-640080"/>
            <a:ext cx="2103120" cy="2103120"/>
          </a:xfrm>
          <a:prstGeom prst="ellipse">
            <a:avLst/>
          </a:prstGeom>
          <a:solidFill>
            <a:srgbClr val="58A6FF">
              <a:alpha val="28000"/>
            </a:srgbClr>
          </a:solidFill>
          <a:ln w="12700">
            <a:solidFill>
              <a:srgbClr val="58A6FF">
                <a:alpha val="0"/>
              </a:srgbClr>
            </a:solidFill>
            <a:prstDash val="solid"/>
          </a:ln>
        </p:spPr>
      </p:sp>
      <p:sp>
        <p:nvSpPr>
          <p:cNvPr id="3" name="Shape 1"/>
          <p:cNvSpPr/>
          <p:nvPr/>
        </p:nvSpPr>
        <p:spPr>
          <a:xfrm>
            <a:off x="7955280" y="4617720"/>
            <a:ext cx="2011680" cy="2011680"/>
          </a:xfrm>
          <a:prstGeom prst="ellipse">
            <a:avLst/>
          </a:prstGeom>
          <a:solidFill>
            <a:srgbClr val="DCEEFF">
              <a:alpha val="22000"/>
            </a:srgbClr>
          </a:solidFill>
          <a:ln w="12700">
            <a:solidFill>
              <a:srgbClr val="DCEEFF">
                <a:alpha val="0"/>
              </a:srgbClr>
            </a:solidFill>
            <a:prstDash val="solid"/>
          </a:ln>
        </p:spPr>
      </p:sp>
      <p:sp>
        <p:nvSpPr>
          <p:cNvPr id="4" name="Text 2"/>
          <p:cNvSpPr/>
          <p:nvPr/>
        </p:nvSpPr>
        <p:spPr>
          <a:xfrm>
            <a:off x="658368" y="804672"/>
            <a:ext cx="4572000" cy="1005840"/>
          </a:xfrm>
          <a:prstGeom prst="rect">
            <a:avLst/>
          </a:prstGeom>
          <a:noFill/>
          <a:ln/>
        </p:spPr>
        <p:txBody>
          <a:bodyPr wrap="square" lIns="0" tIns="0" rIns="0" bIns="0" rtlCol="0" anchor="ctr">
            <a:normAutofit/>
          </a:bodyPr>
          <a:lstStyle/>
          <a:p>
            <a:pPr indent="0" marL="0">
              <a:buNone/>
            </a:pPr>
            <a:r>
              <a:rPr lang="en-US" sz="3000" b="1" dirty="0">
                <a:solidFill>
                  <a:srgbClr val="FFFFFF"/>
                </a:solidFill>
                <a:latin typeface="Trebuchet MS" pitchFamily="34" charset="0"/>
                <a:ea typeface="Trebuchet MS" pitchFamily="34" charset="-122"/>
                <a:cs typeface="Trebuchet MS" pitchFamily="34" charset="-120"/>
              </a:rPr>
              <a:t>Conclusions and</a:t>
            </a:r>
            <a:endParaRPr lang="en-US" sz="3000" dirty="0"/>
          </a:p>
          <a:p>
            <a:pPr indent="0" marL="0">
              <a:buNone/>
            </a:pPr>
            <a:r>
              <a:rPr lang="en-US" sz="3000" b="1" dirty="0">
                <a:solidFill>
                  <a:srgbClr val="FFFFFF"/>
                </a:solidFill>
                <a:latin typeface="Trebuchet MS" pitchFamily="34" charset="0"/>
                <a:ea typeface="Trebuchet MS" pitchFamily="34" charset="-122"/>
                <a:cs typeface="Trebuchet MS" pitchFamily="34" charset="-120"/>
              </a:rPr>
              <a:t>Recommendations</a:t>
            </a:r>
            <a:endParaRPr lang="en-US" sz="3000" dirty="0"/>
          </a:p>
        </p:txBody>
      </p:sp>
      <p:sp>
        <p:nvSpPr>
          <p:cNvPr id="5" name="Shape 3"/>
          <p:cNvSpPr/>
          <p:nvPr/>
        </p:nvSpPr>
        <p:spPr>
          <a:xfrm>
            <a:off x="5440680" y="777240"/>
            <a:ext cx="3429000" cy="2148840"/>
          </a:xfrm>
          <a:prstGeom prst="roundRect">
            <a:avLst>
              <a:gd name="adj" fmla="val 3830"/>
            </a:avLst>
          </a:prstGeom>
          <a:solidFill>
            <a:srgbClr val="FFFFFF"/>
          </a:solidFill>
          <a:ln w="12700">
            <a:solidFill>
              <a:srgbClr val="DDE8F2"/>
            </a:solidFill>
            <a:prstDash val="solid"/>
          </a:ln>
          <a:effectLst>
            <a:outerShdw sx="100000" sy="100000" kx="0" ky="0" algn="bl" rotWithShape="0" blurRad="38100" dist="19050" dir="2700000">
              <a:srgbClr val="000000">
                <a:alpha val="8000"/>
              </a:srgbClr>
            </a:outerShdw>
          </a:effectLst>
        </p:spPr>
      </p:sp>
      <p:sp>
        <p:nvSpPr>
          <p:cNvPr id="6" name="Text 4"/>
          <p:cNvSpPr/>
          <p:nvPr/>
        </p:nvSpPr>
        <p:spPr>
          <a:xfrm>
            <a:off x="5669280" y="1005840"/>
            <a:ext cx="2926080" cy="182880"/>
          </a:xfrm>
          <a:prstGeom prst="rect">
            <a:avLst/>
          </a:prstGeom>
          <a:noFill/>
          <a:ln/>
        </p:spPr>
        <p:txBody>
          <a:bodyPr wrap="square" lIns="0" tIns="0" rIns="0" bIns="0" rtlCol="0" anchor="ctr"/>
          <a:lstStyle/>
          <a:p>
            <a:pPr indent="0" marL="0">
              <a:buNone/>
            </a:pPr>
            <a:r>
              <a:rPr lang="en-US" sz="1500" b="1" dirty="0">
                <a:solidFill>
                  <a:srgbClr val="102A43"/>
                </a:solidFill>
                <a:latin typeface="Trebuchet MS" pitchFamily="34" charset="0"/>
                <a:ea typeface="Trebuchet MS" pitchFamily="34" charset="-122"/>
                <a:cs typeface="Trebuchet MS" pitchFamily="34" charset="-120"/>
              </a:rPr>
              <a:t>Investment implications</a:t>
            </a:r>
            <a:endParaRPr lang="en-US" sz="1500" dirty="0"/>
          </a:p>
        </p:txBody>
      </p:sp>
      <p:sp>
        <p:nvSpPr>
          <p:cNvPr id="7" name="Text 5"/>
          <p:cNvSpPr/>
          <p:nvPr/>
        </p:nvSpPr>
        <p:spPr>
          <a:xfrm>
            <a:off x="5669280" y="1325880"/>
            <a:ext cx="2971800" cy="713232"/>
          </a:xfrm>
          <a:prstGeom prst="rect">
            <a:avLst/>
          </a:prstGeom>
          <a:noFill/>
          <a:ln/>
        </p:spPr>
        <p:txBody>
          <a:bodyPr wrap="square" lIns="0" tIns="0" rIns="0" bIns="0" rtlCol="0" anchor="ctr">
            <a:normAutofit/>
          </a:bodyPr>
          <a:lstStyle/>
          <a:p>
            <a:pPr indent="0" marL="0">
              <a:buNone/>
            </a:pPr>
            <a:r>
              <a:rPr lang="en-US" sz="1100" dirty="0">
                <a:solidFill>
                  <a:srgbClr val="24364B"/>
                </a:solidFill>
                <a:latin typeface="Aptos" pitchFamily="34" charset="0"/>
                <a:ea typeface="Aptos" pitchFamily="34" charset="-122"/>
                <a:cs typeface="Aptos" pitchFamily="34" charset="-120"/>
              </a:rPr>
              <a:t>Sector tilt: overweight stable Industrials/Health Care by ~10-15%. Underweight lobbying-heavy, policy-sensitive buckets by ~10%.</a:t>
            </a:r>
            <a:endParaRPr lang="en-US" sz="1100" dirty="0"/>
          </a:p>
        </p:txBody>
      </p:sp>
      <p:sp>
        <p:nvSpPr>
          <p:cNvPr id="8" name="Text 6"/>
          <p:cNvSpPr/>
          <p:nvPr/>
        </p:nvSpPr>
        <p:spPr>
          <a:xfrm>
            <a:off x="5669280" y="2039112"/>
            <a:ext cx="2971800" cy="777240"/>
          </a:xfrm>
          <a:prstGeom prst="rect">
            <a:avLst/>
          </a:prstGeom>
          <a:noFill/>
          <a:ln/>
        </p:spPr>
        <p:txBody>
          <a:bodyPr wrap="square" lIns="0" tIns="0" rIns="0" bIns="0" rtlCol="0" anchor="ctr">
            <a:normAutofit/>
          </a:bodyPr>
          <a:lstStyle/>
          <a:p>
            <a:pPr indent="0" marL="0">
              <a:buNone/>
            </a:pPr>
            <a:r>
              <a:rPr lang="en-US" sz="1020" dirty="0">
                <a:solidFill>
                  <a:srgbClr val="24364B"/>
                </a:solidFill>
                <a:latin typeface="Aptos" pitchFamily="34" charset="0"/>
                <a:ea typeface="Aptos" pitchFamily="34" charset="-122"/>
                <a:cs typeface="Aptos" pitchFamily="34" charset="-120"/>
              </a:rPr>
              <a:t>Factor tilt: quality and earnings stability over policy exposure. Scenario: if lag effect is real, underweight should help with delay; if reverse causality dominates, edge fades.</a:t>
            </a:r>
            <a:endParaRPr lang="en-US" sz="1020" dirty="0"/>
          </a:p>
        </p:txBody>
      </p:sp>
      <p:sp>
        <p:nvSpPr>
          <p:cNvPr id="9" name="Shape 7"/>
          <p:cNvSpPr/>
          <p:nvPr/>
        </p:nvSpPr>
        <p:spPr>
          <a:xfrm>
            <a:off x="676656" y="1965960"/>
            <a:ext cx="4526280" cy="3520440"/>
          </a:xfrm>
          <a:prstGeom prst="roundRect">
            <a:avLst>
              <a:gd name="adj" fmla="val 2338"/>
            </a:avLst>
          </a:prstGeom>
          <a:solidFill>
            <a:srgbClr val="FFFFFF"/>
          </a:solidFill>
          <a:ln w="12700">
            <a:solidFill>
              <a:srgbClr val="DDE8F2"/>
            </a:solidFill>
            <a:prstDash val="solid"/>
          </a:ln>
          <a:effectLst>
            <a:outerShdw sx="100000" sy="100000" kx="0" ky="0" algn="bl" rotWithShape="0" blurRad="38100" dist="19050" dir="2700000">
              <a:srgbClr val="000000">
                <a:alpha val="8000"/>
              </a:srgbClr>
            </a:outerShdw>
          </a:effectLst>
        </p:spPr>
      </p:sp>
      <p:sp>
        <p:nvSpPr>
          <p:cNvPr id="10" name="Text 8"/>
          <p:cNvSpPr/>
          <p:nvPr/>
        </p:nvSpPr>
        <p:spPr>
          <a:xfrm>
            <a:off x="914400" y="2240280"/>
            <a:ext cx="4069080" cy="182880"/>
          </a:xfrm>
          <a:prstGeom prst="rect">
            <a:avLst/>
          </a:prstGeom>
          <a:noFill/>
          <a:ln/>
        </p:spPr>
        <p:txBody>
          <a:bodyPr wrap="square" lIns="0" tIns="0" rIns="0" bIns="0" rtlCol="0" anchor="ctr"/>
          <a:lstStyle/>
          <a:p>
            <a:pPr indent="0" marL="0">
              <a:buNone/>
            </a:pPr>
            <a:r>
              <a:rPr lang="en-US" sz="1500" b="1" dirty="0">
                <a:solidFill>
                  <a:srgbClr val="102A43"/>
                </a:solidFill>
                <a:latin typeface="Trebuchet MS" pitchFamily="34" charset="0"/>
                <a:ea typeface="Trebuchet MS" pitchFamily="34" charset="-122"/>
                <a:cs typeface="Trebuchet MS" pitchFamily="34" charset="-120"/>
              </a:rPr>
              <a:t>Risk assessment and caveats</a:t>
            </a:r>
            <a:endParaRPr lang="en-US" sz="1500" dirty="0"/>
          </a:p>
        </p:txBody>
      </p:sp>
      <p:sp>
        <p:nvSpPr>
          <p:cNvPr id="11" name="Text 9"/>
          <p:cNvSpPr/>
          <p:nvPr/>
        </p:nvSpPr>
        <p:spPr>
          <a:xfrm>
            <a:off x="914400" y="2596896"/>
            <a:ext cx="4069080" cy="2606040"/>
          </a:xfrm>
          <a:prstGeom prst="rect">
            <a:avLst/>
          </a:prstGeom>
          <a:noFill/>
          <a:ln/>
        </p:spPr>
        <p:txBody>
          <a:bodyPr wrap="square" lIns="0" tIns="0" rIns="0" bIns="0" rtlCol="0" anchor="ctr">
            <a:normAutofit/>
          </a:bodyPr>
          <a:lstStyle/>
          <a:p>
            <a:pPr indent="0" marL="0">
              <a:buNone/>
            </a:pPr>
            <a:r>
              <a:rPr lang="en-US" sz="1040" dirty="0">
                <a:solidFill>
                  <a:srgbClr val="24364B"/>
                </a:solidFill>
                <a:latin typeface="Aptos" pitchFamily="34" charset="0"/>
                <a:ea typeface="Aptos" pitchFamily="34" charset="-122"/>
                <a:cs typeface="Aptos" pitchFamily="34" charset="-120"/>
              </a:rPr>
              <a:t>- FE assumption: time-varying omitted variables may remain.</a:t>
            </a:r>
            <a:endParaRPr lang="en-US" sz="1040" dirty="0"/>
          </a:p>
          <a:p>
            <a:pPr indent="0" marL="0">
              <a:buNone/>
            </a:pPr>
            <a:r>
              <a:rPr lang="en-US" sz="1040" dirty="0">
                <a:solidFill>
                  <a:srgbClr val="24364B"/>
                </a:solidFill>
                <a:latin typeface="Aptos" pitchFamily="34" charset="0"/>
                <a:ea typeface="Aptos" pitchFamily="34" charset="-122"/>
                <a:cs typeface="Aptos" pitchFamily="34" charset="-120"/>
              </a:rPr>
              <a:t>- DiD assumption: treatment timing may not satisfy clean parallel trends.</a:t>
            </a:r>
            <a:endParaRPr lang="en-US" sz="1040" dirty="0"/>
          </a:p>
          <a:p>
            <a:pPr indent="0" marL="0">
              <a:buNone/>
            </a:pPr>
            <a:r>
              <a:rPr lang="en-US" sz="1040" dirty="0">
                <a:solidFill>
                  <a:srgbClr val="24364B"/>
                </a:solidFill>
                <a:latin typeface="Aptos" pitchFamily="34" charset="0"/>
                <a:ea typeface="Aptos" pitchFamily="34" charset="-122"/>
                <a:cs typeface="Aptos" pitchFamily="34" charset="-120"/>
              </a:rPr>
              <a:t>- Data limitation: lobbying coverage is sparse; sample may over-represent larger firms.</a:t>
            </a:r>
            <a:endParaRPr lang="en-US" sz="1040" dirty="0"/>
          </a:p>
          <a:p>
            <a:pPr indent="0" marL="0">
              <a:buNone/>
            </a:pPr>
            <a:r>
              <a:rPr lang="en-US" sz="1040" dirty="0">
                <a:solidFill>
                  <a:srgbClr val="24364B"/>
                </a:solidFill>
                <a:latin typeface="Aptos" pitchFamily="34" charset="0"/>
                <a:ea typeface="Aptos" pitchFamily="34" charset="-122"/>
                <a:cs typeface="Aptos" pitchFamily="34" charset="-120"/>
              </a:rPr>
              <a:t>- External validity: findings may not transfer to private firms or non-U.S. settings.</a:t>
            </a:r>
            <a:endParaRPr lang="en-US" sz="1040" dirty="0"/>
          </a:p>
        </p:txBody>
      </p:sp>
      <p:sp>
        <p:nvSpPr>
          <p:cNvPr id="12" name="Text 10"/>
          <p:cNvSpPr/>
          <p:nvPr/>
        </p:nvSpPr>
        <p:spPr>
          <a:xfrm>
            <a:off x="676656" y="5650992"/>
            <a:ext cx="4526280" cy="274320"/>
          </a:xfrm>
          <a:prstGeom prst="rect">
            <a:avLst/>
          </a:prstGeom>
          <a:noFill/>
          <a:ln/>
        </p:spPr>
        <p:txBody>
          <a:bodyPr wrap="square" lIns="0" tIns="0" rIns="0" bIns="0" rtlCol="0" anchor="ctr">
            <a:normAutofit/>
          </a:bodyPr>
          <a:lstStyle/>
          <a:p>
            <a:pPr indent="0" marL="0">
              <a:buNone/>
            </a:pPr>
            <a:r>
              <a:rPr lang="en-US" sz="1400" b="1" dirty="0">
                <a:solidFill>
                  <a:srgbClr val="FFFFFF"/>
                </a:solidFill>
                <a:latin typeface="Trebuchet MS" pitchFamily="34" charset="0"/>
                <a:ea typeface="Trebuchet MS" pitchFamily="34" charset="-122"/>
                <a:cs typeface="Trebuchet MS" pitchFamily="34" charset="-120"/>
              </a:rPr>
              <a:t>Bottom line: use lobbying as a caution flag, not a core alpha signal.</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3F8FD"/>
        </a:solidFill>
      </p:bgPr>
    </p:bg>
    <p:spTree>
      <p:nvGrpSpPr>
        <p:cNvPr id="1" name=""/>
        <p:cNvGrpSpPr/>
        <p:nvPr/>
      </p:nvGrpSpPr>
      <p:grpSpPr>
        <a:xfrm>
          <a:off x="0" y="0"/>
          <a:ext cx="0" cy="0"/>
          <a:chOff x="0" y="0"/>
          <a:chExt cx="0" cy="0"/>
        </a:xfrm>
      </p:grpSpPr>
      <p:sp>
        <p:nvSpPr>
          <p:cNvPr id="2" name="Shape 0"/>
          <p:cNvSpPr/>
          <p:nvPr/>
        </p:nvSpPr>
        <p:spPr>
          <a:xfrm>
            <a:off x="502920" y="292608"/>
            <a:ext cx="1783080" cy="310896"/>
          </a:xfrm>
          <a:prstGeom prst="roundRect">
            <a:avLst>
              <a:gd name="adj" fmla="val 23529"/>
            </a:avLst>
          </a:prstGeom>
          <a:solidFill>
            <a:srgbClr val="DCEEFF"/>
          </a:solidFill>
          <a:ln w="12700">
            <a:solidFill>
              <a:srgbClr val="DCEEFF"/>
            </a:solidFill>
            <a:prstDash val="solid"/>
          </a:ln>
        </p:spPr>
      </p:sp>
      <p:sp>
        <p:nvSpPr>
          <p:cNvPr id="3" name="Text 1"/>
          <p:cNvSpPr/>
          <p:nvPr/>
        </p:nvSpPr>
        <p:spPr>
          <a:xfrm>
            <a:off x="502920" y="320040"/>
            <a:ext cx="1783080" cy="201168"/>
          </a:xfrm>
          <a:prstGeom prst="rect">
            <a:avLst/>
          </a:prstGeom>
          <a:noFill/>
          <a:ln/>
        </p:spPr>
        <p:txBody>
          <a:bodyPr wrap="square" lIns="0" tIns="0" rIns="0" bIns="0" rtlCol="0" anchor="ctr"/>
          <a:lstStyle/>
          <a:p>
            <a:pPr algn="ctr" indent="0" marL="0">
              <a:buNone/>
            </a:pPr>
            <a:r>
              <a:rPr lang="en-US" sz="900" b="1" spc="110" kern="0" dirty="0">
                <a:solidFill>
                  <a:srgbClr val="102A43"/>
                </a:solidFill>
                <a:latin typeface="Trebuchet MS" pitchFamily="34" charset="0"/>
                <a:ea typeface="Trebuchet MS" pitchFamily="34" charset="-122"/>
                <a:cs typeface="Trebuchet MS" pitchFamily="34" charset="-120"/>
              </a:rPr>
              <a:t>INDIVIDUAL ADDENDUM</a:t>
            </a:r>
            <a:endParaRPr lang="en-US" sz="900" dirty="0"/>
          </a:p>
        </p:txBody>
      </p:sp>
      <p:sp>
        <p:nvSpPr>
          <p:cNvPr id="4" name="Text 2"/>
          <p:cNvSpPr/>
          <p:nvPr/>
        </p:nvSpPr>
        <p:spPr>
          <a:xfrm>
            <a:off x="502920" y="658368"/>
            <a:ext cx="8046720" cy="420624"/>
          </a:xfrm>
          <a:prstGeom prst="rect">
            <a:avLst/>
          </a:prstGeom>
          <a:noFill/>
          <a:ln/>
        </p:spPr>
        <p:txBody>
          <a:bodyPr wrap="square" lIns="0" tIns="0" rIns="0" bIns="0" rtlCol="0" anchor="ctr">
            <a:normAutofit/>
          </a:bodyPr>
          <a:lstStyle/>
          <a:p>
            <a:pPr indent="0" marL="0">
              <a:buNone/>
            </a:pPr>
            <a:r>
              <a:rPr lang="en-US" sz="2400" b="1" dirty="0">
                <a:solidFill>
                  <a:srgbClr val="102A43"/>
                </a:solidFill>
                <a:latin typeface="Trebuchet MS" pitchFamily="34" charset="0"/>
                <a:ea typeface="Trebuchet MS" pitchFamily="34" charset="-122"/>
                <a:cs typeface="Trebuchet MS" pitchFamily="34" charset="-120"/>
              </a:rPr>
              <a:t>Individual addendum template (what to include)</a:t>
            </a:r>
            <a:endParaRPr lang="en-US" sz="2400" dirty="0"/>
          </a:p>
        </p:txBody>
      </p:sp>
      <p:sp>
        <p:nvSpPr>
          <p:cNvPr id="5" name="Text 3"/>
          <p:cNvSpPr/>
          <p:nvPr/>
        </p:nvSpPr>
        <p:spPr>
          <a:xfrm>
            <a:off x="502920" y="1024128"/>
            <a:ext cx="8138160" cy="310896"/>
          </a:xfrm>
          <a:prstGeom prst="rect">
            <a:avLst/>
          </a:prstGeom>
          <a:noFill/>
          <a:ln/>
        </p:spPr>
        <p:txBody>
          <a:bodyPr wrap="square" lIns="0" tIns="0" rIns="0" bIns="0" rtlCol="0" anchor="ctr">
            <a:normAutofit/>
          </a:bodyPr>
          <a:lstStyle/>
          <a:p>
            <a:pPr indent="0" marL="0">
              <a:buNone/>
            </a:pPr>
            <a:r>
              <a:rPr lang="en-US" sz="1050" dirty="0">
                <a:solidFill>
                  <a:srgbClr val="5F7084"/>
                </a:solidFill>
                <a:latin typeface="Aptos" pitchFamily="34" charset="0"/>
                <a:ea typeface="Aptos" pitchFamily="34" charset="-122"/>
                <a:cs typeface="Aptos" pitchFamily="34" charset="-120"/>
              </a:rPr>
              <a:t>Use this structure directly in individual submission pages.</a:t>
            </a:r>
            <a:endParaRPr lang="en-US" sz="1050" dirty="0"/>
          </a:p>
        </p:txBody>
      </p:sp>
      <p:sp>
        <p:nvSpPr>
          <p:cNvPr id="6" name="Shape 4"/>
          <p:cNvSpPr/>
          <p:nvPr/>
        </p:nvSpPr>
        <p:spPr>
          <a:xfrm>
            <a:off x="502920" y="1417320"/>
            <a:ext cx="3840480" cy="4526280"/>
          </a:xfrm>
          <a:prstGeom prst="roundRect">
            <a:avLst>
              <a:gd name="adj" fmla="val 2143"/>
            </a:avLst>
          </a:prstGeom>
          <a:solidFill>
            <a:srgbClr val="FFFFFF"/>
          </a:solidFill>
          <a:ln w="12700">
            <a:solidFill>
              <a:srgbClr val="DDE8F2"/>
            </a:solidFill>
            <a:prstDash val="solid"/>
          </a:ln>
          <a:effectLst>
            <a:outerShdw sx="100000" sy="100000" kx="0" ky="0" algn="bl" rotWithShape="0" blurRad="38100" dist="19050" dir="2700000">
              <a:srgbClr val="000000">
                <a:alpha val="7000"/>
              </a:srgbClr>
            </a:outerShdw>
          </a:effectLst>
        </p:spPr>
      </p:sp>
      <p:sp>
        <p:nvSpPr>
          <p:cNvPr id="7" name="Text 5"/>
          <p:cNvSpPr/>
          <p:nvPr/>
        </p:nvSpPr>
        <p:spPr>
          <a:xfrm>
            <a:off x="749808" y="1691640"/>
            <a:ext cx="3383280" cy="182880"/>
          </a:xfrm>
          <a:prstGeom prst="rect">
            <a:avLst/>
          </a:prstGeom>
          <a:noFill/>
          <a:ln/>
        </p:spPr>
        <p:txBody>
          <a:bodyPr wrap="square" lIns="0" tIns="0" rIns="0" bIns="0" rtlCol="0" anchor="ctr"/>
          <a:lstStyle/>
          <a:p>
            <a:pPr indent="0" marL="0">
              <a:buNone/>
            </a:pPr>
            <a:r>
              <a:rPr lang="en-US" sz="1300" b="1" dirty="0">
                <a:solidFill>
                  <a:srgbClr val="102A43"/>
                </a:solidFill>
                <a:latin typeface="Trebuchet MS" pitchFamily="34" charset="0"/>
                <a:ea typeface="Trebuchet MS" pitchFamily="34" charset="-122"/>
                <a:cs typeface="Trebuchet MS" pitchFamily="34" charset="-120"/>
              </a:rPr>
              <a:t>Personal contribution (2-4 bullets)</a:t>
            </a:r>
            <a:endParaRPr lang="en-US" sz="1300" dirty="0"/>
          </a:p>
        </p:txBody>
      </p:sp>
      <p:sp>
        <p:nvSpPr>
          <p:cNvPr id="8" name="Text 6"/>
          <p:cNvSpPr/>
          <p:nvPr/>
        </p:nvSpPr>
        <p:spPr>
          <a:xfrm>
            <a:off x="749808" y="2011680"/>
            <a:ext cx="3383280" cy="1143000"/>
          </a:xfrm>
          <a:prstGeom prst="rect">
            <a:avLst/>
          </a:prstGeom>
          <a:noFill/>
          <a:ln/>
        </p:spPr>
        <p:txBody>
          <a:bodyPr wrap="square" lIns="0" tIns="0" rIns="0" bIns="0" rtlCol="0" anchor="ctr">
            <a:normAutofit/>
          </a:bodyPr>
          <a:lstStyle/>
          <a:p>
            <a:pPr indent="0" marL="0">
              <a:buNone/>
            </a:pPr>
            <a:r>
              <a:rPr lang="en-US" sz="1080" dirty="0">
                <a:solidFill>
                  <a:srgbClr val="24364B"/>
                </a:solidFill>
                <a:latin typeface="Aptos" pitchFamily="34" charset="0"/>
                <a:ea typeface="Aptos" pitchFamily="34" charset="-122"/>
                <a:cs typeface="Aptos" pitchFamily="34" charset="-120"/>
              </a:rPr>
              <a:t>- Led M1 data cleaning and merge (20 hrs)</a:t>
            </a:r>
            <a:endParaRPr lang="en-US" sz="1080" dirty="0"/>
          </a:p>
          <a:p>
            <a:pPr indent="0" marL="0">
              <a:buNone/>
            </a:pPr>
            <a:r>
              <a:rPr lang="en-US" sz="1080" dirty="0">
                <a:solidFill>
                  <a:srgbClr val="24364B"/>
                </a:solidFill>
                <a:latin typeface="Aptos" pitchFamily="34" charset="0"/>
                <a:ea typeface="Aptos" pitchFamily="34" charset="-122"/>
                <a:cs typeface="Aptos" pitchFamily="34" charset="-120"/>
              </a:rPr>
              <a:t>- Built M2 lag analysis visuals (14 hrs)</a:t>
            </a:r>
            <a:endParaRPr lang="en-US" sz="1080" dirty="0"/>
          </a:p>
          <a:p>
            <a:pPr indent="0" marL="0">
              <a:buNone/>
            </a:pPr>
            <a:r>
              <a:rPr lang="en-US" sz="1080" dirty="0">
                <a:solidFill>
                  <a:srgbClr val="24364B"/>
                </a:solidFill>
                <a:latin typeface="Aptos" pitchFamily="34" charset="0"/>
                <a:ea typeface="Aptos" pitchFamily="34" charset="-122"/>
                <a:cs typeface="Aptos" pitchFamily="34" charset="-120"/>
              </a:rPr>
              <a:t>- Implemented M3 FE and robustness checks (18 hrs)</a:t>
            </a:r>
            <a:endParaRPr lang="en-US" sz="1080" dirty="0"/>
          </a:p>
        </p:txBody>
      </p:sp>
      <p:sp>
        <p:nvSpPr>
          <p:cNvPr id="9" name="Text 7"/>
          <p:cNvSpPr/>
          <p:nvPr/>
        </p:nvSpPr>
        <p:spPr>
          <a:xfrm>
            <a:off x="749808" y="3337560"/>
            <a:ext cx="3383280" cy="182880"/>
          </a:xfrm>
          <a:prstGeom prst="rect">
            <a:avLst/>
          </a:prstGeom>
          <a:noFill/>
          <a:ln/>
        </p:spPr>
        <p:txBody>
          <a:bodyPr wrap="square" lIns="0" tIns="0" rIns="0" bIns="0" rtlCol="0" anchor="ctr"/>
          <a:lstStyle/>
          <a:p>
            <a:pPr indent="0" marL="0">
              <a:buNone/>
            </a:pPr>
            <a:r>
              <a:rPr lang="en-US" sz="1300" b="1" dirty="0">
                <a:solidFill>
                  <a:srgbClr val="102A43"/>
                </a:solidFill>
                <a:latin typeface="Trebuchet MS" pitchFamily="34" charset="0"/>
                <a:ea typeface="Trebuchet MS" pitchFamily="34" charset="-122"/>
                <a:cs typeface="Trebuchet MS" pitchFamily="34" charset="-120"/>
              </a:rPr>
              <a:t>Defended decision (1 choice + evidence)</a:t>
            </a:r>
            <a:endParaRPr lang="en-US" sz="1300" dirty="0"/>
          </a:p>
        </p:txBody>
      </p:sp>
      <p:sp>
        <p:nvSpPr>
          <p:cNvPr id="10" name="Text 8"/>
          <p:cNvSpPr/>
          <p:nvPr/>
        </p:nvSpPr>
        <p:spPr>
          <a:xfrm>
            <a:off x="749808" y="3657600"/>
            <a:ext cx="3383280" cy="777240"/>
          </a:xfrm>
          <a:prstGeom prst="rect">
            <a:avLst/>
          </a:prstGeom>
          <a:noFill/>
          <a:ln/>
        </p:spPr>
        <p:txBody>
          <a:bodyPr wrap="square" lIns="0" tIns="0" rIns="0" bIns="0" rtlCol="0" anchor="ctr">
            <a:normAutofit/>
          </a:bodyPr>
          <a:lstStyle/>
          <a:p>
            <a:pPr indent="0" marL="0">
              <a:buNone/>
            </a:pPr>
            <a:r>
              <a:rPr lang="en-US" sz="1050" dirty="0">
                <a:solidFill>
                  <a:srgbClr val="24364B"/>
                </a:solidFill>
                <a:latin typeface="Aptos" pitchFamily="34" charset="0"/>
                <a:ea typeface="Aptos" pitchFamily="34" charset="-122"/>
                <a:cs typeface="Aptos" pitchFamily="34" charset="-120"/>
              </a:rPr>
              <a:t>Used a one-year lag because M2 patterns were strongest at 1-2 years and economic logic suggests policy effects are delayed.</a:t>
            </a:r>
            <a:endParaRPr lang="en-US" sz="1050" dirty="0"/>
          </a:p>
        </p:txBody>
      </p:sp>
      <p:sp>
        <p:nvSpPr>
          <p:cNvPr id="11" name="Shape 9"/>
          <p:cNvSpPr/>
          <p:nvPr/>
        </p:nvSpPr>
        <p:spPr>
          <a:xfrm>
            <a:off x="4572000" y="1417320"/>
            <a:ext cx="3840480" cy="4526280"/>
          </a:xfrm>
          <a:prstGeom prst="roundRect">
            <a:avLst>
              <a:gd name="adj" fmla="val 2143"/>
            </a:avLst>
          </a:prstGeom>
          <a:solidFill>
            <a:srgbClr val="FFFFFF"/>
          </a:solidFill>
          <a:ln w="12700">
            <a:solidFill>
              <a:srgbClr val="DDE8F2"/>
            </a:solidFill>
            <a:prstDash val="solid"/>
          </a:ln>
          <a:effectLst>
            <a:outerShdw sx="100000" sy="100000" kx="0" ky="0" algn="bl" rotWithShape="0" blurRad="38100" dist="19050" dir="2700000">
              <a:srgbClr val="000000">
                <a:alpha val="7000"/>
              </a:srgbClr>
            </a:outerShdw>
          </a:effectLst>
        </p:spPr>
      </p:sp>
      <p:sp>
        <p:nvSpPr>
          <p:cNvPr id="12" name="Text 10"/>
          <p:cNvSpPr/>
          <p:nvPr/>
        </p:nvSpPr>
        <p:spPr>
          <a:xfrm>
            <a:off x="4818888" y="1691640"/>
            <a:ext cx="3383280" cy="182880"/>
          </a:xfrm>
          <a:prstGeom prst="rect">
            <a:avLst/>
          </a:prstGeom>
          <a:noFill/>
          <a:ln/>
        </p:spPr>
        <p:txBody>
          <a:bodyPr wrap="square" lIns="0" tIns="0" rIns="0" bIns="0" rtlCol="0" anchor="ctr"/>
          <a:lstStyle/>
          <a:p>
            <a:pPr indent="0" marL="0">
              <a:buNone/>
            </a:pPr>
            <a:r>
              <a:rPr lang="en-US" sz="1300" b="1" dirty="0">
                <a:solidFill>
                  <a:srgbClr val="102A43"/>
                </a:solidFill>
                <a:latin typeface="Trebuchet MS" pitchFamily="34" charset="0"/>
                <a:ea typeface="Trebuchet MS" pitchFamily="34" charset="-122"/>
                <a:cs typeface="Trebuchet MS" pitchFamily="34" charset="-120"/>
              </a:rPr>
              <a:t>Key limitation</a:t>
            </a:r>
            <a:endParaRPr lang="en-US" sz="1300" dirty="0"/>
          </a:p>
        </p:txBody>
      </p:sp>
      <p:sp>
        <p:nvSpPr>
          <p:cNvPr id="13" name="Text 11"/>
          <p:cNvSpPr/>
          <p:nvPr/>
        </p:nvSpPr>
        <p:spPr>
          <a:xfrm>
            <a:off x="4818888" y="2011680"/>
            <a:ext cx="3383280" cy="822960"/>
          </a:xfrm>
          <a:prstGeom prst="rect">
            <a:avLst/>
          </a:prstGeom>
          <a:noFill/>
          <a:ln/>
        </p:spPr>
        <p:txBody>
          <a:bodyPr wrap="square" lIns="0" tIns="0" rIns="0" bIns="0" rtlCol="0" anchor="ctr">
            <a:normAutofit/>
          </a:bodyPr>
          <a:lstStyle/>
          <a:p>
            <a:pPr indent="0" marL="0">
              <a:buNone/>
            </a:pPr>
            <a:r>
              <a:rPr lang="en-US" sz="1080" dirty="0">
                <a:solidFill>
                  <a:srgbClr val="24364B"/>
                </a:solidFill>
                <a:latin typeface="Aptos" pitchFamily="34" charset="0"/>
                <a:ea typeface="Aptos" pitchFamily="34" charset="-122"/>
                <a:cs typeface="Aptos" pitchFamily="34" charset="-120"/>
              </a:rPr>
              <a:t>Lobbying participation is sparse and uneven, so estimated effects may mostly reflect larger firms and may miss smaller-firm behavior.</a:t>
            </a:r>
            <a:endParaRPr lang="en-US" sz="1080" dirty="0"/>
          </a:p>
        </p:txBody>
      </p:sp>
      <p:sp>
        <p:nvSpPr>
          <p:cNvPr id="14" name="Text 12"/>
          <p:cNvSpPr/>
          <p:nvPr/>
        </p:nvSpPr>
        <p:spPr>
          <a:xfrm>
            <a:off x="4818888" y="3063240"/>
            <a:ext cx="3383280" cy="182880"/>
          </a:xfrm>
          <a:prstGeom prst="rect">
            <a:avLst/>
          </a:prstGeom>
          <a:noFill/>
          <a:ln/>
        </p:spPr>
        <p:txBody>
          <a:bodyPr wrap="square" lIns="0" tIns="0" rIns="0" bIns="0" rtlCol="0" anchor="ctr"/>
          <a:lstStyle/>
          <a:p>
            <a:pPr indent="0" marL="0">
              <a:buNone/>
            </a:pPr>
            <a:r>
              <a:rPr lang="en-US" sz="1300" b="1" dirty="0">
                <a:solidFill>
                  <a:srgbClr val="102A43"/>
                </a:solidFill>
                <a:latin typeface="Trebuchet MS" pitchFamily="34" charset="0"/>
                <a:ea typeface="Trebuchet MS" pitchFamily="34" charset="-122"/>
                <a:cs typeface="Trebuchet MS" pitchFamily="34" charset="-120"/>
              </a:rPr>
              <a:t>AI audit notes</a:t>
            </a:r>
            <a:endParaRPr lang="en-US" sz="1300" dirty="0"/>
          </a:p>
        </p:txBody>
      </p:sp>
      <p:sp>
        <p:nvSpPr>
          <p:cNvPr id="15" name="Text 13"/>
          <p:cNvSpPr/>
          <p:nvPr/>
        </p:nvSpPr>
        <p:spPr>
          <a:xfrm>
            <a:off x="4818888" y="3383280"/>
            <a:ext cx="3383280" cy="777240"/>
          </a:xfrm>
          <a:prstGeom prst="rect">
            <a:avLst/>
          </a:prstGeom>
          <a:noFill/>
          <a:ln/>
        </p:spPr>
        <p:txBody>
          <a:bodyPr wrap="square" lIns="0" tIns="0" rIns="0" bIns="0" rtlCol="0" anchor="ctr">
            <a:normAutofit/>
          </a:bodyPr>
          <a:lstStyle/>
          <a:p>
            <a:pPr indent="0" marL="0">
              <a:buNone/>
            </a:pPr>
            <a:r>
              <a:rPr lang="en-US" sz="1050" dirty="0">
                <a:solidFill>
                  <a:srgbClr val="24364B"/>
                </a:solidFill>
                <a:latin typeface="Aptos" pitchFamily="34" charset="0"/>
                <a:ea typeface="Aptos" pitchFamily="34" charset="-122"/>
                <a:cs typeface="Aptos" pitchFamily="34" charset="-120"/>
              </a:rPr>
              <a:t>Document prompt, model output, and manual verification steps for any AI-assisted edits not already in the team appendix.</a:t>
            </a:r>
            <a:endParaRPr lang="en-US" sz="1050" dirty="0"/>
          </a:p>
        </p:txBody>
      </p:sp>
      <p:sp>
        <p:nvSpPr>
          <p:cNvPr id="16" name="Shape 14"/>
          <p:cNvSpPr/>
          <p:nvPr/>
        </p:nvSpPr>
        <p:spPr>
          <a:xfrm>
            <a:off x="4818888" y="4343400"/>
            <a:ext cx="3383280" cy="1097280"/>
          </a:xfrm>
          <a:prstGeom prst="roundRect">
            <a:avLst>
              <a:gd name="adj" fmla="val 7500"/>
            </a:avLst>
          </a:prstGeom>
          <a:solidFill>
            <a:srgbClr val="EDF5FF"/>
          </a:solidFill>
          <a:ln w="12700">
            <a:solidFill>
              <a:srgbClr val="DCEEFF"/>
            </a:solidFill>
            <a:prstDash val="solid"/>
          </a:ln>
          <a:effectLst>
            <a:outerShdw sx="100000" sy="100000" kx="0" ky="0" algn="bl" rotWithShape="0" blurRad="38100" dist="19050" dir="2700000">
              <a:srgbClr val="000000">
                <a:alpha val="75000"/>
              </a:srgbClr>
            </a:outerShdw>
          </a:effectLst>
        </p:spPr>
      </p:sp>
      <p:sp>
        <p:nvSpPr>
          <p:cNvPr id="17" name="Text 15"/>
          <p:cNvSpPr/>
          <p:nvPr/>
        </p:nvSpPr>
        <p:spPr>
          <a:xfrm>
            <a:off x="4983480" y="4645152"/>
            <a:ext cx="3063240" cy="274320"/>
          </a:xfrm>
          <a:prstGeom prst="rect">
            <a:avLst/>
          </a:prstGeom>
          <a:noFill/>
          <a:ln/>
        </p:spPr>
        <p:txBody>
          <a:bodyPr wrap="square" lIns="0" tIns="0" rIns="0" bIns="0" rtlCol="0" anchor="ctr">
            <a:normAutofit/>
          </a:bodyPr>
          <a:lstStyle/>
          <a:p>
            <a:pPr indent="0" marL="0">
              <a:buNone/>
            </a:pPr>
            <a:r>
              <a:rPr lang="en-US" sz="1020" b="1" dirty="0">
                <a:solidFill>
                  <a:srgbClr val="102A43"/>
                </a:solidFill>
                <a:latin typeface="Aptos" pitchFamily="34" charset="0"/>
                <a:ea typeface="Aptos" pitchFamily="34" charset="-122"/>
                <a:cs typeface="Aptos" pitchFamily="34" charset="-120"/>
              </a:rPr>
              <a:t>Template reference: individual_addendum_template.md</a:t>
            </a:r>
            <a:endParaRPr lang="en-US" sz="1020" dirty="0"/>
          </a:p>
        </p:txBody>
      </p:sp>
      <p:sp>
        <p:nvSpPr>
          <p:cNvPr id="18" name="Text 16"/>
          <p:cNvSpPr/>
          <p:nvPr/>
        </p:nvSpPr>
        <p:spPr>
          <a:xfrm>
            <a:off x="502920" y="6492240"/>
            <a:ext cx="8138160" cy="146304"/>
          </a:xfrm>
          <a:prstGeom prst="rect">
            <a:avLst/>
          </a:prstGeom>
          <a:noFill/>
          <a:ln/>
        </p:spPr>
        <p:txBody>
          <a:bodyPr wrap="square" lIns="0" tIns="0" rIns="0" bIns="0" rtlCol="0" anchor="ctr"/>
          <a:lstStyle/>
          <a:p>
            <a:pPr indent="0" marL="0">
              <a:buNone/>
            </a:pPr>
            <a:r>
              <a:rPr lang="en-US" sz="800" dirty="0">
                <a:solidFill>
                  <a:srgbClr val="5F7084"/>
                </a:solidFill>
                <a:latin typeface="Aptos" pitchFamily="34" charset="0"/>
                <a:ea typeface="Aptos" pitchFamily="34" charset="-122"/>
                <a:cs typeface="Aptos" pitchFamily="34" charset="-120"/>
              </a:rPr>
              <a:t>Keep addendum specific: tasks, hours, one defended decision, one limitation, and AI verification details.</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3F8FD"/>
        </a:solidFill>
      </p:bgPr>
    </p:bg>
    <p:spTree>
      <p:nvGrpSpPr>
        <p:cNvPr id="1" name=""/>
        <p:cNvGrpSpPr/>
        <p:nvPr/>
      </p:nvGrpSpPr>
      <p:grpSpPr>
        <a:xfrm>
          <a:off x="0" y="0"/>
          <a:ext cx="0" cy="0"/>
          <a:chOff x="0" y="0"/>
          <a:chExt cx="0" cy="0"/>
        </a:xfrm>
      </p:grpSpPr>
      <p:sp>
        <p:nvSpPr>
          <p:cNvPr id="2" name="Shape 0"/>
          <p:cNvSpPr/>
          <p:nvPr/>
        </p:nvSpPr>
        <p:spPr>
          <a:xfrm>
            <a:off x="502920" y="292608"/>
            <a:ext cx="1783080" cy="310896"/>
          </a:xfrm>
          <a:prstGeom prst="roundRect">
            <a:avLst>
              <a:gd name="adj" fmla="val 23529"/>
            </a:avLst>
          </a:prstGeom>
          <a:solidFill>
            <a:srgbClr val="DCEEFF"/>
          </a:solidFill>
          <a:ln w="12700">
            <a:solidFill>
              <a:srgbClr val="DCEEFF"/>
            </a:solidFill>
            <a:prstDash val="solid"/>
          </a:ln>
        </p:spPr>
      </p:sp>
      <p:sp>
        <p:nvSpPr>
          <p:cNvPr id="3" name="Text 1"/>
          <p:cNvSpPr/>
          <p:nvPr/>
        </p:nvSpPr>
        <p:spPr>
          <a:xfrm>
            <a:off x="502920" y="320040"/>
            <a:ext cx="1783080" cy="201168"/>
          </a:xfrm>
          <a:prstGeom prst="rect">
            <a:avLst/>
          </a:prstGeom>
          <a:noFill/>
          <a:ln/>
        </p:spPr>
        <p:txBody>
          <a:bodyPr wrap="square" lIns="0" tIns="0" rIns="0" bIns="0" rtlCol="0" anchor="ctr"/>
          <a:lstStyle/>
          <a:p>
            <a:pPr algn="ctr" indent="0" marL="0">
              <a:buNone/>
            </a:pPr>
            <a:r>
              <a:rPr lang="en-US" sz="900" b="1" spc="110" kern="0" dirty="0">
                <a:solidFill>
                  <a:srgbClr val="102A43"/>
                </a:solidFill>
                <a:latin typeface="Trebuchet MS" pitchFamily="34" charset="0"/>
                <a:ea typeface="Trebuchet MS" pitchFamily="34" charset="-122"/>
                <a:cs typeface="Trebuchet MS" pitchFamily="34" charset="-120"/>
              </a:rPr>
              <a:t>RUBRIC</a:t>
            </a:r>
            <a:endParaRPr lang="en-US" sz="900" dirty="0"/>
          </a:p>
        </p:txBody>
      </p:sp>
      <p:sp>
        <p:nvSpPr>
          <p:cNvPr id="4" name="Text 2"/>
          <p:cNvSpPr/>
          <p:nvPr/>
        </p:nvSpPr>
        <p:spPr>
          <a:xfrm>
            <a:off x="502920" y="658368"/>
            <a:ext cx="8046720" cy="420624"/>
          </a:xfrm>
          <a:prstGeom prst="rect">
            <a:avLst/>
          </a:prstGeom>
          <a:noFill/>
          <a:ln/>
        </p:spPr>
        <p:txBody>
          <a:bodyPr wrap="square" lIns="0" tIns="0" rIns="0" bIns="0" rtlCol="0" anchor="ctr">
            <a:normAutofit/>
          </a:bodyPr>
          <a:lstStyle/>
          <a:p>
            <a:pPr indent="0" marL="0">
              <a:buNone/>
            </a:pPr>
            <a:r>
              <a:rPr lang="en-US" sz="2400" b="1" dirty="0">
                <a:solidFill>
                  <a:srgbClr val="102A43"/>
                </a:solidFill>
                <a:latin typeface="Trebuchet MS" pitchFamily="34" charset="0"/>
                <a:ea typeface="Trebuchet MS" pitchFamily="34" charset="-122"/>
                <a:cs typeface="Trebuchet MS" pitchFamily="34" charset="-120"/>
              </a:rPr>
              <a:t>Grading rubric summary (50 points)</a:t>
            </a:r>
            <a:endParaRPr lang="en-US" sz="2400" dirty="0"/>
          </a:p>
        </p:txBody>
      </p:sp>
      <p:sp>
        <p:nvSpPr>
          <p:cNvPr id="5" name="Text 3"/>
          <p:cNvSpPr/>
          <p:nvPr/>
        </p:nvSpPr>
        <p:spPr>
          <a:xfrm>
            <a:off x="502920" y="1024128"/>
            <a:ext cx="8138160" cy="310896"/>
          </a:xfrm>
          <a:prstGeom prst="rect">
            <a:avLst/>
          </a:prstGeom>
          <a:noFill/>
          <a:ln/>
        </p:spPr>
        <p:txBody>
          <a:bodyPr wrap="square" lIns="0" tIns="0" rIns="0" bIns="0" rtlCol="0" anchor="ctr">
            <a:normAutofit/>
          </a:bodyPr>
          <a:lstStyle/>
          <a:p>
            <a:pPr indent="0" marL="0">
              <a:buNone/>
            </a:pPr>
            <a:r>
              <a:rPr lang="en-US" sz="1050" dirty="0">
                <a:solidFill>
                  <a:srgbClr val="5F7084"/>
                </a:solidFill>
                <a:latin typeface="Aptos" pitchFamily="34" charset="0"/>
                <a:ea typeface="Aptos" pitchFamily="34" charset="-122"/>
                <a:cs typeface="Aptos" pitchFamily="34" charset="-120"/>
              </a:rPr>
              <a:t>What graders are scoring and the reproducibility expectation.</a:t>
            </a:r>
            <a:endParaRPr lang="en-US" sz="1050" dirty="0"/>
          </a:p>
        </p:txBody>
      </p:sp>
      <p:sp>
        <p:nvSpPr>
          <p:cNvPr id="6" name="Shape 4"/>
          <p:cNvSpPr/>
          <p:nvPr/>
        </p:nvSpPr>
        <p:spPr>
          <a:xfrm>
            <a:off x="502920" y="1417320"/>
            <a:ext cx="7909560" cy="3840480"/>
          </a:xfrm>
          <a:prstGeom prst="roundRect">
            <a:avLst>
              <a:gd name="adj" fmla="val 2143"/>
            </a:avLst>
          </a:prstGeom>
          <a:solidFill>
            <a:srgbClr val="FFFFFF"/>
          </a:solidFill>
          <a:ln w="12700">
            <a:solidFill>
              <a:srgbClr val="DDE8F2"/>
            </a:solidFill>
            <a:prstDash val="solid"/>
          </a:ln>
          <a:effectLst>
            <a:outerShdw sx="100000" sy="100000" kx="0" ky="0" algn="bl" rotWithShape="0" blurRad="38100" dist="19050" dir="2700000">
              <a:srgbClr val="000000">
                <a:alpha val="7000"/>
              </a:srgbClr>
            </a:outerShdw>
          </a:effectLst>
        </p:spPr>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749808" y="1682496"/>
          <a:ext cx="7424928" cy="3200400"/>
        </p:xfrm>
        <a:graphic>
          <a:graphicData uri="http://schemas.openxmlformats.org/drawingml/2006/table">
            <a:tbl>
              <a:tblPr/>
              <a:tblGrid>
                <a:gridCol w="2011680"/>
                <a:gridCol w="685800"/>
                <a:gridCol w="4727448"/>
              </a:tblGrid>
              <a:tr h="347472">
                <a:tc>
                  <a:txBody>
                    <a:bodyPr/>
                    <a:lstStyle/>
                    <a:p>
                      <a:pPr algn="ctr" indent="0" marL="0">
                        <a:buNone/>
                      </a:pPr>
                      <a:r>
                        <a:rPr lang="en-US" sz="920" b="1" dirty="0">
                          <a:solidFill>
                            <a:srgbClr val="FFFFFF"/>
                          </a:solidFill>
                          <a:latin typeface="Aptos" pitchFamily="34" charset="0"/>
                          <a:ea typeface="Aptos" pitchFamily="34" charset="-122"/>
                          <a:cs typeface="Aptos" pitchFamily="34" charset="-120"/>
                        </a:rPr>
                        <a:t>Component</a:t>
                      </a:r>
                      <a:endParaRPr lang="en-US" sz="920" dirty="0">
                        <a:latin typeface="Aptos" charset="0"/>
                        <a:ea typeface="Aptos" charset="0"/>
                        <a:cs typeface="Aptos" charset="0"/>
                      </a:endParaRPr>
                    </a:p>
                  </a:txBody>
                  <a:tcPr marL="45720" marR="45720" marT="45720" marB="45720" anchor="mid">
                    <a:lnL w="12700" cap="flat" cmpd="sng" algn="ctr">
                      <a:solidFill>
                        <a:srgbClr val="C9D8E8"/>
                      </a:solidFill>
                      <a:prstDash val="solid"/>
                      <a:round/>
                      <a:headEnd type="none" w="med" len="med"/>
                      <a:tailEnd type="none" w="med" len="med"/>
                    </a:lnL>
                    <a:lnR w="12700" cap="flat" cmpd="sng" algn="ctr">
                      <a:solidFill>
                        <a:srgbClr val="C9D8E8"/>
                      </a:solidFill>
                      <a:prstDash val="solid"/>
                      <a:round/>
                      <a:headEnd type="none" w="med" len="med"/>
                      <a:tailEnd type="none" w="med" len="med"/>
                    </a:lnR>
                    <a:lnT w="12700" cap="flat" cmpd="sng" algn="ctr">
                      <a:solidFill>
                        <a:srgbClr val="C9D8E8"/>
                      </a:solidFill>
                      <a:prstDash val="solid"/>
                      <a:round/>
                      <a:headEnd type="none" w="med" len="med"/>
                      <a:tailEnd type="none" w="med" len="med"/>
                    </a:lnT>
                    <a:lnB w="12700" cap="flat" cmpd="sng" algn="ctr">
                      <a:solidFill>
                        <a:srgbClr val="C9D8E8"/>
                      </a:solidFill>
                      <a:prstDash val="solid"/>
                      <a:round/>
                      <a:headEnd type="none" w="med" len="med"/>
                      <a:tailEnd type="none" w="med" len="med"/>
                    </a:lnB>
                    <a:solidFill>
                      <a:srgbClr val="102A43"/>
                    </a:solidFill>
                  </a:tcPr>
                </a:tc>
                <a:tc>
                  <a:txBody>
                    <a:bodyPr/>
                    <a:lstStyle/>
                    <a:p>
                      <a:pPr algn="ctr" indent="0" marL="0">
                        <a:buNone/>
                      </a:pPr>
                      <a:r>
                        <a:rPr lang="en-US" sz="920" b="1" dirty="0">
                          <a:solidFill>
                            <a:srgbClr val="FFFFFF"/>
                          </a:solidFill>
                          <a:latin typeface="Aptos" pitchFamily="34" charset="0"/>
                          <a:ea typeface="Aptos" pitchFamily="34" charset="-122"/>
                          <a:cs typeface="Aptos" pitchFamily="34" charset="-120"/>
                        </a:rPr>
                        <a:t>Points</a:t>
                      </a:r>
                      <a:endParaRPr lang="en-US" sz="920" dirty="0">
                        <a:latin typeface="Aptos" charset="0"/>
                        <a:ea typeface="Aptos" charset="0"/>
                        <a:cs typeface="Aptos" charset="0"/>
                      </a:endParaRPr>
                    </a:p>
                  </a:txBody>
                  <a:tcPr marL="45720" marR="45720" marT="45720" marB="45720" anchor="mid">
                    <a:lnL w="12700" cap="flat" cmpd="sng" algn="ctr">
                      <a:solidFill>
                        <a:srgbClr val="C9D8E8"/>
                      </a:solidFill>
                      <a:prstDash val="solid"/>
                      <a:round/>
                      <a:headEnd type="none" w="med" len="med"/>
                      <a:tailEnd type="none" w="med" len="med"/>
                    </a:lnL>
                    <a:lnR w="12700" cap="flat" cmpd="sng" algn="ctr">
                      <a:solidFill>
                        <a:srgbClr val="C9D8E8"/>
                      </a:solidFill>
                      <a:prstDash val="solid"/>
                      <a:round/>
                      <a:headEnd type="none" w="med" len="med"/>
                      <a:tailEnd type="none" w="med" len="med"/>
                    </a:lnR>
                    <a:lnT w="12700" cap="flat" cmpd="sng" algn="ctr">
                      <a:solidFill>
                        <a:srgbClr val="C9D8E8"/>
                      </a:solidFill>
                      <a:prstDash val="solid"/>
                      <a:round/>
                      <a:headEnd type="none" w="med" len="med"/>
                      <a:tailEnd type="none" w="med" len="med"/>
                    </a:lnT>
                    <a:lnB w="12700" cap="flat" cmpd="sng" algn="ctr">
                      <a:solidFill>
                        <a:srgbClr val="C9D8E8"/>
                      </a:solidFill>
                      <a:prstDash val="solid"/>
                      <a:round/>
                      <a:headEnd type="none" w="med" len="med"/>
                      <a:tailEnd type="none" w="med" len="med"/>
                    </a:lnB>
                    <a:solidFill>
                      <a:srgbClr val="102A43"/>
                    </a:solidFill>
                  </a:tcPr>
                </a:tc>
                <a:tc>
                  <a:txBody>
                    <a:bodyPr/>
                    <a:lstStyle/>
                    <a:p>
                      <a:pPr algn="ctr" indent="0" marL="0">
                        <a:buNone/>
                      </a:pPr>
                      <a:r>
                        <a:rPr lang="en-US" sz="920" b="1" dirty="0">
                          <a:solidFill>
                            <a:srgbClr val="FFFFFF"/>
                          </a:solidFill>
                          <a:latin typeface="Aptos" pitchFamily="34" charset="0"/>
                          <a:ea typeface="Aptos" pitchFamily="34" charset="-122"/>
                          <a:cs typeface="Aptos" pitchFamily="34" charset="-120"/>
                        </a:rPr>
                        <a:t>What strong work looks like</a:t>
                      </a:r>
                      <a:endParaRPr lang="en-US" sz="920" dirty="0">
                        <a:latin typeface="Aptos" charset="0"/>
                        <a:ea typeface="Aptos" charset="0"/>
                        <a:cs typeface="Aptos" charset="0"/>
                      </a:endParaRPr>
                    </a:p>
                  </a:txBody>
                  <a:tcPr marL="45720" marR="45720" marT="45720" marB="45720" anchor="mid">
                    <a:lnL w="12700" cap="flat" cmpd="sng" algn="ctr">
                      <a:solidFill>
                        <a:srgbClr val="C9D8E8"/>
                      </a:solidFill>
                      <a:prstDash val="solid"/>
                      <a:round/>
                      <a:headEnd type="none" w="med" len="med"/>
                      <a:tailEnd type="none" w="med" len="med"/>
                    </a:lnL>
                    <a:lnR w="12700" cap="flat" cmpd="sng" algn="ctr">
                      <a:solidFill>
                        <a:srgbClr val="C9D8E8"/>
                      </a:solidFill>
                      <a:prstDash val="solid"/>
                      <a:round/>
                      <a:headEnd type="none" w="med" len="med"/>
                      <a:tailEnd type="none" w="med" len="med"/>
                    </a:lnR>
                    <a:lnT w="12700" cap="flat" cmpd="sng" algn="ctr">
                      <a:solidFill>
                        <a:srgbClr val="C9D8E8"/>
                      </a:solidFill>
                      <a:prstDash val="solid"/>
                      <a:round/>
                      <a:headEnd type="none" w="med" len="med"/>
                      <a:tailEnd type="none" w="med" len="med"/>
                    </a:lnT>
                    <a:lnB w="12700" cap="flat" cmpd="sng" algn="ctr">
                      <a:solidFill>
                        <a:srgbClr val="C9D8E8"/>
                      </a:solidFill>
                      <a:prstDash val="solid"/>
                      <a:round/>
                      <a:headEnd type="none" w="med" len="med"/>
                      <a:tailEnd type="none" w="med" len="med"/>
                    </a:lnB>
                    <a:solidFill>
                      <a:srgbClr val="102A43"/>
                    </a:solidFill>
                  </a:tcPr>
                </a:tc>
              </a:tr>
              <a:tr h="493776">
                <a:tc>
                  <a:txBody>
                    <a:bodyPr/>
                    <a:lstStyle/>
                    <a:p>
                      <a:pPr algn="ctr" indent="0" marL="0">
                        <a:buNone/>
                      </a:pPr>
                      <a:r>
                        <a:rPr lang="en-US" sz="920" dirty="0">
                          <a:solidFill>
                            <a:srgbClr val="24364B"/>
                          </a:solidFill>
                          <a:latin typeface="Aptos" pitchFamily="34" charset="0"/>
                          <a:ea typeface="Aptos" pitchFamily="34" charset="-122"/>
                          <a:cs typeface="Aptos" pitchFamily="34" charset="-120"/>
                        </a:rPr>
                        <a:t>Reproducibility and rigor</a:t>
                      </a:r>
                      <a:endParaRPr lang="en-US" sz="920" dirty="0">
                        <a:latin typeface="Aptos" charset="0"/>
                        <a:ea typeface="Aptos" charset="0"/>
                        <a:cs typeface="Aptos" charset="0"/>
                      </a:endParaRPr>
                    </a:p>
                  </a:txBody>
                  <a:tcPr marL="45720" marR="45720" marT="45720" marB="45720" anchor="mid">
                    <a:lnL w="12700" cap="flat" cmpd="sng" algn="ctr">
                      <a:solidFill>
                        <a:srgbClr val="C9D8E8"/>
                      </a:solidFill>
                      <a:prstDash val="solid"/>
                      <a:round/>
                      <a:headEnd type="none" w="med" len="med"/>
                      <a:tailEnd type="none" w="med" len="med"/>
                    </a:lnL>
                    <a:lnR w="12700" cap="flat" cmpd="sng" algn="ctr">
                      <a:solidFill>
                        <a:srgbClr val="C9D8E8"/>
                      </a:solidFill>
                      <a:prstDash val="solid"/>
                      <a:round/>
                      <a:headEnd type="none" w="med" len="med"/>
                      <a:tailEnd type="none" w="med" len="med"/>
                    </a:lnR>
                    <a:lnT w="12700" cap="flat" cmpd="sng" algn="ctr">
                      <a:solidFill>
                        <a:srgbClr val="C9D8E8"/>
                      </a:solidFill>
                      <a:prstDash val="solid"/>
                      <a:round/>
                      <a:headEnd type="none" w="med" len="med"/>
                      <a:tailEnd type="none" w="med" len="med"/>
                    </a:lnT>
                    <a:lnB w="12700" cap="flat" cmpd="sng" algn="ctr">
                      <a:solidFill>
                        <a:srgbClr val="C9D8E8"/>
                      </a:solidFill>
                      <a:prstDash val="solid"/>
                      <a:round/>
                      <a:headEnd type="none" w="med" len="med"/>
                      <a:tailEnd type="none" w="med" len="med"/>
                    </a:lnB>
                    <a:solidFill>
                      <a:srgbClr val="FFFFFF"/>
                    </a:solidFill>
                  </a:tcPr>
                </a:tc>
                <a:tc>
                  <a:txBody>
                    <a:bodyPr/>
                    <a:lstStyle/>
                    <a:p>
                      <a:pPr algn="ctr" indent="0" marL="0">
                        <a:buNone/>
                      </a:pPr>
                      <a:r>
                        <a:rPr lang="en-US" sz="920" dirty="0">
                          <a:solidFill>
                            <a:srgbClr val="24364B"/>
                          </a:solidFill>
                          <a:latin typeface="Aptos" pitchFamily="34" charset="0"/>
                          <a:ea typeface="Aptos" pitchFamily="34" charset="-122"/>
                          <a:cs typeface="Aptos" pitchFamily="34" charset="-120"/>
                        </a:rPr>
                        <a:t>10</a:t>
                      </a:r>
                      <a:endParaRPr lang="en-US" sz="920" dirty="0">
                        <a:latin typeface="Aptos" charset="0"/>
                        <a:ea typeface="Aptos" charset="0"/>
                        <a:cs typeface="Aptos" charset="0"/>
                      </a:endParaRPr>
                    </a:p>
                  </a:txBody>
                  <a:tcPr marL="45720" marR="45720" marT="45720" marB="45720" anchor="mid">
                    <a:lnL w="12700" cap="flat" cmpd="sng" algn="ctr">
                      <a:solidFill>
                        <a:srgbClr val="C9D8E8"/>
                      </a:solidFill>
                      <a:prstDash val="solid"/>
                      <a:round/>
                      <a:headEnd type="none" w="med" len="med"/>
                      <a:tailEnd type="none" w="med" len="med"/>
                    </a:lnL>
                    <a:lnR w="12700" cap="flat" cmpd="sng" algn="ctr">
                      <a:solidFill>
                        <a:srgbClr val="C9D8E8"/>
                      </a:solidFill>
                      <a:prstDash val="solid"/>
                      <a:round/>
                      <a:headEnd type="none" w="med" len="med"/>
                      <a:tailEnd type="none" w="med" len="med"/>
                    </a:lnR>
                    <a:lnT w="12700" cap="flat" cmpd="sng" algn="ctr">
                      <a:solidFill>
                        <a:srgbClr val="C9D8E8"/>
                      </a:solidFill>
                      <a:prstDash val="solid"/>
                      <a:round/>
                      <a:headEnd type="none" w="med" len="med"/>
                      <a:tailEnd type="none" w="med" len="med"/>
                    </a:lnT>
                    <a:lnB w="12700" cap="flat" cmpd="sng" algn="ctr">
                      <a:solidFill>
                        <a:srgbClr val="C9D8E8"/>
                      </a:solidFill>
                      <a:prstDash val="solid"/>
                      <a:round/>
                      <a:headEnd type="none" w="med" len="med"/>
                      <a:tailEnd type="none" w="med" len="med"/>
                    </a:lnB>
                    <a:solidFill>
                      <a:srgbClr val="FFFFFF"/>
                    </a:solidFill>
                  </a:tcPr>
                </a:tc>
                <a:tc>
                  <a:txBody>
                    <a:bodyPr/>
                    <a:lstStyle/>
                    <a:p>
                      <a:pPr algn="ctr" indent="0" marL="0">
                        <a:buNone/>
                      </a:pPr>
                      <a:r>
                        <a:rPr lang="en-US" sz="920" dirty="0">
                          <a:solidFill>
                            <a:srgbClr val="24364B"/>
                          </a:solidFill>
                          <a:latin typeface="Aptos" pitchFamily="34" charset="0"/>
                          <a:ea typeface="Aptos" pitchFamily="34" charset="-122"/>
                          <a:cs typeface="Aptos" pitchFamily="34" charset="-120"/>
                        </a:rPr>
                        <a:t>M1-M3 code runs end-to-end and matches memo outputs.</a:t>
                      </a:r>
                      <a:endParaRPr lang="en-US" sz="920" dirty="0">
                        <a:latin typeface="Aptos" charset="0"/>
                        <a:ea typeface="Aptos" charset="0"/>
                        <a:cs typeface="Aptos" charset="0"/>
                      </a:endParaRPr>
                    </a:p>
                  </a:txBody>
                  <a:tcPr marL="45720" marR="45720" marT="45720" marB="45720" anchor="mid">
                    <a:lnL w="12700" cap="flat" cmpd="sng" algn="ctr">
                      <a:solidFill>
                        <a:srgbClr val="C9D8E8"/>
                      </a:solidFill>
                      <a:prstDash val="solid"/>
                      <a:round/>
                      <a:headEnd type="none" w="med" len="med"/>
                      <a:tailEnd type="none" w="med" len="med"/>
                    </a:lnL>
                    <a:lnR w="12700" cap="flat" cmpd="sng" algn="ctr">
                      <a:solidFill>
                        <a:srgbClr val="C9D8E8"/>
                      </a:solidFill>
                      <a:prstDash val="solid"/>
                      <a:round/>
                      <a:headEnd type="none" w="med" len="med"/>
                      <a:tailEnd type="none" w="med" len="med"/>
                    </a:lnR>
                    <a:lnT w="12700" cap="flat" cmpd="sng" algn="ctr">
                      <a:solidFill>
                        <a:srgbClr val="C9D8E8"/>
                      </a:solidFill>
                      <a:prstDash val="solid"/>
                      <a:round/>
                      <a:headEnd type="none" w="med" len="med"/>
                      <a:tailEnd type="none" w="med" len="med"/>
                    </a:lnT>
                    <a:lnB w="12700" cap="flat" cmpd="sng" algn="ctr">
                      <a:solidFill>
                        <a:srgbClr val="C9D8E8"/>
                      </a:solidFill>
                      <a:prstDash val="solid"/>
                      <a:round/>
                      <a:headEnd type="none" w="med" len="med"/>
                      <a:tailEnd type="none" w="med" len="med"/>
                    </a:lnB>
                    <a:solidFill>
                      <a:srgbClr val="FFFFFF"/>
                    </a:solidFill>
                  </a:tcPr>
                </a:tc>
              </a:tr>
              <a:tr h="493776">
                <a:tc>
                  <a:txBody>
                    <a:bodyPr/>
                    <a:lstStyle/>
                    <a:p>
                      <a:pPr algn="ctr" indent="0" marL="0">
                        <a:buNone/>
                      </a:pPr>
                      <a:r>
                        <a:rPr lang="en-US" sz="920" dirty="0">
                          <a:solidFill>
                            <a:srgbClr val="24364B"/>
                          </a:solidFill>
                          <a:latin typeface="Aptos" pitchFamily="34" charset="0"/>
                          <a:ea typeface="Aptos" pitchFamily="34" charset="-122"/>
                          <a:cs typeface="Aptos" pitchFamily="34" charset="-120"/>
                        </a:rPr>
                        <a:t>Structure and clarity</a:t>
                      </a:r>
                      <a:endParaRPr lang="en-US" sz="920" dirty="0">
                        <a:latin typeface="Aptos" charset="0"/>
                        <a:ea typeface="Aptos" charset="0"/>
                        <a:cs typeface="Aptos" charset="0"/>
                      </a:endParaRPr>
                    </a:p>
                  </a:txBody>
                  <a:tcPr marL="45720" marR="45720" marT="45720" marB="45720" anchor="mid">
                    <a:lnL w="12700" cap="flat" cmpd="sng" algn="ctr">
                      <a:solidFill>
                        <a:srgbClr val="C9D8E8"/>
                      </a:solidFill>
                      <a:prstDash val="solid"/>
                      <a:round/>
                      <a:headEnd type="none" w="med" len="med"/>
                      <a:tailEnd type="none" w="med" len="med"/>
                    </a:lnL>
                    <a:lnR w="12700" cap="flat" cmpd="sng" algn="ctr">
                      <a:solidFill>
                        <a:srgbClr val="C9D8E8"/>
                      </a:solidFill>
                      <a:prstDash val="solid"/>
                      <a:round/>
                      <a:headEnd type="none" w="med" len="med"/>
                      <a:tailEnd type="none" w="med" len="med"/>
                    </a:lnR>
                    <a:lnT w="12700" cap="flat" cmpd="sng" algn="ctr">
                      <a:solidFill>
                        <a:srgbClr val="C9D8E8"/>
                      </a:solidFill>
                      <a:prstDash val="solid"/>
                      <a:round/>
                      <a:headEnd type="none" w="med" len="med"/>
                      <a:tailEnd type="none" w="med" len="med"/>
                    </a:lnT>
                    <a:lnB w="12700" cap="flat" cmpd="sng" algn="ctr">
                      <a:solidFill>
                        <a:srgbClr val="C9D8E8"/>
                      </a:solidFill>
                      <a:prstDash val="solid"/>
                      <a:round/>
                      <a:headEnd type="none" w="med" len="med"/>
                      <a:tailEnd type="none" w="med" len="med"/>
                    </a:lnB>
                    <a:solidFill>
                      <a:srgbClr val="FFFFFF"/>
                    </a:solidFill>
                  </a:tcPr>
                </a:tc>
                <a:tc>
                  <a:txBody>
                    <a:bodyPr/>
                    <a:lstStyle/>
                    <a:p>
                      <a:pPr algn="ctr" indent="0" marL="0">
                        <a:buNone/>
                      </a:pPr>
                      <a:r>
                        <a:rPr lang="en-US" sz="920" dirty="0">
                          <a:solidFill>
                            <a:srgbClr val="24364B"/>
                          </a:solidFill>
                          <a:latin typeface="Aptos" pitchFamily="34" charset="0"/>
                          <a:ea typeface="Aptos" pitchFamily="34" charset="-122"/>
                          <a:cs typeface="Aptos" pitchFamily="34" charset="-120"/>
                        </a:rPr>
                        <a:t>10</a:t>
                      </a:r>
                      <a:endParaRPr lang="en-US" sz="920" dirty="0">
                        <a:latin typeface="Aptos" charset="0"/>
                        <a:ea typeface="Aptos" charset="0"/>
                        <a:cs typeface="Aptos" charset="0"/>
                      </a:endParaRPr>
                    </a:p>
                  </a:txBody>
                  <a:tcPr marL="45720" marR="45720" marT="45720" marB="45720" anchor="mid">
                    <a:lnL w="12700" cap="flat" cmpd="sng" algn="ctr">
                      <a:solidFill>
                        <a:srgbClr val="C9D8E8"/>
                      </a:solidFill>
                      <a:prstDash val="solid"/>
                      <a:round/>
                      <a:headEnd type="none" w="med" len="med"/>
                      <a:tailEnd type="none" w="med" len="med"/>
                    </a:lnL>
                    <a:lnR w="12700" cap="flat" cmpd="sng" algn="ctr">
                      <a:solidFill>
                        <a:srgbClr val="C9D8E8"/>
                      </a:solidFill>
                      <a:prstDash val="solid"/>
                      <a:round/>
                      <a:headEnd type="none" w="med" len="med"/>
                      <a:tailEnd type="none" w="med" len="med"/>
                    </a:lnR>
                    <a:lnT w="12700" cap="flat" cmpd="sng" algn="ctr">
                      <a:solidFill>
                        <a:srgbClr val="C9D8E8"/>
                      </a:solidFill>
                      <a:prstDash val="solid"/>
                      <a:round/>
                      <a:headEnd type="none" w="med" len="med"/>
                      <a:tailEnd type="none" w="med" len="med"/>
                    </a:lnT>
                    <a:lnB w="12700" cap="flat" cmpd="sng" algn="ctr">
                      <a:solidFill>
                        <a:srgbClr val="C9D8E8"/>
                      </a:solidFill>
                      <a:prstDash val="solid"/>
                      <a:round/>
                      <a:headEnd type="none" w="med" len="med"/>
                      <a:tailEnd type="none" w="med" len="med"/>
                    </a:lnB>
                    <a:solidFill>
                      <a:srgbClr val="FFFFFF"/>
                    </a:solidFill>
                  </a:tcPr>
                </a:tc>
                <a:tc>
                  <a:txBody>
                    <a:bodyPr/>
                    <a:lstStyle/>
                    <a:p>
                      <a:pPr algn="ctr" indent="0" marL="0">
                        <a:buNone/>
                      </a:pPr>
                      <a:r>
                        <a:rPr lang="en-US" sz="920" dirty="0">
                          <a:solidFill>
                            <a:srgbClr val="24364B"/>
                          </a:solidFill>
                          <a:latin typeface="Aptos" pitchFamily="34" charset="0"/>
                          <a:ea typeface="Aptos" pitchFamily="34" charset="-122"/>
                          <a:cs typeface="Aptos" pitchFamily="34" charset="-120"/>
                        </a:rPr>
                        <a:t>Clean organization and non-jargon explanations.</a:t>
                      </a:r>
                      <a:endParaRPr lang="en-US" sz="920" dirty="0">
                        <a:latin typeface="Aptos" charset="0"/>
                        <a:ea typeface="Aptos" charset="0"/>
                        <a:cs typeface="Aptos" charset="0"/>
                      </a:endParaRPr>
                    </a:p>
                  </a:txBody>
                  <a:tcPr marL="45720" marR="45720" marT="45720" marB="45720" anchor="mid">
                    <a:lnL w="12700" cap="flat" cmpd="sng" algn="ctr">
                      <a:solidFill>
                        <a:srgbClr val="C9D8E8"/>
                      </a:solidFill>
                      <a:prstDash val="solid"/>
                      <a:round/>
                      <a:headEnd type="none" w="med" len="med"/>
                      <a:tailEnd type="none" w="med" len="med"/>
                    </a:lnL>
                    <a:lnR w="12700" cap="flat" cmpd="sng" algn="ctr">
                      <a:solidFill>
                        <a:srgbClr val="C9D8E8"/>
                      </a:solidFill>
                      <a:prstDash val="solid"/>
                      <a:round/>
                      <a:headEnd type="none" w="med" len="med"/>
                      <a:tailEnd type="none" w="med" len="med"/>
                    </a:lnR>
                    <a:lnT w="12700" cap="flat" cmpd="sng" algn="ctr">
                      <a:solidFill>
                        <a:srgbClr val="C9D8E8"/>
                      </a:solidFill>
                      <a:prstDash val="solid"/>
                      <a:round/>
                      <a:headEnd type="none" w="med" len="med"/>
                      <a:tailEnd type="none" w="med" len="med"/>
                    </a:lnT>
                    <a:lnB w="12700" cap="flat" cmpd="sng" algn="ctr">
                      <a:solidFill>
                        <a:srgbClr val="C9D8E8"/>
                      </a:solidFill>
                      <a:prstDash val="solid"/>
                      <a:round/>
                      <a:headEnd type="none" w="med" len="med"/>
                      <a:tailEnd type="none" w="med" len="med"/>
                    </a:lnB>
                    <a:solidFill>
                      <a:srgbClr val="FFFFFF"/>
                    </a:solidFill>
                  </a:tcPr>
                </a:tc>
              </a:tr>
              <a:tr h="493776">
                <a:tc>
                  <a:txBody>
                    <a:bodyPr/>
                    <a:lstStyle/>
                    <a:p>
                      <a:pPr algn="ctr" indent="0" marL="0">
                        <a:buNone/>
                      </a:pPr>
                      <a:r>
                        <a:rPr lang="en-US" sz="920" dirty="0">
                          <a:solidFill>
                            <a:srgbClr val="24364B"/>
                          </a:solidFill>
                          <a:latin typeface="Aptos" pitchFamily="34" charset="0"/>
                          <a:ea typeface="Aptos" pitchFamily="34" charset="-122"/>
                          <a:cs typeface="Aptos" pitchFamily="34" charset="-120"/>
                        </a:rPr>
                        <a:t>Results and interpretation</a:t>
                      </a:r>
                      <a:endParaRPr lang="en-US" sz="920" dirty="0">
                        <a:latin typeface="Aptos" charset="0"/>
                        <a:ea typeface="Aptos" charset="0"/>
                        <a:cs typeface="Aptos" charset="0"/>
                      </a:endParaRPr>
                    </a:p>
                  </a:txBody>
                  <a:tcPr marL="45720" marR="45720" marT="45720" marB="45720" anchor="mid">
                    <a:lnL w="12700" cap="flat" cmpd="sng" algn="ctr">
                      <a:solidFill>
                        <a:srgbClr val="C9D8E8"/>
                      </a:solidFill>
                      <a:prstDash val="solid"/>
                      <a:round/>
                      <a:headEnd type="none" w="med" len="med"/>
                      <a:tailEnd type="none" w="med" len="med"/>
                    </a:lnL>
                    <a:lnR w="12700" cap="flat" cmpd="sng" algn="ctr">
                      <a:solidFill>
                        <a:srgbClr val="C9D8E8"/>
                      </a:solidFill>
                      <a:prstDash val="solid"/>
                      <a:round/>
                      <a:headEnd type="none" w="med" len="med"/>
                      <a:tailEnd type="none" w="med" len="med"/>
                    </a:lnR>
                    <a:lnT w="12700" cap="flat" cmpd="sng" algn="ctr">
                      <a:solidFill>
                        <a:srgbClr val="C9D8E8"/>
                      </a:solidFill>
                      <a:prstDash val="solid"/>
                      <a:round/>
                      <a:headEnd type="none" w="med" len="med"/>
                      <a:tailEnd type="none" w="med" len="med"/>
                    </a:lnT>
                    <a:lnB w="12700" cap="flat" cmpd="sng" algn="ctr">
                      <a:solidFill>
                        <a:srgbClr val="C9D8E8"/>
                      </a:solidFill>
                      <a:prstDash val="solid"/>
                      <a:round/>
                      <a:headEnd type="none" w="med" len="med"/>
                      <a:tailEnd type="none" w="med" len="med"/>
                    </a:lnB>
                    <a:solidFill>
                      <a:srgbClr val="FFFFFF"/>
                    </a:solidFill>
                  </a:tcPr>
                </a:tc>
                <a:tc>
                  <a:txBody>
                    <a:bodyPr/>
                    <a:lstStyle/>
                    <a:p>
                      <a:pPr algn="ctr" indent="0" marL="0">
                        <a:buNone/>
                      </a:pPr>
                      <a:r>
                        <a:rPr lang="en-US" sz="920" dirty="0">
                          <a:solidFill>
                            <a:srgbClr val="24364B"/>
                          </a:solidFill>
                          <a:latin typeface="Aptos" pitchFamily="34" charset="0"/>
                          <a:ea typeface="Aptos" pitchFamily="34" charset="-122"/>
                          <a:cs typeface="Aptos" pitchFamily="34" charset="-120"/>
                        </a:rPr>
                        <a:t>12</a:t>
                      </a:r>
                      <a:endParaRPr lang="en-US" sz="920" dirty="0">
                        <a:latin typeface="Aptos" charset="0"/>
                        <a:ea typeface="Aptos" charset="0"/>
                        <a:cs typeface="Aptos" charset="0"/>
                      </a:endParaRPr>
                    </a:p>
                  </a:txBody>
                  <a:tcPr marL="45720" marR="45720" marT="45720" marB="45720" anchor="mid">
                    <a:lnL w="12700" cap="flat" cmpd="sng" algn="ctr">
                      <a:solidFill>
                        <a:srgbClr val="C9D8E8"/>
                      </a:solidFill>
                      <a:prstDash val="solid"/>
                      <a:round/>
                      <a:headEnd type="none" w="med" len="med"/>
                      <a:tailEnd type="none" w="med" len="med"/>
                    </a:lnL>
                    <a:lnR w="12700" cap="flat" cmpd="sng" algn="ctr">
                      <a:solidFill>
                        <a:srgbClr val="C9D8E8"/>
                      </a:solidFill>
                      <a:prstDash val="solid"/>
                      <a:round/>
                      <a:headEnd type="none" w="med" len="med"/>
                      <a:tailEnd type="none" w="med" len="med"/>
                    </a:lnR>
                    <a:lnT w="12700" cap="flat" cmpd="sng" algn="ctr">
                      <a:solidFill>
                        <a:srgbClr val="C9D8E8"/>
                      </a:solidFill>
                      <a:prstDash val="solid"/>
                      <a:round/>
                      <a:headEnd type="none" w="med" len="med"/>
                      <a:tailEnd type="none" w="med" len="med"/>
                    </a:lnT>
                    <a:lnB w="12700" cap="flat" cmpd="sng" algn="ctr">
                      <a:solidFill>
                        <a:srgbClr val="C9D8E8"/>
                      </a:solidFill>
                      <a:prstDash val="solid"/>
                      <a:round/>
                      <a:headEnd type="none" w="med" len="med"/>
                      <a:tailEnd type="none" w="med" len="med"/>
                    </a:lnB>
                    <a:solidFill>
                      <a:srgbClr val="FFFFFF"/>
                    </a:solidFill>
                  </a:tcPr>
                </a:tc>
                <a:tc>
                  <a:txBody>
                    <a:bodyPr/>
                    <a:lstStyle/>
                    <a:p>
                      <a:pPr algn="ctr" indent="0" marL="0">
                        <a:buNone/>
                      </a:pPr>
                      <a:r>
                        <a:rPr lang="en-US" sz="920" dirty="0">
                          <a:solidFill>
                            <a:srgbClr val="24364B"/>
                          </a:solidFill>
                          <a:latin typeface="Aptos" pitchFamily="34" charset="0"/>
                          <a:ea typeface="Aptos" pitchFamily="34" charset="-122"/>
                          <a:cs typeface="Aptos" pitchFamily="34" charset="-120"/>
                        </a:rPr>
                        <a:t>Publication-ready tables/figures and economic meaning.</a:t>
                      </a:r>
                      <a:endParaRPr lang="en-US" sz="920" dirty="0">
                        <a:latin typeface="Aptos" charset="0"/>
                        <a:ea typeface="Aptos" charset="0"/>
                        <a:cs typeface="Aptos" charset="0"/>
                      </a:endParaRPr>
                    </a:p>
                  </a:txBody>
                  <a:tcPr marL="45720" marR="45720" marT="45720" marB="45720" anchor="mid">
                    <a:lnL w="12700" cap="flat" cmpd="sng" algn="ctr">
                      <a:solidFill>
                        <a:srgbClr val="C9D8E8"/>
                      </a:solidFill>
                      <a:prstDash val="solid"/>
                      <a:round/>
                      <a:headEnd type="none" w="med" len="med"/>
                      <a:tailEnd type="none" w="med" len="med"/>
                    </a:lnL>
                    <a:lnR w="12700" cap="flat" cmpd="sng" algn="ctr">
                      <a:solidFill>
                        <a:srgbClr val="C9D8E8"/>
                      </a:solidFill>
                      <a:prstDash val="solid"/>
                      <a:round/>
                      <a:headEnd type="none" w="med" len="med"/>
                      <a:tailEnd type="none" w="med" len="med"/>
                    </a:lnR>
                    <a:lnT w="12700" cap="flat" cmpd="sng" algn="ctr">
                      <a:solidFill>
                        <a:srgbClr val="C9D8E8"/>
                      </a:solidFill>
                      <a:prstDash val="solid"/>
                      <a:round/>
                      <a:headEnd type="none" w="med" len="med"/>
                      <a:tailEnd type="none" w="med" len="med"/>
                    </a:lnT>
                    <a:lnB w="12700" cap="flat" cmpd="sng" algn="ctr">
                      <a:solidFill>
                        <a:srgbClr val="C9D8E8"/>
                      </a:solidFill>
                      <a:prstDash val="solid"/>
                      <a:round/>
                      <a:headEnd type="none" w="med" len="med"/>
                      <a:tailEnd type="none" w="med" len="med"/>
                    </a:lnB>
                    <a:solidFill>
                      <a:srgbClr val="FFFFFF"/>
                    </a:solidFill>
                  </a:tcPr>
                </a:tc>
              </a:tr>
              <a:tr h="493776">
                <a:tc>
                  <a:txBody>
                    <a:bodyPr/>
                    <a:lstStyle/>
                    <a:p>
                      <a:pPr algn="ctr" indent="0" marL="0">
                        <a:buNone/>
                      </a:pPr>
                      <a:r>
                        <a:rPr lang="en-US" sz="920" dirty="0">
                          <a:solidFill>
                            <a:srgbClr val="24364B"/>
                          </a:solidFill>
                          <a:latin typeface="Aptos" pitchFamily="34" charset="0"/>
                          <a:ea typeface="Aptos" pitchFamily="34" charset="-122"/>
                          <a:cs typeface="Aptos" pitchFamily="34" charset="-120"/>
                        </a:rPr>
                        <a:t>Recommendations and caveats</a:t>
                      </a:r>
                      <a:endParaRPr lang="en-US" sz="920" dirty="0">
                        <a:latin typeface="Aptos" charset="0"/>
                        <a:ea typeface="Aptos" charset="0"/>
                        <a:cs typeface="Aptos" charset="0"/>
                      </a:endParaRPr>
                    </a:p>
                  </a:txBody>
                  <a:tcPr marL="45720" marR="45720" marT="45720" marB="45720" anchor="mid">
                    <a:lnL w="12700" cap="flat" cmpd="sng" algn="ctr">
                      <a:solidFill>
                        <a:srgbClr val="C9D8E8"/>
                      </a:solidFill>
                      <a:prstDash val="solid"/>
                      <a:round/>
                      <a:headEnd type="none" w="med" len="med"/>
                      <a:tailEnd type="none" w="med" len="med"/>
                    </a:lnL>
                    <a:lnR w="12700" cap="flat" cmpd="sng" algn="ctr">
                      <a:solidFill>
                        <a:srgbClr val="C9D8E8"/>
                      </a:solidFill>
                      <a:prstDash val="solid"/>
                      <a:round/>
                      <a:headEnd type="none" w="med" len="med"/>
                      <a:tailEnd type="none" w="med" len="med"/>
                    </a:lnR>
                    <a:lnT w="12700" cap="flat" cmpd="sng" algn="ctr">
                      <a:solidFill>
                        <a:srgbClr val="C9D8E8"/>
                      </a:solidFill>
                      <a:prstDash val="solid"/>
                      <a:round/>
                      <a:headEnd type="none" w="med" len="med"/>
                      <a:tailEnd type="none" w="med" len="med"/>
                    </a:lnT>
                    <a:lnB w="12700" cap="flat" cmpd="sng" algn="ctr">
                      <a:solidFill>
                        <a:srgbClr val="C9D8E8"/>
                      </a:solidFill>
                      <a:prstDash val="solid"/>
                      <a:round/>
                      <a:headEnd type="none" w="med" len="med"/>
                      <a:tailEnd type="none" w="med" len="med"/>
                    </a:lnB>
                    <a:solidFill>
                      <a:srgbClr val="FFFFFF"/>
                    </a:solidFill>
                  </a:tcPr>
                </a:tc>
                <a:tc>
                  <a:txBody>
                    <a:bodyPr/>
                    <a:lstStyle/>
                    <a:p>
                      <a:pPr algn="ctr" indent="0" marL="0">
                        <a:buNone/>
                      </a:pPr>
                      <a:r>
                        <a:rPr lang="en-US" sz="920" dirty="0">
                          <a:solidFill>
                            <a:srgbClr val="24364B"/>
                          </a:solidFill>
                          <a:latin typeface="Aptos" pitchFamily="34" charset="0"/>
                          <a:ea typeface="Aptos" pitchFamily="34" charset="-122"/>
                          <a:cs typeface="Aptos" pitchFamily="34" charset="-120"/>
                        </a:rPr>
                        <a:t>8</a:t>
                      </a:r>
                      <a:endParaRPr lang="en-US" sz="920" dirty="0">
                        <a:latin typeface="Aptos" charset="0"/>
                        <a:ea typeface="Aptos" charset="0"/>
                        <a:cs typeface="Aptos" charset="0"/>
                      </a:endParaRPr>
                    </a:p>
                  </a:txBody>
                  <a:tcPr marL="45720" marR="45720" marT="45720" marB="45720" anchor="mid">
                    <a:lnL w="12700" cap="flat" cmpd="sng" algn="ctr">
                      <a:solidFill>
                        <a:srgbClr val="C9D8E8"/>
                      </a:solidFill>
                      <a:prstDash val="solid"/>
                      <a:round/>
                      <a:headEnd type="none" w="med" len="med"/>
                      <a:tailEnd type="none" w="med" len="med"/>
                    </a:lnL>
                    <a:lnR w="12700" cap="flat" cmpd="sng" algn="ctr">
                      <a:solidFill>
                        <a:srgbClr val="C9D8E8"/>
                      </a:solidFill>
                      <a:prstDash val="solid"/>
                      <a:round/>
                      <a:headEnd type="none" w="med" len="med"/>
                      <a:tailEnd type="none" w="med" len="med"/>
                    </a:lnR>
                    <a:lnT w="12700" cap="flat" cmpd="sng" algn="ctr">
                      <a:solidFill>
                        <a:srgbClr val="C9D8E8"/>
                      </a:solidFill>
                      <a:prstDash val="solid"/>
                      <a:round/>
                      <a:headEnd type="none" w="med" len="med"/>
                      <a:tailEnd type="none" w="med" len="med"/>
                    </a:lnT>
                    <a:lnB w="12700" cap="flat" cmpd="sng" algn="ctr">
                      <a:solidFill>
                        <a:srgbClr val="C9D8E8"/>
                      </a:solidFill>
                      <a:prstDash val="solid"/>
                      <a:round/>
                      <a:headEnd type="none" w="med" len="med"/>
                      <a:tailEnd type="none" w="med" len="med"/>
                    </a:lnB>
                    <a:solidFill>
                      <a:srgbClr val="FFFFFF"/>
                    </a:solidFill>
                  </a:tcPr>
                </a:tc>
                <a:tc>
                  <a:txBody>
                    <a:bodyPr/>
                    <a:lstStyle/>
                    <a:p>
                      <a:pPr algn="ctr" indent="0" marL="0">
                        <a:buNone/>
                      </a:pPr>
                      <a:r>
                        <a:rPr lang="en-US" sz="920" dirty="0">
                          <a:solidFill>
                            <a:srgbClr val="24364B"/>
                          </a:solidFill>
                          <a:latin typeface="Aptos" pitchFamily="34" charset="0"/>
                          <a:ea typeface="Aptos" pitchFamily="34" charset="-122"/>
                          <a:cs typeface="Aptos" pitchFamily="34" charset="-120"/>
                        </a:rPr>
                        <a:t>Actionable advice plus honest limitations.</a:t>
                      </a:r>
                      <a:endParaRPr lang="en-US" sz="920" dirty="0">
                        <a:latin typeface="Aptos" charset="0"/>
                        <a:ea typeface="Aptos" charset="0"/>
                        <a:cs typeface="Aptos" charset="0"/>
                      </a:endParaRPr>
                    </a:p>
                  </a:txBody>
                  <a:tcPr marL="45720" marR="45720" marT="45720" marB="45720" anchor="mid">
                    <a:lnL w="12700" cap="flat" cmpd="sng" algn="ctr">
                      <a:solidFill>
                        <a:srgbClr val="C9D8E8"/>
                      </a:solidFill>
                      <a:prstDash val="solid"/>
                      <a:round/>
                      <a:headEnd type="none" w="med" len="med"/>
                      <a:tailEnd type="none" w="med" len="med"/>
                    </a:lnL>
                    <a:lnR w="12700" cap="flat" cmpd="sng" algn="ctr">
                      <a:solidFill>
                        <a:srgbClr val="C9D8E8"/>
                      </a:solidFill>
                      <a:prstDash val="solid"/>
                      <a:round/>
                      <a:headEnd type="none" w="med" len="med"/>
                      <a:tailEnd type="none" w="med" len="med"/>
                    </a:lnR>
                    <a:lnT w="12700" cap="flat" cmpd="sng" algn="ctr">
                      <a:solidFill>
                        <a:srgbClr val="C9D8E8"/>
                      </a:solidFill>
                      <a:prstDash val="solid"/>
                      <a:round/>
                      <a:headEnd type="none" w="med" len="med"/>
                      <a:tailEnd type="none" w="med" len="med"/>
                    </a:lnT>
                    <a:lnB w="12700" cap="flat" cmpd="sng" algn="ctr">
                      <a:solidFill>
                        <a:srgbClr val="C9D8E8"/>
                      </a:solidFill>
                      <a:prstDash val="solid"/>
                      <a:round/>
                      <a:headEnd type="none" w="med" len="med"/>
                      <a:tailEnd type="none" w="med" len="med"/>
                    </a:lnB>
                    <a:solidFill>
                      <a:srgbClr val="FFFFFF"/>
                    </a:solidFill>
                  </a:tcPr>
                </a:tc>
              </a:tr>
              <a:tr h="493776">
                <a:tc>
                  <a:txBody>
                    <a:bodyPr/>
                    <a:lstStyle/>
                    <a:p>
                      <a:pPr algn="ctr" indent="0" marL="0">
                        <a:buNone/>
                      </a:pPr>
                      <a:r>
                        <a:rPr lang="en-US" sz="920" dirty="0">
                          <a:solidFill>
                            <a:srgbClr val="24364B"/>
                          </a:solidFill>
                          <a:latin typeface="Aptos" pitchFamily="34" charset="0"/>
                          <a:ea typeface="Aptos" pitchFamily="34" charset="-122"/>
                          <a:cs typeface="Aptos" pitchFamily="34" charset="-120"/>
                        </a:rPr>
                        <a:t>Individual addendum</a:t>
                      </a:r>
                      <a:endParaRPr lang="en-US" sz="920" dirty="0">
                        <a:latin typeface="Aptos" charset="0"/>
                        <a:ea typeface="Aptos" charset="0"/>
                        <a:cs typeface="Aptos" charset="0"/>
                      </a:endParaRPr>
                    </a:p>
                  </a:txBody>
                  <a:tcPr marL="45720" marR="45720" marT="45720" marB="45720" anchor="mid">
                    <a:lnL w="12700" cap="flat" cmpd="sng" algn="ctr">
                      <a:solidFill>
                        <a:srgbClr val="C9D8E8"/>
                      </a:solidFill>
                      <a:prstDash val="solid"/>
                      <a:round/>
                      <a:headEnd type="none" w="med" len="med"/>
                      <a:tailEnd type="none" w="med" len="med"/>
                    </a:lnL>
                    <a:lnR w="12700" cap="flat" cmpd="sng" algn="ctr">
                      <a:solidFill>
                        <a:srgbClr val="C9D8E8"/>
                      </a:solidFill>
                      <a:prstDash val="solid"/>
                      <a:round/>
                      <a:headEnd type="none" w="med" len="med"/>
                      <a:tailEnd type="none" w="med" len="med"/>
                    </a:lnR>
                    <a:lnT w="12700" cap="flat" cmpd="sng" algn="ctr">
                      <a:solidFill>
                        <a:srgbClr val="C9D8E8"/>
                      </a:solidFill>
                      <a:prstDash val="solid"/>
                      <a:round/>
                      <a:headEnd type="none" w="med" len="med"/>
                      <a:tailEnd type="none" w="med" len="med"/>
                    </a:lnT>
                    <a:lnB w="12700" cap="flat" cmpd="sng" algn="ctr">
                      <a:solidFill>
                        <a:srgbClr val="C9D8E8"/>
                      </a:solidFill>
                      <a:prstDash val="solid"/>
                      <a:round/>
                      <a:headEnd type="none" w="med" len="med"/>
                      <a:tailEnd type="none" w="med" len="med"/>
                    </a:lnB>
                    <a:solidFill>
                      <a:srgbClr val="FFFFFF"/>
                    </a:solidFill>
                  </a:tcPr>
                </a:tc>
                <a:tc>
                  <a:txBody>
                    <a:bodyPr/>
                    <a:lstStyle/>
                    <a:p>
                      <a:pPr algn="ctr" indent="0" marL="0">
                        <a:buNone/>
                      </a:pPr>
                      <a:r>
                        <a:rPr lang="en-US" sz="920" dirty="0">
                          <a:solidFill>
                            <a:srgbClr val="24364B"/>
                          </a:solidFill>
                          <a:latin typeface="Aptos" pitchFamily="34" charset="0"/>
                          <a:ea typeface="Aptos" pitchFamily="34" charset="-122"/>
                          <a:cs typeface="Aptos" pitchFamily="34" charset="-120"/>
                        </a:rPr>
                        <a:t>10</a:t>
                      </a:r>
                      <a:endParaRPr lang="en-US" sz="920" dirty="0">
                        <a:latin typeface="Aptos" charset="0"/>
                        <a:ea typeface="Aptos" charset="0"/>
                        <a:cs typeface="Aptos" charset="0"/>
                      </a:endParaRPr>
                    </a:p>
                  </a:txBody>
                  <a:tcPr marL="45720" marR="45720" marT="45720" marB="45720" anchor="mid">
                    <a:lnL w="12700" cap="flat" cmpd="sng" algn="ctr">
                      <a:solidFill>
                        <a:srgbClr val="C9D8E8"/>
                      </a:solidFill>
                      <a:prstDash val="solid"/>
                      <a:round/>
                      <a:headEnd type="none" w="med" len="med"/>
                      <a:tailEnd type="none" w="med" len="med"/>
                    </a:lnL>
                    <a:lnR w="12700" cap="flat" cmpd="sng" algn="ctr">
                      <a:solidFill>
                        <a:srgbClr val="C9D8E8"/>
                      </a:solidFill>
                      <a:prstDash val="solid"/>
                      <a:round/>
                      <a:headEnd type="none" w="med" len="med"/>
                      <a:tailEnd type="none" w="med" len="med"/>
                    </a:lnR>
                    <a:lnT w="12700" cap="flat" cmpd="sng" algn="ctr">
                      <a:solidFill>
                        <a:srgbClr val="C9D8E8"/>
                      </a:solidFill>
                      <a:prstDash val="solid"/>
                      <a:round/>
                      <a:headEnd type="none" w="med" len="med"/>
                      <a:tailEnd type="none" w="med" len="med"/>
                    </a:lnT>
                    <a:lnB w="12700" cap="flat" cmpd="sng" algn="ctr">
                      <a:solidFill>
                        <a:srgbClr val="C9D8E8"/>
                      </a:solidFill>
                      <a:prstDash val="solid"/>
                      <a:round/>
                      <a:headEnd type="none" w="med" len="med"/>
                      <a:tailEnd type="none" w="med" len="med"/>
                    </a:lnB>
                    <a:solidFill>
                      <a:srgbClr val="FFFFFF"/>
                    </a:solidFill>
                  </a:tcPr>
                </a:tc>
                <a:tc>
                  <a:txBody>
                    <a:bodyPr/>
                    <a:lstStyle/>
                    <a:p>
                      <a:pPr algn="ctr" indent="0" marL="0">
                        <a:buNone/>
                      </a:pPr>
                      <a:r>
                        <a:rPr lang="en-US" sz="920" dirty="0">
                          <a:solidFill>
                            <a:srgbClr val="24364B"/>
                          </a:solidFill>
                          <a:latin typeface="Aptos" pitchFamily="34" charset="0"/>
                          <a:ea typeface="Aptos" pitchFamily="34" charset="-122"/>
                          <a:cs typeface="Aptos" pitchFamily="34" charset="-120"/>
                        </a:rPr>
                        <a:t>Specific contribution, defended choice, key caveat.</a:t>
                      </a:r>
                      <a:endParaRPr lang="en-US" sz="920" dirty="0">
                        <a:latin typeface="Aptos" charset="0"/>
                        <a:ea typeface="Aptos" charset="0"/>
                        <a:cs typeface="Aptos" charset="0"/>
                      </a:endParaRPr>
                    </a:p>
                  </a:txBody>
                  <a:tcPr marL="45720" marR="45720" marT="45720" marB="45720" anchor="mid">
                    <a:lnL w="12700" cap="flat" cmpd="sng" algn="ctr">
                      <a:solidFill>
                        <a:srgbClr val="C9D8E8"/>
                      </a:solidFill>
                      <a:prstDash val="solid"/>
                      <a:round/>
                      <a:headEnd type="none" w="med" len="med"/>
                      <a:tailEnd type="none" w="med" len="med"/>
                    </a:lnL>
                    <a:lnR w="12700" cap="flat" cmpd="sng" algn="ctr">
                      <a:solidFill>
                        <a:srgbClr val="C9D8E8"/>
                      </a:solidFill>
                      <a:prstDash val="solid"/>
                      <a:round/>
                      <a:headEnd type="none" w="med" len="med"/>
                      <a:tailEnd type="none" w="med" len="med"/>
                    </a:lnR>
                    <a:lnT w="12700" cap="flat" cmpd="sng" algn="ctr">
                      <a:solidFill>
                        <a:srgbClr val="C9D8E8"/>
                      </a:solidFill>
                      <a:prstDash val="solid"/>
                      <a:round/>
                      <a:headEnd type="none" w="med" len="med"/>
                      <a:tailEnd type="none" w="med" len="med"/>
                    </a:lnT>
                    <a:lnB w="12700" cap="flat" cmpd="sng" algn="ctr">
                      <a:solidFill>
                        <a:srgbClr val="C9D8E8"/>
                      </a:solidFill>
                      <a:prstDash val="solid"/>
                      <a:round/>
                      <a:headEnd type="none" w="med" len="med"/>
                      <a:tailEnd type="none" w="med" len="med"/>
                    </a:lnB>
                    <a:solidFill>
                      <a:srgbClr val="FFFFFF"/>
                    </a:solidFill>
                  </a:tcPr>
                </a:tc>
              </a:tr>
            </a:tbl>
          </a:graphicData>
        </a:graphic>
      </p:graphicFrame>
      <p:sp>
        <p:nvSpPr>
          <p:cNvPr id="8" name="Shape 5"/>
          <p:cNvSpPr/>
          <p:nvPr/>
        </p:nvSpPr>
        <p:spPr>
          <a:xfrm>
            <a:off x="749808" y="5010912"/>
            <a:ext cx="7424928" cy="868680"/>
          </a:xfrm>
          <a:prstGeom prst="roundRect">
            <a:avLst>
              <a:gd name="adj" fmla="val 9474"/>
            </a:avLst>
          </a:prstGeom>
          <a:solidFill>
            <a:srgbClr val="FFEFC7"/>
          </a:solidFill>
          <a:ln w="12700">
            <a:solidFill>
              <a:srgbClr val="DCEEFF"/>
            </a:solidFill>
            <a:prstDash val="solid"/>
          </a:ln>
          <a:effectLst>
            <a:outerShdw sx="100000" sy="100000" kx="0" ky="0" algn="bl" rotWithShape="0" blurRad="38100" dist="19050" dir="2700000">
              <a:srgbClr val="000000">
                <a:alpha val="75000"/>
              </a:srgbClr>
            </a:outerShdw>
          </a:effectLst>
        </p:spPr>
      </p:sp>
      <p:sp>
        <p:nvSpPr>
          <p:cNvPr id="9" name="Text 6"/>
          <p:cNvSpPr/>
          <p:nvPr/>
        </p:nvSpPr>
        <p:spPr>
          <a:xfrm>
            <a:off x="932688" y="5285232"/>
            <a:ext cx="7086600" cy="274320"/>
          </a:xfrm>
          <a:prstGeom prst="rect">
            <a:avLst/>
          </a:prstGeom>
          <a:noFill/>
          <a:ln/>
        </p:spPr>
        <p:txBody>
          <a:bodyPr wrap="square" lIns="0" tIns="0" rIns="0" bIns="0" rtlCol="0" anchor="ctr">
            <a:normAutofit/>
          </a:bodyPr>
          <a:lstStyle/>
          <a:p>
            <a:pPr indent="0" marL="0">
              <a:buNone/>
            </a:pPr>
            <a:r>
              <a:rPr lang="en-US" sz="1080" b="1" dirty="0">
                <a:solidFill>
                  <a:srgbClr val="102A43"/>
                </a:solidFill>
                <a:latin typeface="Aptos" pitchFamily="34" charset="0"/>
                <a:ea typeface="Aptos" pitchFamily="34" charset="-122"/>
                <a:cs typeface="Aptos" pitchFamily="34" charset="-120"/>
              </a:rPr>
              <a:t>Reproducibility note: M4 is submitted as PDFs, but grading still expects your existing capstone code to run and reproduce memo numbers and figures.</a:t>
            </a:r>
            <a:endParaRPr lang="en-US" sz="1080" dirty="0"/>
          </a:p>
        </p:txBody>
      </p:sp>
      <p:sp>
        <p:nvSpPr>
          <p:cNvPr id="10" name="Text 7"/>
          <p:cNvSpPr/>
          <p:nvPr/>
        </p:nvSpPr>
        <p:spPr>
          <a:xfrm>
            <a:off x="502920" y="6492240"/>
            <a:ext cx="8138160" cy="146304"/>
          </a:xfrm>
          <a:prstGeom prst="rect">
            <a:avLst/>
          </a:prstGeom>
          <a:noFill/>
          <a:ln/>
        </p:spPr>
        <p:txBody>
          <a:bodyPr wrap="square" lIns="0" tIns="0" rIns="0" bIns="0" rtlCol="0" anchor="ctr"/>
          <a:lstStyle/>
          <a:p>
            <a:pPr indent="0" marL="0">
              <a:buNone/>
            </a:pPr>
            <a:r>
              <a:rPr lang="en-US" sz="800" dirty="0">
                <a:solidFill>
                  <a:srgbClr val="5F7084"/>
                </a:solidFill>
                <a:latin typeface="Aptos" pitchFamily="34" charset="0"/>
                <a:ea typeface="Aptos" pitchFamily="34" charset="-122"/>
                <a:cs typeface="Aptos" pitchFamily="34" charset="-120"/>
              </a:rPr>
              <a:t>Detailed criteria reference: rubric.md</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3F8FD"/>
        </a:solidFill>
      </p:bgPr>
    </p:bg>
    <p:spTree>
      <p:nvGrpSpPr>
        <p:cNvPr id="1" name=""/>
        <p:cNvGrpSpPr/>
        <p:nvPr/>
      </p:nvGrpSpPr>
      <p:grpSpPr>
        <a:xfrm>
          <a:off x="0" y="0"/>
          <a:ext cx="0" cy="0"/>
          <a:chOff x="0" y="0"/>
          <a:chExt cx="0" cy="0"/>
        </a:xfrm>
      </p:grpSpPr>
      <p:sp>
        <p:nvSpPr>
          <p:cNvPr id="2" name="Shape 0"/>
          <p:cNvSpPr/>
          <p:nvPr/>
        </p:nvSpPr>
        <p:spPr>
          <a:xfrm>
            <a:off x="502920" y="292608"/>
            <a:ext cx="1783080" cy="310896"/>
          </a:xfrm>
          <a:prstGeom prst="roundRect">
            <a:avLst>
              <a:gd name="adj" fmla="val 23529"/>
            </a:avLst>
          </a:prstGeom>
          <a:solidFill>
            <a:srgbClr val="DCEEFF"/>
          </a:solidFill>
          <a:ln w="12700">
            <a:solidFill>
              <a:srgbClr val="DCEEFF"/>
            </a:solidFill>
            <a:prstDash val="solid"/>
          </a:ln>
        </p:spPr>
      </p:sp>
      <p:sp>
        <p:nvSpPr>
          <p:cNvPr id="3" name="Text 1"/>
          <p:cNvSpPr/>
          <p:nvPr/>
        </p:nvSpPr>
        <p:spPr>
          <a:xfrm>
            <a:off x="502920" y="320040"/>
            <a:ext cx="1783080" cy="201168"/>
          </a:xfrm>
          <a:prstGeom prst="rect">
            <a:avLst/>
          </a:prstGeom>
          <a:noFill/>
          <a:ln/>
        </p:spPr>
        <p:txBody>
          <a:bodyPr wrap="square" lIns="0" tIns="0" rIns="0" bIns="0" rtlCol="0" anchor="ctr"/>
          <a:lstStyle/>
          <a:p>
            <a:pPr algn="ctr" indent="0" marL="0">
              <a:buNone/>
            </a:pPr>
            <a:r>
              <a:rPr lang="en-US" sz="900" b="1" spc="110" kern="0" dirty="0">
                <a:solidFill>
                  <a:srgbClr val="102A43"/>
                </a:solidFill>
                <a:latin typeface="Trebuchet MS" pitchFamily="34" charset="0"/>
                <a:ea typeface="Trebuchet MS" pitchFamily="34" charset="-122"/>
                <a:cs typeface="Trebuchet MS" pitchFamily="34" charset="-120"/>
              </a:rPr>
              <a:t>QUALITY CONTROL</a:t>
            </a:r>
            <a:endParaRPr lang="en-US" sz="900" dirty="0"/>
          </a:p>
        </p:txBody>
      </p:sp>
      <p:sp>
        <p:nvSpPr>
          <p:cNvPr id="4" name="Text 2"/>
          <p:cNvSpPr/>
          <p:nvPr/>
        </p:nvSpPr>
        <p:spPr>
          <a:xfrm>
            <a:off x="502920" y="658368"/>
            <a:ext cx="8046720" cy="420624"/>
          </a:xfrm>
          <a:prstGeom prst="rect">
            <a:avLst/>
          </a:prstGeom>
          <a:noFill/>
          <a:ln/>
        </p:spPr>
        <p:txBody>
          <a:bodyPr wrap="square" lIns="0" tIns="0" rIns="0" bIns="0" rtlCol="0" anchor="ctr">
            <a:normAutofit/>
          </a:bodyPr>
          <a:lstStyle/>
          <a:p>
            <a:pPr indent="0" marL="0">
              <a:buNone/>
            </a:pPr>
            <a:r>
              <a:rPr lang="en-US" sz="2400" b="1" dirty="0">
                <a:solidFill>
                  <a:srgbClr val="102A43"/>
                </a:solidFill>
                <a:latin typeface="Trebuchet MS" pitchFamily="34" charset="0"/>
                <a:ea typeface="Trebuchet MS" pitchFamily="34" charset="-122"/>
                <a:cs typeface="Trebuchet MS" pitchFamily="34" charset="-120"/>
              </a:rPr>
              <a:t>Common pitfalls and how to avoid them</a:t>
            </a:r>
            <a:endParaRPr lang="en-US" sz="2400" dirty="0"/>
          </a:p>
        </p:txBody>
      </p:sp>
      <p:sp>
        <p:nvSpPr>
          <p:cNvPr id="5" name="Text 3"/>
          <p:cNvSpPr/>
          <p:nvPr/>
        </p:nvSpPr>
        <p:spPr>
          <a:xfrm>
            <a:off x="502920" y="1024128"/>
            <a:ext cx="8138160" cy="310896"/>
          </a:xfrm>
          <a:prstGeom prst="rect">
            <a:avLst/>
          </a:prstGeom>
          <a:noFill/>
          <a:ln/>
        </p:spPr>
        <p:txBody>
          <a:bodyPr wrap="square" lIns="0" tIns="0" rIns="0" bIns="0" rtlCol="0" anchor="ctr">
            <a:normAutofit/>
          </a:bodyPr>
          <a:lstStyle/>
          <a:p>
            <a:pPr indent="0" marL="0">
              <a:buNone/>
            </a:pPr>
            <a:r>
              <a:rPr lang="en-US" sz="1050" dirty="0">
                <a:solidFill>
                  <a:srgbClr val="5F7084"/>
                </a:solidFill>
                <a:latin typeface="Aptos" pitchFamily="34" charset="0"/>
                <a:ea typeface="Aptos" pitchFamily="34" charset="-122"/>
                <a:cs typeface="Aptos" pitchFamily="34" charset="-120"/>
              </a:rPr>
              <a:t>Especially important: executive summary language should stay non-technical.</a:t>
            </a:r>
            <a:endParaRPr lang="en-US" sz="1050" dirty="0"/>
          </a:p>
        </p:txBody>
      </p:sp>
      <p:sp>
        <p:nvSpPr>
          <p:cNvPr id="6" name="Shape 4"/>
          <p:cNvSpPr/>
          <p:nvPr/>
        </p:nvSpPr>
        <p:spPr>
          <a:xfrm>
            <a:off x="502920" y="1417320"/>
            <a:ext cx="3840480" cy="4526280"/>
          </a:xfrm>
          <a:prstGeom prst="roundRect">
            <a:avLst>
              <a:gd name="adj" fmla="val 2143"/>
            </a:avLst>
          </a:prstGeom>
          <a:solidFill>
            <a:srgbClr val="FFFFFF"/>
          </a:solidFill>
          <a:ln w="12700">
            <a:solidFill>
              <a:srgbClr val="DDE8F2"/>
            </a:solidFill>
            <a:prstDash val="solid"/>
          </a:ln>
          <a:effectLst>
            <a:outerShdw sx="100000" sy="100000" kx="0" ky="0" algn="bl" rotWithShape="0" blurRad="38100" dist="19050" dir="2700000">
              <a:srgbClr val="000000">
                <a:alpha val="7000"/>
              </a:srgbClr>
            </a:outerShdw>
          </a:effectLst>
        </p:spPr>
      </p:sp>
      <p:sp>
        <p:nvSpPr>
          <p:cNvPr id="7" name="Text 5"/>
          <p:cNvSpPr/>
          <p:nvPr/>
        </p:nvSpPr>
        <p:spPr>
          <a:xfrm>
            <a:off x="749808" y="1700784"/>
            <a:ext cx="3383280" cy="182880"/>
          </a:xfrm>
          <a:prstGeom prst="rect">
            <a:avLst/>
          </a:prstGeom>
          <a:noFill/>
          <a:ln/>
        </p:spPr>
        <p:txBody>
          <a:bodyPr wrap="square" lIns="0" tIns="0" rIns="0" bIns="0" rtlCol="0" anchor="ctr"/>
          <a:lstStyle/>
          <a:p>
            <a:pPr indent="0" marL="0">
              <a:buNone/>
            </a:pPr>
            <a:r>
              <a:rPr lang="en-US" sz="1400" b="1" dirty="0">
                <a:solidFill>
                  <a:srgbClr val="102A43"/>
                </a:solidFill>
                <a:latin typeface="Trebuchet MS" pitchFamily="34" charset="0"/>
                <a:ea typeface="Trebuchet MS" pitchFamily="34" charset="-122"/>
                <a:cs typeface="Trebuchet MS" pitchFamily="34" charset="-120"/>
              </a:rPr>
              <a:t>Pitfalls</a:t>
            </a:r>
            <a:endParaRPr lang="en-US" sz="1400" dirty="0"/>
          </a:p>
        </p:txBody>
      </p:sp>
      <p:sp>
        <p:nvSpPr>
          <p:cNvPr id="8" name="Text 6"/>
          <p:cNvSpPr/>
          <p:nvPr/>
        </p:nvSpPr>
        <p:spPr>
          <a:xfrm>
            <a:off x="749808" y="1993392"/>
            <a:ext cx="3383280" cy="2560320"/>
          </a:xfrm>
          <a:prstGeom prst="rect">
            <a:avLst/>
          </a:prstGeom>
          <a:noFill/>
          <a:ln/>
        </p:spPr>
        <p:txBody>
          <a:bodyPr wrap="square" lIns="0" tIns="0" rIns="0" bIns="0" rtlCol="0" anchor="ctr">
            <a:normAutofit/>
          </a:bodyPr>
          <a:lstStyle/>
          <a:p>
            <a:pPr indent="0" marL="0">
              <a:buNone/>
            </a:pPr>
            <a:r>
              <a:rPr lang="en-US" sz="1080" dirty="0">
                <a:solidFill>
                  <a:srgbClr val="24364B"/>
                </a:solidFill>
                <a:latin typeface="Aptos" pitchFamily="34" charset="0"/>
                <a:ea typeface="Aptos" pitchFamily="34" charset="-122"/>
                <a:cs typeface="Aptos" pitchFamily="34" charset="-120"/>
              </a:rPr>
              <a:t>- Executive summary is too technical</a:t>
            </a:r>
            <a:endParaRPr lang="en-US" sz="1080" dirty="0"/>
          </a:p>
          <a:p>
            <a:pPr indent="0" marL="0">
              <a:buNone/>
            </a:pPr>
            <a:r>
              <a:rPr lang="en-US" sz="1080" dirty="0">
                <a:solidFill>
                  <a:srgbClr val="24364B"/>
                </a:solidFill>
                <a:latin typeface="Aptos" pitchFamily="34" charset="0"/>
                <a:ea typeface="Aptos" pitchFamily="34" charset="-122"/>
                <a:cs typeface="Aptos" pitchFamily="34" charset="-120"/>
              </a:rPr>
              <a:t>- Tables shown without practical meaning</a:t>
            </a:r>
            <a:endParaRPr lang="en-US" sz="1080" dirty="0"/>
          </a:p>
          <a:p>
            <a:pPr indent="0" marL="0">
              <a:buNone/>
            </a:pPr>
            <a:r>
              <a:rPr lang="en-US" sz="1080" dirty="0">
                <a:solidFill>
                  <a:srgbClr val="24364B"/>
                </a:solidFill>
                <a:latin typeface="Aptos" pitchFamily="34" charset="0"/>
                <a:ea typeface="Aptos" pitchFamily="34" charset="-122"/>
                <a:cs typeface="Aptos" pitchFamily="34" charset="-120"/>
              </a:rPr>
              <a:t>- Recommendations ignore uncertainty</a:t>
            </a:r>
            <a:endParaRPr lang="en-US" sz="1080" dirty="0"/>
          </a:p>
          <a:p>
            <a:pPr indent="0" marL="0">
              <a:buNone/>
            </a:pPr>
            <a:r>
              <a:rPr lang="en-US" sz="1080" dirty="0">
                <a:solidFill>
                  <a:srgbClr val="24364B"/>
                </a:solidFill>
                <a:latin typeface="Aptos" pitchFamily="34" charset="0"/>
                <a:ea typeface="Aptos" pitchFamily="34" charset="-122"/>
                <a:cs typeface="Aptos" pitchFamily="34" charset="-120"/>
              </a:rPr>
              <a:t>- Limitations listed vaguely instead of specifically</a:t>
            </a:r>
            <a:endParaRPr lang="en-US" sz="1080" dirty="0"/>
          </a:p>
        </p:txBody>
      </p:sp>
      <p:sp>
        <p:nvSpPr>
          <p:cNvPr id="9" name="Shape 7"/>
          <p:cNvSpPr/>
          <p:nvPr/>
        </p:nvSpPr>
        <p:spPr>
          <a:xfrm>
            <a:off x="4572000" y="1417320"/>
            <a:ext cx="3840480" cy="4526280"/>
          </a:xfrm>
          <a:prstGeom prst="roundRect">
            <a:avLst>
              <a:gd name="adj" fmla="val 2143"/>
            </a:avLst>
          </a:prstGeom>
          <a:solidFill>
            <a:srgbClr val="FFFFFF"/>
          </a:solidFill>
          <a:ln w="12700">
            <a:solidFill>
              <a:srgbClr val="DDE8F2"/>
            </a:solidFill>
            <a:prstDash val="solid"/>
          </a:ln>
          <a:effectLst>
            <a:outerShdw sx="100000" sy="100000" kx="0" ky="0" algn="bl" rotWithShape="0" blurRad="38100" dist="19050" dir="2700000">
              <a:srgbClr val="000000">
                <a:alpha val="7000"/>
              </a:srgbClr>
            </a:outerShdw>
          </a:effectLst>
        </p:spPr>
      </p:sp>
      <p:sp>
        <p:nvSpPr>
          <p:cNvPr id="10" name="Text 8"/>
          <p:cNvSpPr/>
          <p:nvPr/>
        </p:nvSpPr>
        <p:spPr>
          <a:xfrm>
            <a:off x="4818888" y="1700784"/>
            <a:ext cx="3383280" cy="182880"/>
          </a:xfrm>
          <a:prstGeom prst="rect">
            <a:avLst/>
          </a:prstGeom>
          <a:noFill/>
          <a:ln/>
        </p:spPr>
        <p:txBody>
          <a:bodyPr wrap="square" lIns="0" tIns="0" rIns="0" bIns="0" rtlCol="0" anchor="ctr"/>
          <a:lstStyle/>
          <a:p>
            <a:pPr indent="0" marL="0">
              <a:buNone/>
            </a:pPr>
            <a:r>
              <a:rPr lang="en-US" sz="1400" b="1" dirty="0">
                <a:solidFill>
                  <a:srgbClr val="102A43"/>
                </a:solidFill>
                <a:latin typeface="Trebuchet MS" pitchFamily="34" charset="0"/>
                <a:ea typeface="Trebuchet MS" pitchFamily="34" charset="-122"/>
                <a:cs typeface="Trebuchet MS" pitchFamily="34" charset="-120"/>
              </a:rPr>
              <a:t>Fixes</a:t>
            </a:r>
            <a:endParaRPr lang="en-US" sz="1400" dirty="0"/>
          </a:p>
        </p:txBody>
      </p:sp>
      <p:sp>
        <p:nvSpPr>
          <p:cNvPr id="11" name="Text 9"/>
          <p:cNvSpPr/>
          <p:nvPr/>
        </p:nvSpPr>
        <p:spPr>
          <a:xfrm>
            <a:off x="4818888" y="1993392"/>
            <a:ext cx="3383280" cy="2560320"/>
          </a:xfrm>
          <a:prstGeom prst="rect">
            <a:avLst/>
          </a:prstGeom>
          <a:noFill/>
          <a:ln/>
        </p:spPr>
        <p:txBody>
          <a:bodyPr wrap="square" lIns="0" tIns="0" rIns="0" bIns="0" rtlCol="0" anchor="ctr">
            <a:normAutofit/>
          </a:bodyPr>
          <a:lstStyle/>
          <a:p>
            <a:pPr indent="0" marL="0">
              <a:buNone/>
            </a:pPr>
            <a:r>
              <a:rPr lang="en-US" sz="1080" dirty="0">
                <a:solidFill>
                  <a:srgbClr val="24364B"/>
                </a:solidFill>
                <a:latin typeface="Aptos" pitchFamily="34" charset="0"/>
                <a:ea typeface="Aptos" pitchFamily="34" charset="-122"/>
                <a:cs typeface="Aptos" pitchFamily="34" charset="-120"/>
              </a:rPr>
              <a:t>- Use one sentence for direction and one for confidence</a:t>
            </a:r>
            <a:endParaRPr lang="en-US" sz="1080" dirty="0"/>
          </a:p>
          <a:p>
            <a:pPr indent="0" marL="0">
              <a:buNone/>
            </a:pPr>
            <a:r>
              <a:rPr lang="en-US" sz="1080" dirty="0">
                <a:solidFill>
                  <a:srgbClr val="24364B"/>
                </a:solidFill>
                <a:latin typeface="Aptos" pitchFamily="34" charset="0"/>
                <a:ea typeface="Aptos" pitchFamily="34" charset="-122"/>
                <a:cs typeface="Aptos" pitchFamily="34" charset="-120"/>
              </a:rPr>
              <a:t>- Translate every key coefficient into business language</a:t>
            </a:r>
            <a:endParaRPr lang="en-US" sz="1080" dirty="0"/>
          </a:p>
          <a:p>
            <a:pPr indent="0" marL="0">
              <a:buNone/>
            </a:pPr>
            <a:r>
              <a:rPr lang="en-US" sz="1080" dirty="0">
                <a:solidFill>
                  <a:srgbClr val="24364B"/>
                </a:solidFill>
                <a:latin typeface="Aptos" pitchFamily="34" charset="0"/>
                <a:ea typeface="Aptos" pitchFamily="34" charset="-122"/>
                <a:cs typeface="Aptos" pitchFamily="34" charset="-120"/>
              </a:rPr>
              <a:t>- Tie every recommendation to a risk statement</a:t>
            </a:r>
            <a:endParaRPr lang="en-US" sz="1080" dirty="0"/>
          </a:p>
          <a:p>
            <a:pPr indent="0" marL="0">
              <a:buNone/>
            </a:pPr>
            <a:r>
              <a:rPr lang="en-US" sz="1080" dirty="0">
                <a:solidFill>
                  <a:srgbClr val="24364B"/>
                </a:solidFill>
                <a:latin typeface="Aptos" pitchFamily="34" charset="0"/>
                <a:ea typeface="Aptos" pitchFamily="34" charset="-122"/>
                <a:cs typeface="Aptos" pitchFamily="34" charset="-120"/>
              </a:rPr>
              <a:t>- Name one concrete data limitation and why it matters</a:t>
            </a:r>
            <a:endParaRPr lang="en-US" sz="1080" dirty="0"/>
          </a:p>
        </p:txBody>
      </p:sp>
      <p:sp>
        <p:nvSpPr>
          <p:cNvPr id="12" name="Shape 10"/>
          <p:cNvSpPr/>
          <p:nvPr/>
        </p:nvSpPr>
        <p:spPr>
          <a:xfrm>
            <a:off x="749808" y="5010912"/>
            <a:ext cx="7424928" cy="868680"/>
          </a:xfrm>
          <a:prstGeom prst="roundRect">
            <a:avLst>
              <a:gd name="adj" fmla="val 9474"/>
            </a:avLst>
          </a:prstGeom>
          <a:solidFill>
            <a:srgbClr val="EDF5FF"/>
          </a:solidFill>
          <a:ln w="12700">
            <a:solidFill>
              <a:srgbClr val="DCEEFF"/>
            </a:solidFill>
            <a:prstDash val="solid"/>
          </a:ln>
          <a:effectLst>
            <a:outerShdw sx="100000" sy="100000" kx="0" ky="0" algn="bl" rotWithShape="0" blurRad="38100" dist="19050" dir="2700000">
              <a:srgbClr val="000000">
                <a:alpha val="75000"/>
              </a:srgbClr>
            </a:outerShdw>
          </a:effectLst>
        </p:spPr>
      </p:sp>
      <p:sp>
        <p:nvSpPr>
          <p:cNvPr id="13" name="Text 11"/>
          <p:cNvSpPr/>
          <p:nvPr/>
        </p:nvSpPr>
        <p:spPr>
          <a:xfrm>
            <a:off x="932688" y="5285232"/>
            <a:ext cx="7086600" cy="274320"/>
          </a:xfrm>
          <a:prstGeom prst="rect">
            <a:avLst/>
          </a:prstGeom>
          <a:noFill/>
          <a:ln/>
        </p:spPr>
        <p:txBody>
          <a:bodyPr wrap="square" lIns="0" tIns="0" rIns="0" bIns="0" rtlCol="0" anchor="ctr">
            <a:normAutofit/>
          </a:bodyPr>
          <a:lstStyle/>
          <a:p>
            <a:pPr indent="0" marL="0">
              <a:buNone/>
            </a:pPr>
            <a:r>
              <a:rPr lang="en-US" sz="1080" b="1" dirty="0">
                <a:solidFill>
                  <a:srgbClr val="102A43"/>
                </a:solidFill>
                <a:latin typeface="Aptos" pitchFamily="34" charset="0"/>
                <a:ea typeface="Aptos" pitchFamily="34" charset="-122"/>
                <a:cs typeface="Aptos" pitchFamily="34" charset="-120"/>
              </a:rPr>
              <a:t>Final speaking rule: if a non-economist cannot explain your takeaway after 30 seconds, simplify the slide wording and notes.</a:t>
            </a:r>
            <a:endParaRPr lang="en-US" sz="1080" dirty="0"/>
          </a:p>
        </p:txBody>
      </p:sp>
      <p:sp>
        <p:nvSpPr>
          <p:cNvPr id="14" name="Text 12"/>
          <p:cNvSpPr/>
          <p:nvPr/>
        </p:nvSpPr>
        <p:spPr>
          <a:xfrm>
            <a:off x="502920" y="6492240"/>
            <a:ext cx="8138160" cy="146304"/>
          </a:xfrm>
          <a:prstGeom prst="rect">
            <a:avLst/>
          </a:prstGeom>
          <a:noFill/>
          <a:ln/>
        </p:spPr>
        <p:txBody>
          <a:bodyPr wrap="square" lIns="0" tIns="0" rIns="0" bIns="0" rtlCol="0" anchor="ctr"/>
          <a:lstStyle/>
          <a:p>
            <a:pPr indent="0" marL="0">
              <a:buNone/>
            </a:pPr>
            <a:r>
              <a:rPr lang="en-US" sz="800" dirty="0">
                <a:solidFill>
                  <a:srgbClr val="5F7084"/>
                </a:solidFill>
                <a:latin typeface="Aptos" pitchFamily="34" charset="0"/>
                <a:ea typeface="Aptos" pitchFamily="34" charset="-122"/>
                <a:cs typeface="Aptos" pitchFamily="34" charset="-120"/>
              </a:rPr>
              <a:t>Use this checklist in final rehearsal before exporting the submission PDF.</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A1F33"/>
        </a:solidFill>
      </p:bgPr>
    </p:bg>
    <p:spTree>
      <p:nvGrpSpPr>
        <p:cNvPr id="1" name=""/>
        <p:cNvGrpSpPr/>
        <p:nvPr/>
      </p:nvGrpSpPr>
      <p:grpSpPr>
        <a:xfrm>
          <a:off x="0" y="0"/>
          <a:ext cx="0" cy="0"/>
          <a:chOff x="0" y="0"/>
          <a:chExt cx="0" cy="0"/>
        </a:xfrm>
      </p:grpSpPr>
      <p:sp>
        <p:nvSpPr>
          <p:cNvPr id="2" name="Shape 0"/>
          <p:cNvSpPr/>
          <p:nvPr/>
        </p:nvSpPr>
        <p:spPr>
          <a:xfrm>
            <a:off x="-731520" y="3931920"/>
            <a:ext cx="2743200" cy="2743200"/>
          </a:xfrm>
          <a:prstGeom prst="ellipse">
            <a:avLst/>
          </a:prstGeom>
          <a:solidFill>
            <a:srgbClr val="58A6FF">
              <a:alpha val="25000"/>
            </a:srgbClr>
          </a:solidFill>
          <a:ln w="12700">
            <a:solidFill>
              <a:srgbClr val="58A6FF">
                <a:alpha val="0"/>
              </a:srgbClr>
            </a:solidFill>
            <a:prstDash val="solid"/>
          </a:ln>
        </p:spPr>
      </p:sp>
      <p:sp>
        <p:nvSpPr>
          <p:cNvPr id="3" name="Text 1"/>
          <p:cNvSpPr/>
          <p:nvPr/>
        </p:nvSpPr>
        <p:spPr>
          <a:xfrm>
            <a:off x="822960" y="2011680"/>
            <a:ext cx="2926080" cy="457200"/>
          </a:xfrm>
          <a:prstGeom prst="rect">
            <a:avLst/>
          </a:prstGeom>
          <a:noFill/>
          <a:ln/>
        </p:spPr>
        <p:txBody>
          <a:bodyPr wrap="square" lIns="0" tIns="0" rIns="0" bIns="0" rtlCol="0" anchor="ctr"/>
          <a:lstStyle/>
          <a:p>
            <a:pPr indent="0" marL="0">
              <a:buNone/>
            </a:pPr>
            <a:r>
              <a:rPr lang="en-US" sz="3600" b="1" dirty="0">
                <a:solidFill>
                  <a:srgbClr val="FFFFFF"/>
                </a:solidFill>
                <a:latin typeface="Trebuchet MS" pitchFamily="34" charset="0"/>
                <a:ea typeface="Trebuchet MS" pitchFamily="34" charset="-122"/>
                <a:cs typeface="Trebuchet MS" pitchFamily="34" charset="-120"/>
              </a:rPr>
              <a:t>Thank You</a:t>
            </a:r>
            <a:endParaRPr lang="en-US" sz="3600" dirty="0"/>
          </a:p>
        </p:txBody>
      </p:sp>
      <p:sp>
        <p:nvSpPr>
          <p:cNvPr id="4" name="Text 2"/>
          <p:cNvSpPr/>
          <p:nvPr/>
        </p:nvSpPr>
        <p:spPr>
          <a:xfrm>
            <a:off x="822960" y="2606040"/>
            <a:ext cx="3291840" cy="292608"/>
          </a:xfrm>
          <a:prstGeom prst="rect">
            <a:avLst/>
          </a:prstGeom>
          <a:noFill/>
          <a:ln/>
        </p:spPr>
        <p:txBody>
          <a:bodyPr wrap="square" lIns="0" tIns="0" rIns="0" bIns="0" rtlCol="0" anchor="ctr"/>
          <a:lstStyle/>
          <a:p>
            <a:pPr indent="0" marL="0">
              <a:buNone/>
            </a:pPr>
            <a:r>
              <a:rPr lang="en-US" sz="1400" dirty="0">
                <a:solidFill>
                  <a:srgbClr val="D7E6F7"/>
                </a:solidFill>
                <a:latin typeface="Aptos" pitchFamily="34" charset="0"/>
                <a:ea typeface="Aptos" pitchFamily="34" charset="-122"/>
                <a:cs typeface="Aptos" pitchFamily="34" charset="-120"/>
              </a:rPr>
              <a:t>Questions and discussion</a:t>
            </a:r>
            <a:endParaRPr lang="en-US" sz="1400" dirty="0"/>
          </a:p>
        </p:txBody>
      </p:sp>
      <p:sp>
        <p:nvSpPr>
          <p:cNvPr id="5" name="Shape 3"/>
          <p:cNvSpPr/>
          <p:nvPr/>
        </p:nvSpPr>
        <p:spPr>
          <a:xfrm>
            <a:off x="4572000" y="1234440"/>
            <a:ext cx="3840480" cy="2651760"/>
          </a:xfrm>
          <a:prstGeom prst="roundRect">
            <a:avLst>
              <a:gd name="adj" fmla="val 3103"/>
            </a:avLst>
          </a:prstGeom>
          <a:solidFill>
            <a:srgbClr val="FFFFFF"/>
          </a:solidFill>
          <a:ln w="12700">
            <a:solidFill>
              <a:srgbClr val="DDE8F2"/>
            </a:solidFill>
            <a:prstDash val="solid"/>
          </a:ln>
          <a:effectLst>
            <a:outerShdw sx="100000" sy="100000" kx="0" ky="0" algn="bl" rotWithShape="0" blurRad="38100" dist="19050" dir="2700000">
              <a:srgbClr val="000000">
                <a:alpha val="8000"/>
              </a:srgbClr>
            </a:outerShdw>
          </a:effectLst>
        </p:spPr>
      </p:sp>
      <p:sp>
        <p:nvSpPr>
          <p:cNvPr id="6" name="Text 4"/>
          <p:cNvSpPr/>
          <p:nvPr/>
        </p:nvSpPr>
        <p:spPr>
          <a:xfrm>
            <a:off x="4818888" y="1517904"/>
            <a:ext cx="3383280" cy="182880"/>
          </a:xfrm>
          <a:prstGeom prst="rect">
            <a:avLst/>
          </a:prstGeom>
          <a:noFill/>
          <a:ln/>
        </p:spPr>
        <p:txBody>
          <a:bodyPr wrap="square" lIns="0" tIns="0" rIns="0" bIns="0" rtlCol="0" anchor="ctr"/>
          <a:lstStyle/>
          <a:p>
            <a:pPr indent="0" marL="0">
              <a:buNone/>
            </a:pPr>
            <a:r>
              <a:rPr lang="en-US" sz="1400" b="1" dirty="0">
                <a:solidFill>
                  <a:srgbClr val="102A43"/>
                </a:solidFill>
                <a:latin typeface="Trebuchet MS" pitchFamily="34" charset="0"/>
                <a:ea typeface="Trebuchet MS" pitchFamily="34" charset="-122"/>
                <a:cs typeface="Trebuchet MS" pitchFamily="34" charset="-120"/>
              </a:rPr>
              <a:t>One-line recap</a:t>
            </a:r>
            <a:endParaRPr lang="en-US" sz="1400" dirty="0"/>
          </a:p>
        </p:txBody>
      </p:sp>
      <p:sp>
        <p:nvSpPr>
          <p:cNvPr id="7" name="Text 5"/>
          <p:cNvSpPr/>
          <p:nvPr/>
        </p:nvSpPr>
        <p:spPr>
          <a:xfrm>
            <a:off x="4818888" y="1828800"/>
            <a:ext cx="3383280" cy="1325880"/>
          </a:xfrm>
          <a:prstGeom prst="rect">
            <a:avLst/>
          </a:prstGeom>
          <a:noFill/>
          <a:ln/>
        </p:spPr>
        <p:txBody>
          <a:bodyPr wrap="square" lIns="0" tIns="0" rIns="0" bIns="0" rtlCol="0" anchor="ctr">
            <a:normAutofit/>
          </a:bodyPr>
          <a:lstStyle/>
          <a:p>
            <a:pPr indent="0" marL="0">
              <a:buNone/>
            </a:pPr>
            <a:r>
              <a:rPr lang="en-US" sz="1100" dirty="0">
                <a:solidFill>
                  <a:srgbClr val="24364B"/>
                </a:solidFill>
                <a:latin typeface="Aptos" pitchFamily="34" charset="0"/>
                <a:ea typeface="Aptos" pitchFamily="34" charset="-122"/>
                <a:cs typeface="Aptos" pitchFamily="34" charset="-120"/>
              </a:rPr>
              <a:t>Lobbying appears correlated with weaker later profitability in our panel, but uncertainty and timing effects mean investors should apply the signal cautiously and alongside fundamentals.</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QM 2023</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Corporate Lobbying and Firm Profitability</dc:title>
  <dc:subject>Capstone memo presentation</dc:subject>
  <dc:creator>QM 2023 Capstone Team</dc:creator>
  <cp:lastModifiedBy>QM 2023 Capstone Team</cp:lastModifiedBy>
  <cp:revision>1</cp:revision>
  <dcterms:created xsi:type="dcterms:W3CDTF">2026-05-01T05:02:47Z</dcterms:created>
  <dcterms:modified xsi:type="dcterms:W3CDTF">2026-05-01T05:02:47Z</dcterms:modified>
</cp:coreProperties>
</file>