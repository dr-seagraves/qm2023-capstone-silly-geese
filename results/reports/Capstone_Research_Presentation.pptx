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914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3774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Lobbying and Firm Profitability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3063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Comprehensive Panel Analysis of U.S. Public Firms (2010–2020)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38404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Alycia Reji • Gracie Vivion • Shelby Howard • Daniz Mammadova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QM 2023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 &amp; Overview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 and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Research Question: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relationship between firms' lobbying expenditures and their subsequent profitability?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680960" cy="356616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Merge lobbying expenditure data with firm financial records (2010–2020)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Conduct exploratory data analysis to identify patterns and relationships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Estimate panel regression models with fixed effects and robust inference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 robustness checks across lag structures, sample subsets, and firm sizes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 findings within theoretical frameworks of corporate political activity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 and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5720" cy="5029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Lobbying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Source: Senate Lobbying Disclosure Reports (LobbyView)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Unit: Firm-year observations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Period: 2010–2020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variable: Annual total lobbying expenditure (USD)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Coverage: 1,534 unique firms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5720" cy="5029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65760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Source: SEC XBRL filings (10-K annual reports)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Unit: Firm-year observations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Period: 2010–2020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variables: Total Assets, Net Income, Revenues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Coverage: 1,375 unique firms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61722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8F2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217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merge: 5,099 firm-year observations across 1,375 firms; balanced panel yielded 836 observations (66 firms with complete 2010–2020 data)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Analysis: Key Patterns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Findings from M2: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68096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Positive moderate correlation between lobbying expenditure and firm performance (Return on Assets)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Effect exhibits time lag: strongest association at 1–2-year lags, not contemporaneous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Heterogeneous effects: stronger in larger and policy-exposed firms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Smaller firms show weaker or no relationship; size-based mechanism likely relevant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Outlier firms with extreme lobbying spending have disproportionate leverage on results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Log-scaling and trimming reduce magnitude but preserve positive direction in most cases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Adding controls (size, industry, year effects) attenuates coefficient but does not eliminate 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64922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D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 Hypothesis Development: Positive effect expected, strongest at lag 1–2, larger for big firms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Characteristics and Coverage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01168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Dataset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Rows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 Firms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Identifier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Financials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4,932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Lobbying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11,619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GVKEY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Merged (Full)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Panel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CIK, 2010–2020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2004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Notes: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3520440"/>
            <a:ext cx="8503920" cy="265176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Lobbying data sparse: 95.2% missing in full merged panel (many firms not in lobbying universe)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Mean ROA: 56.94 (winsorized); highly variable due to outliers and firm heterogeneity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explicit industry codes; size-based proxy used for heterogeneity estimation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Balanced panel (66 firms) is subset of full sample; may not be representative of all firms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Econometric Results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Two-Way Fixed Effects Panel Regression (Firm and Year FE, Clustered SEs)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680960" cy="34747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Baseline coefficient (lagged lobbying): β = –174.59 (SE = 116.93, p = 0.1354, N = 2,125)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Economic interpretation: $1M increase in lobbying → 174.59 percentage-point decrease in ROA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Equivalent: $100K increase → 17.46 percentage-point decline in ROA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statistically significant at α = 0.05; 95% confidence interval includes zero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Conclusion: Negative point estimate, but imprecise and not robust to specification changes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51663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25780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Key Finding: Evidence for negative association is weaker than EDA's positive findings, suggesting alternative mechanisms or model sensitivity.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 Checks: Coefficient Stability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383280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Coefficient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p-value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(Lag 1)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–174.59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116.93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0.1354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2,125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Lag 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–95.35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86.70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0.2715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1,700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Lag 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38.47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84.26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0.6480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1,372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 1 (Placebo)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–302.73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166.41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0.0689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2,129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Excluding 2020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–109.19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72.22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0.1305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1,911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 Firms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–5,753.85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4,059.05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0.1563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Firms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–24.09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5.25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1,454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5262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4800600"/>
            <a:ext cx="8503920" cy="150876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 consistency: Negative across lags 1–2; positive at lag 3 suggests direction instability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Lead effect significant at p &lt; 0.10 raises reverse-causality concerns: lower profitability may prompt lobbying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Heterogeneity: Small firms show extreme, imprecise effect; large firms show consistent, negative effect (p &lt; 0.001)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Excluding 2020 maintains negative direction but reduces precision, suggesting COVID-19 did not drive main result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Heterogeneity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Differential Effects by Firm Size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5720" cy="5029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Firms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Coefficient: β = –24.09 (SE = 5.25, p &lt; 0.001)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Precisely estimated; statistically significant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magnitude but consistent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Interpretation: Defensive lobbying by larger, more exposed firms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5720" cy="5029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Firms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65760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Coefficient: β = –5,753.85 (SE = 4,059.05, p = 0.156)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Very large magnitude but imprecise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statistically significant</a:t>
            </a:r>
            <a:endParaRPr lang="en-US" sz="9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Likely driven by few extreme spenders; high noise in small-firm lobbying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64922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D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suggests: Larger firms' lobbying may reflect strategic regulatory engagement; smaller firms show sparse, ad hoc behavior.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Alternative Specifications and Diagnostics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4892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Three-way FE with industry-by-year interactions: β = –159.48 (p = 0.367) — sign remains negative, precision similar to baseline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Staggered difference-in-differences (Callaway-Sant'Anna): Average treatment effect ≈ –338.79 pp; large, negative, but uncertain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Cluster bootstrap 95% CI: [–517.62, 149.65] — wide interval spans positive and negative, confirming low precision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Breusch-Pagan test for heteroskedasticity: p &lt; 0.0001; justifies clustered SEs over homoskedastic OLS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Variance Inflation Factors (VIF) for controls: max 2.74; multicollinearity not a concern</a:t>
            </a:r>
            <a:endParaRPr lang="en-US" sz="9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Diagnostic plots (Q-Q, residvals-vs-fitted): suggest non-ideal residual behavior; pattern consistent with sparse, heterogeneous panel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Time-Series Benchmark: ARIMA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ARIMA(0,1,0) Specification (Random Walk with Differencing):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68096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Augmented Dickey-Fuller test: p-value = 0.2287 (non-stationary; differencing applied)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Selected order: (0, 1, 0) based on AIC minimization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Out-of-sample RMSE: 523.53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Naive benchmark RMSE (carry-forward): 523.53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predictive gain from ARIMA vs. simple extrapolation; aggregate ROA trends not easily forecasted by lags alone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→ Implication: Annual aggregate profitability dynamics driven by factors other than recent own history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Mechanisms and Interpretation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5720" cy="5029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 Explanations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Defensive lobbying: Firms spend to prevent worse outcomes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uncertainty: Regulatory exposure drives both lobbying and lower profitability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Selection effect: Worse-performing firms spend more on lobbying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Omitted factors: Industry shocks or managerial quality confound the relationship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5720" cy="5029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Interpretation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657600" cy="43891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not conclusive: Both positive and negative associations possible depending on specification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Firm-level heterogeneity dominates: Large firm effect robust, small firm effect noisy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Temporal instability: Different lags yield different signs; suggests complex dynamics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lead effect: Reverse causality likely; low-performing firms increase spending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and Future Directions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E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Limitations: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7955280" cy="1920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Sparse lobbying observations: 95%+ missing data in merged panel; selection bias toward large, visible firms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Measurement: ROA (profitability) may not capture long-term firm value or stock returns; accounting-based metric only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Confounding: Many unobserved factors (managerial quality, competition, technology) co-vary with lobbying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Reverse causality: Lead effect suggests weaker-performing firms lobby more; inference difficult without instruments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Research Directions: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7955280" cy="224028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Acquire lobbying instruments (regulatory exposure indices, policy indices) to isolate causal effects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Extend to stock market measures (returns, Tobin's Q) to capture investor perspective on lobbying value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dynamic panel models with lagged dependent variables; address Nickell bias carefully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Incorporate issue-level lobbying strategies (defense, offense) to refine mechanistic understanding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54864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188720"/>
          </a:xfrm>
          <a:prstGeom prst="roundRect">
            <a:avLst>
              <a:gd name="adj" fmla="val 9231"/>
            </a:avLst>
          </a:prstGeom>
          <a:solidFill>
            <a:srgbClr val="E8F2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Question: What is the relationship between corporate lobbying and firm profitability?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Answer: Evidence is mixed and model-dependent. Panel regressions suggest a negative association (β ≈ –174.59), but the effect is imprecise, driven by reverse causality, and inconsistent across specifications. EDA showed positive correlations in bivariate relationships, but fixed-effects models reveal complexity and firm-size heterogeneity.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M1: Data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2560320" cy="201168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5,099 firm-year obs.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1,375 unique firms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2010–2020 period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836 balanced panel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M2: EDA Insights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560320" cy="201168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Positive correlations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Lag 1–2 strongest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Size heterogeneity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Sparse outliers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63640" y="23774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M3: Regression Results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606040"/>
            <a:ext cx="2560320" cy="201168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β = –174.59 (p=0.135)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sig. at α=0.05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Reverse causality</a:t>
            </a:r>
            <a:endParaRPr lang="en-US" sz="8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sensitive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754880"/>
            <a:ext cx="8503920" cy="1920240"/>
          </a:xfrm>
          <a:prstGeom prst="roundRect">
            <a:avLst>
              <a:gd name="adj" fmla="val 5714"/>
            </a:avLst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89204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6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12064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causal relationship between corporate lobbying and firm profitability remains unclear. Empirical evidence leans toward a negative association in fixed-effects models, but this finding is imprecise and likely confounded by reverse causality. Strategic lobbying may be a sign of defensive positioning by firms facing headwinds rather than a driver of superior returns. Strong firm-size heterogeneity suggests differentiated mechanisms: large, visible firms engage in routine regulatory management; small firms show sporadic, ad-hoc behavior. Future research should employ causal instruments and longer time-series to resolve these ambiguities.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2026-04-30T21:07:26Z</dcterms:created>
  <dcterms:modified xsi:type="dcterms:W3CDTF">2026-04-30T21:07:26Z</dcterms:modified>
</cp:coreProperties>
</file>