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everyone, and thank you for being here.
Today we will walk through one simple question: does spending more money on lobbying help a company become more profitable later?
I will keep this presentation in simple language. We will cover our question, our hypothesis, our data, our method, and then our findings with graphs.
At the end, we will leave time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core question and our original expectation.
Our hypothesis was straightforward: if a company spends more on lobbying, then later profitability should go up.
The reason is that firms may gain policy advantages, avoid costly rules, or reduce uncertainty.
So, before seeing the results, we expected a positive relationship.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our three data sources.
First, we use SEC financial data for company performance.
Second, we use lobbying spending data from Senate disclosures through LobbyView.
Third, and very important, we use a crosswalk file that connects company IDs between those two sources.
That crosswalk is what makes a clean merge possible. Without it, we risk comparing data from different firms by mistake.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how we did the analysis.
First, we cleaned and merged the data. Then we created a panel across years for each firm.
Our main test asks: if lobbying goes up this year, what happens to profitability next year?
We use controls and firm-level clustering so our estimate is more stable and less likely to be driven by simple noise.
In simple terms, we are not just comparing different firms to each other. We are mostly tracking changes within the same firm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for our findings.
The key takeaway is that our original hypothesis was not supported by the main model.
We expected a positive relationship, but the estimated relationship was negative and not statistically strong.
That means we should be careful: we cannot say lobbying spending clearly causes higher profitability in this dataset.
The graphs help show the pattern and timing, but the model uncertainty is still important.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To summarize one last time: we tested whether higher lobbying spending leads to higher profitability, and we did not find strong evidence for that in this sample.
We are happy to answer questions about the data, method, or interpretation.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F33"/>
        </a:solidFill>
      </p:bgPr>
    </p:bg>
    <p:spTree>
      <p:nvGrpSpPr>
        <p:cNvPr id="1" name=""/>
        <p:cNvGrpSpPr/>
        <p:nvPr/>
      </p:nvGrpSpPr>
      <p:grpSpPr>
        <a:xfrm>
          <a:off x="0" y="0"/>
          <a:ext cx="0" cy="0"/>
          <a:chOff x="0" y="0"/>
          <a:chExt cx="0" cy="0"/>
        </a:xfrm>
      </p:grpSpPr>
      <p:sp>
        <p:nvSpPr>
          <p:cNvPr id="2" name="Shape 0"/>
          <p:cNvSpPr/>
          <p:nvPr/>
        </p:nvSpPr>
        <p:spPr>
          <a:xfrm>
            <a:off x="7315200" y="-731520"/>
            <a:ext cx="3291840" cy="3291840"/>
          </a:xfrm>
          <a:prstGeom prst="ellipse">
            <a:avLst/>
          </a:prstGeom>
          <a:solidFill>
            <a:srgbClr val="58A6FF">
              <a:alpha val="25000"/>
            </a:srgbClr>
          </a:solidFill>
          <a:ln w="12700">
            <a:solidFill>
              <a:srgbClr val="58A6FF">
                <a:alpha val="0"/>
              </a:srgbClr>
            </a:solidFill>
            <a:prstDash val="solid"/>
          </a:ln>
        </p:spPr>
      </p:sp>
      <p:sp>
        <p:nvSpPr>
          <p:cNvPr id="3" name="Text 1"/>
          <p:cNvSpPr/>
          <p:nvPr/>
        </p:nvSpPr>
        <p:spPr>
          <a:xfrm>
            <a:off x="713232" y="1143000"/>
            <a:ext cx="4937760" cy="114300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Trebuchet MS" pitchFamily="34" charset="0"/>
                <a:ea typeface="Trebuchet MS" pitchFamily="34" charset="-122"/>
                <a:cs typeface="Trebuchet MS" pitchFamily="34" charset="-120"/>
              </a:rPr>
              <a:t>Corporate Lobbying and</a:t>
            </a:r>
            <a:endParaRPr lang="en-US" sz="3400" dirty="0"/>
          </a:p>
          <a:p>
            <a:pPr indent="0" marL="0">
              <a:buNone/>
            </a:pPr>
            <a:r>
              <a:rPr lang="en-US" sz="3400" b="1" dirty="0">
                <a:solidFill>
                  <a:srgbClr val="FFFFFF"/>
                </a:solidFill>
                <a:latin typeface="Trebuchet MS" pitchFamily="34" charset="0"/>
                <a:ea typeface="Trebuchet MS" pitchFamily="34" charset="-122"/>
                <a:cs typeface="Trebuchet MS" pitchFamily="34" charset="-120"/>
              </a:rPr>
              <a:t>Firm Profitability</a:t>
            </a:r>
            <a:endParaRPr lang="en-US" sz="3400" dirty="0"/>
          </a:p>
        </p:txBody>
      </p:sp>
      <p:sp>
        <p:nvSpPr>
          <p:cNvPr id="4" name="Text 2"/>
          <p:cNvSpPr/>
          <p:nvPr/>
        </p:nvSpPr>
        <p:spPr>
          <a:xfrm>
            <a:off x="731520" y="2514600"/>
            <a:ext cx="4114800" cy="548640"/>
          </a:xfrm>
          <a:prstGeom prst="rect">
            <a:avLst/>
          </a:prstGeom>
          <a:noFill/>
          <a:ln/>
        </p:spPr>
        <p:txBody>
          <a:bodyPr wrap="square" lIns="0" tIns="0" rIns="0" bIns="0" rtlCol="0" anchor="ctr">
            <a:normAutofit/>
          </a:bodyPr>
          <a:lstStyle/>
          <a:p>
            <a:pPr indent="0" marL="0">
              <a:buNone/>
            </a:pPr>
            <a:r>
              <a:rPr lang="en-US" sz="1400" dirty="0">
                <a:solidFill>
                  <a:srgbClr val="D7E6F7"/>
                </a:solidFill>
                <a:latin typeface="Aptos" pitchFamily="34" charset="0"/>
                <a:ea typeface="Aptos" pitchFamily="34" charset="-122"/>
                <a:cs typeface="Aptos" pitchFamily="34" charset="-120"/>
              </a:rPr>
              <a:t>Capstone Presentation</a:t>
            </a:r>
            <a:endParaRPr lang="en-US" sz="1400" dirty="0"/>
          </a:p>
          <a:p>
            <a:pPr indent="0" marL="0">
              <a:buNone/>
            </a:pPr>
            <a:r>
              <a:rPr lang="en-US" sz="1400" dirty="0">
                <a:solidFill>
                  <a:srgbClr val="D7E6F7"/>
                </a:solidFill>
                <a:latin typeface="Aptos" pitchFamily="34" charset="0"/>
                <a:ea typeface="Aptos" pitchFamily="34" charset="-122"/>
                <a:cs typeface="Aptos" pitchFamily="34" charset="-120"/>
              </a:rPr>
              <a:t>2010-2020 Panel Analysis</a:t>
            </a:r>
            <a:endParaRPr lang="en-US" sz="1400" dirty="0"/>
          </a:p>
        </p:txBody>
      </p:sp>
      <p:sp>
        <p:nvSpPr>
          <p:cNvPr id="5" name="Shape 3"/>
          <p:cNvSpPr/>
          <p:nvPr/>
        </p:nvSpPr>
        <p:spPr>
          <a:xfrm>
            <a:off x="5486400" y="1188720"/>
            <a:ext cx="3017520" cy="3291840"/>
          </a:xfrm>
          <a:prstGeom prst="roundRect">
            <a:avLst>
              <a:gd name="adj" fmla="val 2727"/>
            </a:avLst>
          </a:prstGeom>
          <a:solidFill>
            <a:srgbClr val="FFFFFF"/>
          </a:solidFill>
          <a:ln w="12700">
            <a:solidFill>
              <a:srgbClr val="DDE8F2"/>
            </a:solidFill>
            <a:prstDash val="solid"/>
          </a:ln>
          <a:effectLst>
            <a:outerShdw sx="100000" sy="100000" kx="0" ky="0" algn="bl" rotWithShape="0" blurRad="38100" dist="17780" dir="2700000">
              <a:srgbClr val="000000">
                <a:alpha val="8000"/>
              </a:srgbClr>
            </a:outerShdw>
          </a:effectLst>
        </p:spPr>
      </p:sp>
      <p:sp>
        <p:nvSpPr>
          <p:cNvPr id="6" name="Text 4"/>
          <p:cNvSpPr/>
          <p:nvPr/>
        </p:nvSpPr>
        <p:spPr>
          <a:xfrm>
            <a:off x="5715000" y="1463040"/>
            <a:ext cx="2560320" cy="219456"/>
          </a:xfrm>
          <a:prstGeom prst="rect">
            <a:avLst/>
          </a:prstGeom>
          <a:noFill/>
          <a:ln/>
        </p:spPr>
        <p:txBody>
          <a:bodyPr wrap="square" lIns="0" tIns="0" rIns="0" bIns="0" rtlCol="0" anchor="ctr"/>
          <a:lstStyle/>
          <a:p>
            <a:pPr indent="0" marL="0">
              <a:buNone/>
            </a:pPr>
            <a:r>
              <a:rPr lang="en-US" sz="1600" b="1" dirty="0">
                <a:solidFill>
                  <a:srgbClr val="102A43"/>
                </a:solidFill>
                <a:latin typeface="Trebuchet MS" pitchFamily="34" charset="0"/>
                <a:ea typeface="Trebuchet MS" pitchFamily="34" charset="-122"/>
                <a:cs typeface="Trebuchet MS" pitchFamily="34" charset="-120"/>
              </a:rPr>
              <a:t>Today's flow</a:t>
            </a:r>
            <a:endParaRPr lang="en-US" sz="1600" dirty="0"/>
          </a:p>
        </p:txBody>
      </p:sp>
      <p:sp>
        <p:nvSpPr>
          <p:cNvPr id="7" name="Text 5"/>
          <p:cNvSpPr/>
          <p:nvPr/>
        </p:nvSpPr>
        <p:spPr>
          <a:xfrm>
            <a:off x="5715000" y="1828800"/>
            <a:ext cx="2560320" cy="2011680"/>
          </a:xfrm>
          <a:prstGeom prst="rect">
            <a:avLst/>
          </a:prstGeom>
          <a:noFill/>
          <a:ln/>
        </p:spPr>
        <p:txBody>
          <a:bodyPr wrap="square" lIns="0" tIns="0" rIns="0" bIns="0" rtlCol="0" anchor="ctr">
            <a:normAutofit/>
          </a:bodyPr>
          <a:lstStyle/>
          <a:p>
            <a:pPr indent="0" marL="0">
              <a:buNone/>
            </a:pPr>
            <a:r>
              <a:rPr lang="en-US" sz="1120" dirty="0">
                <a:solidFill>
                  <a:srgbClr val="24364B"/>
                </a:solidFill>
                <a:latin typeface="Aptos" pitchFamily="34" charset="0"/>
                <a:ea typeface="Aptos" pitchFamily="34" charset="-122"/>
                <a:cs typeface="Aptos" pitchFamily="34" charset="-120"/>
              </a:rPr>
              <a:t>1) Research question and hypothesis</a:t>
            </a:r>
            <a:endParaRPr lang="en-US" sz="1120" dirty="0"/>
          </a:p>
          <a:p>
            <a:pPr indent="0" marL="0">
              <a:buNone/>
            </a:pPr>
            <a:r>
              <a:rPr lang="en-US" sz="1120" dirty="0">
                <a:solidFill>
                  <a:srgbClr val="24364B"/>
                </a:solidFill>
                <a:latin typeface="Aptos" pitchFamily="34" charset="0"/>
                <a:ea typeface="Aptos" pitchFamily="34" charset="-122"/>
                <a:cs typeface="Aptos" pitchFamily="34" charset="-120"/>
              </a:rPr>
              <a:t>2) Three data sources</a:t>
            </a:r>
            <a:endParaRPr lang="en-US" sz="1120" dirty="0"/>
          </a:p>
          <a:p>
            <a:pPr indent="0" marL="0">
              <a:buNone/>
            </a:pPr>
            <a:r>
              <a:rPr lang="en-US" sz="1120" dirty="0">
                <a:solidFill>
                  <a:srgbClr val="24364B"/>
                </a:solidFill>
                <a:latin typeface="Aptos" pitchFamily="34" charset="0"/>
                <a:ea typeface="Aptos" pitchFamily="34" charset="-122"/>
                <a:cs typeface="Aptos" pitchFamily="34" charset="-120"/>
              </a:rPr>
              <a:t>3) Methodology</a:t>
            </a:r>
            <a:endParaRPr lang="en-US" sz="1120" dirty="0"/>
          </a:p>
          <a:p>
            <a:pPr indent="0" marL="0">
              <a:buNone/>
            </a:pPr>
            <a:r>
              <a:rPr lang="en-US" sz="1120" dirty="0">
                <a:solidFill>
                  <a:srgbClr val="24364B"/>
                </a:solidFill>
                <a:latin typeface="Aptos" pitchFamily="34" charset="0"/>
                <a:ea typeface="Aptos" pitchFamily="34" charset="-122"/>
                <a:cs typeface="Aptos" pitchFamily="34" charset="-120"/>
              </a:rPr>
              <a:t>4) Findings with graphs</a:t>
            </a:r>
            <a:endParaRPr lang="en-US" sz="1120" dirty="0"/>
          </a:p>
          <a:p>
            <a:pPr indent="0" marL="0">
              <a:buNone/>
            </a:pPr>
            <a:r>
              <a:rPr lang="en-US" sz="1120" dirty="0">
                <a:solidFill>
                  <a:srgbClr val="24364B"/>
                </a:solidFill>
                <a:latin typeface="Aptos" pitchFamily="34" charset="0"/>
                <a:ea typeface="Aptos" pitchFamily="34" charset="-122"/>
                <a:cs typeface="Aptos" pitchFamily="34" charset="-120"/>
              </a:rPr>
              <a:t>5) Thank you and Q&amp;A</a:t>
            </a:r>
            <a:endParaRPr lang="en-US" sz="11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8FD"/>
        </a:solidFill>
      </p:bgPr>
    </p:bg>
    <p:spTree>
      <p:nvGrpSpPr>
        <p:cNvPr id="1" name=""/>
        <p:cNvGrpSpPr/>
        <p:nvPr/>
      </p:nvGrpSpPr>
      <p:grpSpPr>
        <a:xfrm>
          <a:off x="0" y="0"/>
          <a:ext cx="0" cy="0"/>
          <a:chOff x="0" y="0"/>
          <a:chExt cx="0" cy="0"/>
        </a:xfrm>
      </p:grpSpPr>
      <p:sp>
        <p:nvSpPr>
          <p:cNvPr id="2" name="Shape 0"/>
          <p:cNvSpPr/>
          <p:nvPr/>
        </p:nvSpPr>
        <p:spPr>
          <a:xfrm>
            <a:off x="502920" y="274320"/>
            <a:ext cx="2011680" cy="310896"/>
          </a:xfrm>
          <a:prstGeom prst="roundRect">
            <a:avLst>
              <a:gd name="adj" fmla="val 23529"/>
            </a:avLst>
          </a:prstGeom>
          <a:solidFill>
            <a:srgbClr val="DCEEFF"/>
          </a:solidFill>
          <a:ln w="12700">
            <a:solidFill>
              <a:srgbClr val="DCEEFF"/>
            </a:solidFill>
            <a:prstDash val="solid"/>
          </a:ln>
        </p:spPr>
      </p:sp>
      <p:sp>
        <p:nvSpPr>
          <p:cNvPr id="3" name="Text 1"/>
          <p:cNvSpPr/>
          <p:nvPr/>
        </p:nvSpPr>
        <p:spPr>
          <a:xfrm>
            <a:off x="502920" y="301752"/>
            <a:ext cx="2011680" cy="201168"/>
          </a:xfrm>
          <a:prstGeom prst="rect">
            <a:avLst/>
          </a:prstGeom>
          <a:noFill/>
          <a:ln/>
        </p:spPr>
        <p:txBody>
          <a:bodyPr wrap="square" lIns="0" tIns="0" rIns="0" bIns="0" rtlCol="0" anchor="ctr"/>
          <a:lstStyle/>
          <a:p>
            <a:pPr algn="ctr" indent="0" marL="0">
              <a:buNone/>
            </a:pPr>
            <a:r>
              <a:rPr lang="en-US" sz="900" b="1" spc="100" kern="0" dirty="0">
                <a:solidFill>
                  <a:srgbClr val="102A43"/>
                </a:solidFill>
                <a:latin typeface="Trebuchet MS" pitchFamily="34" charset="0"/>
                <a:ea typeface="Trebuchet MS" pitchFamily="34" charset="-122"/>
                <a:cs typeface="Trebuchet MS" pitchFamily="34" charset="-120"/>
              </a:rPr>
              <a:t>SLIDE 2</a:t>
            </a:r>
            <a:endParaRPr lang="en-US" sz="900" dirty="0"/>
          </a:p>
        </p:txBody>
      </p:sp>
      <p:sp>
        <p:nvSpPr>
          <p:cNvPr id="4" name="Text 2"/>
          <p:cNvSpPr/>
          <p:nvPr/>
        </p:nvSpPr>
        <p:spPr>
          <a:xfrm>
            <a:off x="502920" y="658368"/>
            <a:ext cx="8138160" cy="347472"/>
          </a:xfrm>
          <a:prstGeom prst="rect">
            <a:avLst/>
          </a:prstGeom>
          <a:noFill/>
          <a:ln/>
        </p:spPr>
        <p:txBody>
          <a:bodyPr wrap="square" lIns="0" tIns="0" rIns="0" bIns="0" rtlCol="0" anchor="ctr">
            <a:normAutofit/>
          </a:bodyPr>
          <a:lstStyle/>
          <a:p>
            <a:pPr indent="0" marL="0">
              <a:buNone/>
            </a:pPr>
            <a:r>
              <a:rPr lang="en-US" sz="2400" b="1" dirty="0">
                <a:solidFill>
                  <a:srgbClr val="102A43"/>
                </a:solidFill>
                <a:latin typeface="Trebuchet MS" pitchFamily="34" charset="0"/>
                <a:ea typeface="Trebuchet MS" pitchFamily="34" charset="-122"/>
                <a:cs typeface="Trebuchet MS" pitchFamily="34" charset="-120"/>
              </a:rPr>
              <a:t>Research Question and Hypothesis</a:t>
            </a:r>
            <a:endParaRPr lang="en-US" sz="2400" dirty="0"/>
          </a:p>
        </p:txBody>
      </p:sp>
      <p:sp>
        <p:nvSpPr>
          <p:cNvPr id="5" name="Shape 3"/>
          <p:cNvSpPr/>
          <p:nvPr/>
        </p:nvSpPr>
        <p:spPr>
          <a:xfrm>
            <a:off x="502920" y="1417320"/>
            <a:ext cx="8138160" cy="4480560"/>
          </a:xfrm>
          <a:prstGeom prst="roundRect">
            <a:avLst>
              <a:gd name="adj" fmla="val 1837"/>
            </a:avLst>
          </a:prstGeom>
          <a:solidFill>
            <a:srgbClr val="FFFFFF"/>
          </a:solidFill>
          <a:ln w="12700">
            <a:solidFill>
              <a:srgbClr val="DDE8F2"/>
            </a:solidFill>
            <a:prstDash val="solid"/>
          </a:ln>
          <a:effectLst>
            <a:outerShdw sx="100000" sy="100000" kx="0" ky="0" algn="bl" rotWithShape="0" blurRad="38100" dist="17780" dir="2700000">
              <a:srgbClr val="000000">
                <a:alpha val="8000"/>
              </a:srgbClr>
            </a:outerShdw>
          </a:effectLst>
        </p:spPr>
      </p:sp>
      <p:sp>
        <p:nvSpPr>
          <p:cNvPr id="6" name="Text 4"/>
          <p:cNvSpPr/>
          <p:nvPr/>
        </p:nvSpPr>
        <p:spPr>
          <a:xfrm>
            <a:off x="777240" y="1737360"/>
            <a:ext cx="7589520" cy="219456"/>
          </a:xfrm>
          <a:prstGeom prst="rect">
            <a:avLst/>
          </a:prstGeom>
          <a:noFill/>
          <a:ln/>
        </p:spPr>
        <p:txBody>
          <a:bodyPr wrap="square" lIns="0" tIns="0" rIns="0" bIns="0" rtlCol="0" anchor="ctr"/>
          <a:lstStyle/>
          <a:p>
            <a:pPr indent="0" marL="0">
              <a:buNone/>
            </a:pPr>
            <a:r>
              <a:rPr lang="en-US" sz="1600" b="1" dirty="0">
                <a:solidFill>
                  <a:srgbClr val="102A43"/>
                </a:solidFill>
                <a:latin typeface="Trebuchet MS" pitchFamily="34" charset="0"/>
                <a:ea typeface="Trebuchet MS" pitchFamily="34" charset="-122"/>
                <a:cs typeface="Trebuchet MS" pitchFamily="34" charset="-120"/>
              </a:rPr>
              <a:t>Research question</a:t>
            </a:r>
            <a:endParaRPr lang="en-US" sz="1600" dirty="0"/>
          </a:p>
        </p:txBody>
      </p:sp>
      <p:sp>
        <p:nvSpPr>
          <p:cNvPr id="7" name="Text 5"/>
          <p:cNvSpPr/>
          <p:nvPr/>
        </p:nvSpPr>
        <p:spPr>
          <a:xfrm>
            <a:off x="777240" y="2057400"/>
            <a:ext cx="7589520" cy="731520"/>
          </a:xfrm>
          <a:prstGeom prst="rect">
            <a:avLst/>
          </a:prstGeom>
          <a:noFill/>
          <a:ln/>
        </p:spPr>
        <p:txBody>
          <a:bodyPr wrap="square" lIns="0" tIns="0" rIns="0" bIns="0" rtlCol="0" anchor="ctr">
            <a:normAutofit/>
          </a:bodyPr>
          <a:lstStyle/>
          <a:p>
            <a:pPr indent="0" marL="0">
              <a:buNone/>
            </a:pPr>
            <a:r>
              <a:rPr lang="en-US" sz="1500" dirty="0">
                <a:solidFill>
                  <a:srgbClr val="24364B"/>
                </a:solidFill>
                <a:latin typeface="Aptos" pitchFamily="34" charset="0"/>
                <a:ea typeface="Aptos" pitchFamily="34" charset="-122"/>
                <a:cs typeface="Aptos" pitchFamily="34" charset="-120"/>
              </a:rPr>
              <a:t>Do firms that spend more on lobbying in one year show higher profitability in the following year?</a:t>
            </a:r>
            <a:endParaRPr lang="en-US" sz="1500" dirty="0"/>
          </a:p>
        </p:txBody>
      </p:sp>
      <p:sp>
        <p:nvSpPr>
          <p:cNvPr id="8" name="Text 6"/>
          <p:cNvSpPr/>
          <p:nvPr/>
        </p:nvSpPr>
        <p:spPr>
          <a:xfrm>
            <a:off x="777240" y="3108960"/>
            <a:ext cx="7589520" cy="219456"/>
          </a:xfrm>
          <a:prstGeom prst="rect">
            <a:avLst/>
          </a:prstGeom>
          <a:noFill/>
          <a:ln/>
        </p:spPr>
        <p:txBody>
          <a:bodyPr wrap="square" lIns="0" tIns="0" rIns="0" bIns="0" rtlCol="0" anchor="ctr"/>
          <a:lstStyle/>
          <a:p>
            <a:pPr indent="0" marL="0">
              <a:buNone/>
            </a:pPr>
            <a:r>
              <a:rPr lang="en-US" sz="1600" b="1" dirty="0">
                <a:solidFill>
                  <a:srgbClr val="102A43"/>
                </a:solidFill>
                <a:latin typeface="Trebuchet MS" pitchFamily="34" charset="0"/>
                <a:ea typeface="Trebuchet MS" pitchFamily="34" charset="-122"/>
                <a:cs typeface="Trebuchet MS" pitchFamily="34" charset="-120"/>
              </a:rPr>
              <a:t>Hypothesis</a:t>
            </a:r>
            <a:endParaRPr lang="en-US" sz="1600" dirty="0"/>
          </a:p>
        </p:txBody>
      </p:sp>
      <p:sp>
        <p:nvSpPr>
          <p:cNvPr id="9" name="Text 7"/>
          <p:cNvSpPr/>
          <p:nvPr/>
        </p:nvSpPr>
        <p:spPr>
          <a:xfrm>
            <a:off x="777240" y="3429000"/>
            <a:ext cx="7589520" cy="731520"/>
          </a:xfrm>
          <a:prstGeom prst="rect">
            <a:avLst/>
          </a:prstGeom>
          <a:noFill/>
          <a:ln/>
        </p:spPr>
        <p:txBody>
          <a:bodyPr wrap="square" lIns="0" tIns="0" rIns="0" bIns="0" rtlCol="0" anchor="ctr">
            <a:normAutofit/>
          </a:bodyPr>
          <a:lstStyle/>
          <a:p>
            <a:pPr indent="0" marL="0">
              <a:buNone/>
            </a:pPr>
            <a:r>
              <a:rPr lang="en-US" sz="1500" dirty="0">
                <a:solidFill>
                  <a:srgbClr val="24364B"/>
                </a:solidFill>
                <a:latin typeface="Aptos" pitchFamily="34" charset="0"/>
                <a:ea typeface="Aptos" pitchFamily="34" charset="-122"/>
                <a:cs typeface="Aptos" pitchFamily="34" charset="-120"/>
              </a:rPr>
              <a:t>Our hypothesis was: more lobbying expenditures would result in higher profitability.</a:t>
            </a:r>
            <a:endParaRPr lang="en-US" sz="1500" dirty="0"/>
          </a:p>
        </p:txBody>
      </p:sp>
      <p:sp>
        <p:nvSpPr>
          <p:cNvPr id="10" name="Shape 8"/>
          <p:cNvSpPr/>
          <p:nvPr/>
        </p:nvSpPr>
        <p:spPr>
          <a:xfrm>
            <a:off x="777240" y="4480560"/>
            <a:ext cx="7589520" cy="1097280"/>
          </a:xfrm>
          <a:prstGeom prst="roundRect">
            <a:avLst>
              <a:gd name="adj" fmla="val 7500"/>
            </a:avLst>
          </a:prstGeom>
          <a:solidFill>
            <a:srgbClr val="EDF5FF"/>
          </a:solidFill>
          <a:ln w="12700">
            <a:solidFill>
              <a:srgbClr val="DCEEFF"/>
            </a:solidFill>
            <a:prstDash val="solid"/>
          </a:ln>
          <a:effectLst>
            <a:outerShdw sx="100000" sy="100000" kx="0" ky="0" algn="bl" rotWithShape="0" blurRad="38100" dist="17780" dir="2700000">
              <a:srgbClr val="000000">
                <a:alpha val="8000"/>
              </a:srgbClr>
            </a:outerShdw>
          </a:effectLst>
        </p:spPr>
      </p:sp>
      <p:sp>
        <p:nvSpPr>
          <p:cNvPr id="11" name="Text 9"/>
          <p:cNvSpPr/>
          <p:nvPr/>
        </p:nvSpPr>
        <p:spPr>
          <a:xfrm>
            <a:off x="960120" y="4846320"/>
            <a:ext cx="7223760" cy="365760"/>
          </a:xfrm>
          <a:prstGeom prst="rect">
            <a:avLst/>
          </a:prstGeom>
          <a:noFill/>
          <a:ln/>
        </p:spPr>
        <p:txBody>
          <a:bodyPr wrap="square" lIns="0" tIns="0" rIns="0" bIns="0" rtlCol="0" anchor="ctr">
            <a:normAutofit/>
          </a:bodyPr>
          <a:lstStyle/>
          <a:p>
            <a:pPr indent="0" marL="0">
              <a:buNone/>
            </a:pPr>
            <a:r>
              <a:rPr lang="en-US" sz="1180" b="1" dirty="0">
                <a:solidFill>
                  <a:srgbClr val="102A43"/>
                </a:solidFill>
                <a:latin typeface="Aptos" pitchFamily="34" charset="0"/>
                <a:ea typeface="Aptos" pitchFamily="34" charset="-122"/>
                <a:cs typeface="Aptos" pitchFamily="34" charset="-120"/>
              </a:rPr>
              <a:t>In plain terms: we expected that money spent on policy influence would help business outcomes later.</a:t>
            </a:r>
            <a:endParaRPr lang="en-US" sz="11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F8FD"/>
        </a:solidFill>
      </p:bgPr>
    </p:bg>
    <p:spTree>
      <p:nvGrpSpPr>
        <p:cNvPr id="1" name=""/>
        <p:cNvGrpSpPr/>
        <p:nvPr/>
      </p:nvGrpSpPr>
      <p:grpSpPr>
        <a:xfrm>
          <a:off x="0" y="0"/>
          <a:ext cx="0" cy="0"/>
          <a:chOff x="0" y="0"/>
          <a:chExt cx="0" cy="0"/>
        </a:xfrm>
      </p:grpSpPr>
      <p:sp>
        <p:nvSpPr>
          <p:cNvPr id="2" name="Shape 0"/>
          <p:cNvSpPr/>
          <p:nvPr/>
        </p:nvSpPr>
        <p:spPr>
          <a:xfrm>
            <a:off x="502920" y="274320"/>
            <a:ext cx="2011680" cy="310896"/>
          </a:xfrm>
          <a:prstGeom prst="roundRect">
            <a:avLst>
              <a:gd name="adj" fmla="val 23529"/>
            </a:avLst>
          </a:prstGeom>
          <a:solidFill>
            <a:srgbClr val="DCEEFF"/>
          </a:solidFill>
          <a:ln w="12700">
            <a:solidFill>
              <a:srgbClr val="DCEEFF"/>
            </a:solidFill>
            <a:prstDash val="solid"/>
          </a:ln>
        </p:spPr>
      </p:sp>
      <p:sp>
        <p:nvSpPr>
          <p:cNvPr id="3" name="Text 1"/>
          <p:cNvSpPr/>
          <p:nvPr/>
        </p:nvSpPr>
        <p:spPr>
          <a:xfrm>
            <a:off x="502920" y="301752"/>
            <a:ext cx="2011680" cy="201168"/>
          </a:xfrm>
          <a:prstGeom prst="rect">
            <a:avLst/>
          </a:prstGeom>
          <a:noFill/>
          <a:ln/>
        </p:spPr>
        <p:txBody>
          <a:bodyPr wrap="square" lIns="0" tIns="0" rIns="0" bIns="0" rtlCol="0" anchor="ctr"/>
          <a:lstStyle/>
          <a:p>
            <a:pPr algn="ctr" indent="0" marL="0">
              <a:buNone/>
            </a:pPr>
            <a:r>
              <a:rPr lang="en-US" sz="900" b="1" spc="100" kern="0" dirty="0">
                <a:solidFill>
                  <a:srgbClr val="102A43"/>
                </a:solidFill>
                <a:latin typeface="Trebuchet MS" pitchFamily="34" charset="0"/>
                <a:ea typeface="Trebuchet MS" pitchFamily="34" charset="-122"/>
                <a:cs typeface="Trebuchet MS" pitchFamily="34" charset="-120"/>
              </a:rPr>
              <a:t>SLIDE 3</a:t>
            </a:r>
            <a:endParaRPr lang="en-US" sz="900" dirty="0"/>
          </a:p>
        </p:txBody>
      </p:sp>
      <p:sp>
        <p:nvSpPr>
          <p:cNvPr id="4" name="Text 2"/>
          <p:cNvSpPr/>
          <p:nvPr/>
        </p:nvSpPr>
        <p:spPr>
          <a:xfrm>
            <a:off x="502920" y="658368"/>
            <a:ext cx="8138160" cy="347472"/>
          </a:xfrm>
          <a:prstGeom prst="rect">
            <a:avLst/>
          </a:prstGeom>
          <a:noFill/>
          <a:ln/>
        </p:spPr>
        <p:txBody>
          <a:bodyPr wrap="square" lIns="0" tIns="0" rIns="0" bIns="0" rtlCol="0" anchor="ctr">
            <a:normAutofit/>
          </a:bodyPr>
          <a:lstStyle/>
          <a:p>
            <a:pPr indent="0" marL="0">
              <a:buNone/>
            </a:pPr>
            <a:r>
              <a:rPr lang="en-US" sz="2400" b="1" dirty="0">
                <a:solidFill>
                  <a:srgbClr val="102A43"/>
                </a:solidFill>
                <a:latin typeface="Trebuchet MS" pitchFamily="34" charset="0"/>
                <a:ea typeface="Trebuchet MS" pitchFamily="34" charset="-122"/>
                <a:cs typeface="Trebuchet MS" pitchFamily="34" charset="-120"/>
              </a:rPr>
              <a:t>Our Three Data Sources (Including Crosswalk)</a:t>
            </a:r>
            <a:endParaRPr lang="en-US" sz="2400" dirty="0"/>
          </a:p>
        </p:txBody>
      </p:sp>
      <p:sp>
        <p:nvSpPr>
          <p:cNvPr id="5" name="Shape 3"/>
          <p:cNvSpPr/>
          <p:nvPr/>
        </p:nvSpPr>
        <p:spPr>
          <a:xfrm>
            <a:off x="502920" y="1417320"/>
            <a:ext cx="2560320" cy="4480560"/>
          </a:xfrm>
          <a:prstGeom prst="roundRect">
            <a:avLst>
              <a:gd name="adj" fmla="val 3214"/>
            </a:avLst>
          </a:prstGeom>
          <a:solidFill>
            <a:srgbClr val="FFFFFF"/>
          </a:solidFill>
          <a:ln w="12700">
            <a:solidFill>
              <a:srgbClr val="DDE8F2"/>
            </a:solidFill>
            <a:prstDash val="solid"/>
          </a:ln>
          <a:effectLst>
            <a:outerShdw sx="100000" sy="100000" kx="0" ky="0" algn="bl" rotWithShape="0" blurRad="38100" dist="17780" dir="2700000">
              <a:srgbClr val="000000">
                <a:alpha val="8000"/>
              </a:srgbClr>
            </a:outerShdw>
          </a:effectLst>
        </p:spPr>
      </p:sp>
      <p:sp>
        <p:nvSpPr>
          <p:cNvPr id="6" name="Shape 4"/>
          <p:cNvSpPr/>
          <p:nvPr/>
        </p:nvSpPr>
        <p:spPr>
          <a:xfrm>
            <a:off x="3291840" y="1417320"/>
            <a:ext cx="2560320" cy="4480560"/>
          </a:xfrm>
          <a:prstGeom prst="roundRect">
            <a:avLst>
              <a:gd name="adj" fmla="val 3214"/>
            </a:avLst>
          </a:prstGeom>
          <a:solidFill>
            <a:srgbClr val="FFFFFF"/>
          </a:solidFill>
          <a:ln w="12700">
            <a:solidFill>
              <a:srgbClr val="DDE8F2"/>
            </a:solidFill>
            <a:prstDash val="solid"/>
          </a:ln>
          <a:effectLst>
            <a:outerShdw sx="100000" sy="100000" kx="0" ky="0" algn="bl" rotWithShape="0" blurRad="38100" dist="17780" dir="2700000">
              <a:srgbClr val="000000">
                <a:alpha val="8000"/>
              </a:srgbClr>
            </a:outerShdw>
          </a:effectLst>
        </p:spPr>
      </p:sp>
      <p:sp>
        <p:nvSpPr>
          <p:cNvPr id="7" name="Shape 5"/>
          <p:cNvSpPr/>
          <p:nvPr/>
        </p:nvSpPr>
        <p:spPr>
          <a:xfrm>
            <a:off x="6080760" y="1417320"/>
            <a:ext cx="2560320" cy="4480560"/>
          </a:xfrm>
          <a:prstGeom prst="roundRect">
            <a:avLst>
              <a:gd name="adj" fmla="val 3214"/>
            </a:avLst>
          </a:prstGeom>
          <a:solidFill>
            <a:srgbClr val="FFFFFF"/>
          </a:solidFill>
          <a:ln w="12700">
            <a:solidFill>
              <a:srgbClr val="DDE8F2"/>
            </a:solidFill>
            <a:prstDash val="solid"/>
          </a:ln>
          <a:effectLst>
            <a:outerShdw sx="100000" sy="100000" kx="0" ky="0" algn="bl" rotWithShape="0" blurRad="38100" dist="17780" dir="2700000">
              <a:srgbClr val="000000">
                <a:alpha val="8000"/>
              </a:srgbClr>
            </a:outerShdw>
          </a:effectLst>
        </p:spPr>
      </p:sp>
      <p:sp>
        <p:nvSpPr>
          <p:cNvPr id="8" name="Text 6"/>
          <p:cNvSpPr/>
          <p:nvPr/>
        </p:nvSpPr>
        <p:spPr>
          <a:xfrm>
            <a:off x="731520" y="1737360"/>
            <a:ext cx="2103120" cy="219456"/>
          </a:xfrm>
          <a:prstGeom prst="rect">
            <a:avLst/>
          </a:prstGeom>
          <a:noFill/>
          <a:ln/>
        </p:spPr>
        <p:txBody>
          <a:bodyPr wrap="square" lIns="0" tIns="0" rIns="0" bIns="0" rtlCol="0" anchor="ctr"/>
          <a:lstStyle/>
          <a:p>
            <a:pPr indent="0" marL="0">
              <a:buNone/>
            </a:pPr>
            <a:r>
              <a:rPr lang="en-US" sz="1400" b="1" dirty="0">
                <a:solidFill>
                  <a:srgbClr val="102A43"/>
                </a:solidFill>
                <a:latin typeface="Trebuchet MS" pitchFamily="34" charset="0"/>
                <a:ea typeface="Trebuchet MS" pitchFamily="34" charset="-122"/>
                <a:cs typeface="Trebuchet MS" pitchFamily="34" charset="-120"/>
              </a:rPr>
              <a:t>1) Financial Data</a:t>
            </a:r>
            <a:endParaRPr lang="en-US" sz="1400" dirty="0"/>
          </a:p>
        </p:txBody>
      </p:sp>
      <p:sp>
        <p:nvSpPr>
          <p:cNvPr id="9" name="Text 7"/>
          <p:cNvSpPr/>
          <p:nvPr/>
        </p:nvSpPr>
        <p:spPr>
          <a:xfrm>
            <a:off x="731520" y="2057400"/>
            <a:ext cx="2148840" cy="2011680"/>
          </a:xfrm>
          <a:prstGeom prst="rect">
            <a:avLst/>
          </a:prstGeom>
          <a:noFill/>
          <a:ln/>
        </p:spPr>
        <p:txBody>
          <a:bodyPr wrap="square" lIns="0" tIns="0" rIns="0" bIns="0" rtlCol="0" anchor="ctr">
            <a:normAutofit/>
          </a:bodyPr>
          <a:lstStyle/>
          <a:p>
            <a:pPr indent="0" marL="0">
              <a:buNone/>
            </a:pPr>
            <a:r>
              <a:rPr lang="en-US" sz="1080" dirty="0">
                <a:solidFill>
                  <a:srgbClr val="24364B"/>
                </a:solidFill>
                <a:latin typeface="Aptos" pitchFamily="34" charset="0"/>
                <a:ea typeface="Aptos" pitchFamily="34" charset="-122"/>
                <a:cs typeface="Aptos" pitchFamily="34" charset="-120"/>
              </a:rPr>
              <a:t>Source: SEC XBRL 10-K filings</a:t>
            </a:r>
            <a:endParaRPr lang="en-US" sz="1080" dirty="0"/>
          </a:p>
          <a:p>
            <a:pPr indent="0" marL="0">
              <a:buNone/>
            </a:pPr>
            <a:r>
              <a:rPr lang="en-US" sz="1080" dirty="0">
                <a:solidFill>
                  <a:srgbClr val="24364B"/>
                </a:solidFill>
                <a:latin typeface="Aptos" pitchFamily="34" charset="0"/>
                <a:ea typeface="Aptos" pitchFamily="34" charset="-122"/>
                <a:cs typeface="Aptos" pitchFamily="34" charset="-120"/>
              </a:rPr>
              <a:t>We used firm financials like assets, revenue, and net income to build profitability measures.</a:t>
            </a:r>
            <a:endParaRPr lang="en-US" sz="1080" dirty="0"/>
          </a:p>
        </p:txBody>
      </p:sp>
      <p:sp>
        <p:nvSpPr>
          <p:cNvPr id="10" name="Text 8"/>
          <p:cNvSpPr/>
          <p:nvPr/>
        </p:nvSpPr>
        <p:spPr>
          <a:xfrm>
            <a:off x="3520440" y="1737360"/>
            <a:ext cx="2103120" cy="219456"/>
          </a:xfrm>
          <a:prstGeom prst="rect">
            <a:avLst/>
          </a:prstGeom>
          <a:noFill/>
          <a:ln/>
        </p:spPr>
        <p:txBody>
          <a:bodyPr wrap="square" lIns="0" tIns="0" rIns="0" bIns="0" rtlCol="0" anchor="ctr"/>
          <a:lstStyle/>
          <a:p>
            <a:pPr indent="0" marL="0">
              <a:buNone/>
            </a:pPr>
            <a:r>
              <a:rPr lang="en-US" sz="1400" b="1" dirty="0">
                <a:solidFill>
                  <a:srgbClr val="102A43"/>
                </a:solidFill>
                <a:latin typeface="Trebuchet MS" pitchFamily="34" charset="0"/>
                <a:ea typeface="Trebuchet MS" pitchFamily="34" charset="-122"/>
                <a:cs typeface="Trebuchet MS" pitchFamily="34" charset="-120"/>
              </a:rPr>
              <a:t>2) Lobbying Data</a:t>
            </a:r>
            <a:endParaRPr lang="en-US" sz="1400" dirty="0"/>
          </a:p>
        </p:txBody>
      </p:sp>
      <p:sp>
        <p:nvSpPr>
          <p:cNvPr id="11" name="Text 9"/>
          <p:cNvSpPr/>
          <p:nvPr/>
        </p:nvSpPr>
        <p:spPr>
          <a:xfrm>
            <a:off x="3520440" y="2057400"/>
            <a:ext cx="2148840" cy="2011680"/>
          </a:xfrm>
          <a:prstGeom prst="rect">
            <a:avLst/>
          </a:prstGeom>
          <a:noFill/>
          <a:ln/>
        </p:spPr>
        <p:txBody>
          <a:bodyPr wrap="square" lIns="0" tIns="0" rIns="0" bIns="0" rtlCol="0" anchor="ctr">
            <a:normAutofit/>
          </a:bodyPr>
          <a:lstStyle/>
          <a:p>
            <a:pPr indent="0" marL="0">
              <a:buNone/>
            </a:pPr>
            <a:r>
              <a:rPr lang="en-US" sz="1080" dirty="0">
                <a:solidFill>
                  <a:srgbClr val="24364B"/>
                </a:solidFill>
                <a:latin typeface="Aptos" pitchFamily="34" charset="0"/>
                <a:ea typeface="Aptos" pitchFamily="34" charset="-122"/>
                <a:cs typeface="Aptos" pitchFamily="34" charset="-120"/>
              </a:rPr>
              <a:t>Source: Senate disclosures via LobbyView</a:t>
            </a:r>
            <a:endParaRPr lang="en-US" sz="1080" dirty="0"/>
          </a:p>
          <a:p>
            <a:pPr indent="0" marL="0">
              <a:buNone/>
            </a:pPr>
            <a:r>
              <a:rPr lang="en-US" sz="1080" dirty="0">
                <a:solidFill>
                  <a:srgbClr val="24364B"/>
                </a:solidFill>
                <a:latin typeface="Aptos" pitchFamily="34" charset="0"/>
                <a:ea typeface="Aptos" pitchFamily="34" charset="-122"/>
                <a:cs typeface="Aptos" pitchFamily="34" charset="-120"/>
              </a:rPr>
              <a:t>We used annual lobbying spending by firm to track political activity over time.</a:t>
            </a:r>
            <a:endParaRPr lang="en-US" sz="1080" dirty="0"/>
          </a:p>
        </p:txBody>
      </p:sp>
      <p:sp>
        <p:nvSpPr>
          <p:cNvPr id="12" name="Text 10"/>
          <p:cNvSpPr/>
          <p:nvPr/>
        </p:nvSpPr>
        <p:spPr>
          <a:xfrm>
            <a:off x="6309360" y="1737360"/>
            <a:ext cx="2103120" cy="219456"/>
          </a:xfrm>
          <a:prstGeom prst="rect">
            <a:avLst/>
          </a:prstGeom>
          <a:noFill/>
          <a:ln/>
        </p:spPr>
        <p:txBody>
          <a:bodyPr wrap="square" lIns="0" tIns="0" rIns="0" bIns="0" rtlCol="0" anchor="ctr"/>
          <a:lstStyle/>
          <a:p>
            <a:pPr indent="0" marL="0">
              <a:buNone/>
            </a:pPr>
            <a:r>
              <a:rPr lang="en-US" sz="1400" b="1" dirty="0">
                <a:solidFill>
                  <a:srgbClr val="102A43"/>
                </a:solidFill>
                <a:latin typeface="Trebuchet MS" pitchFamily="34" charset="0"/>
                <a:ea typeface="Trebuchet MS" pitchFamily="34" charset="-122"/>
                <a:cs typeface="Trebuchet MS" pitchFamily="34" charset="-120"/>
              </a:rPr>
              <a:t>3) Crosswalk File</a:t>
            </a:r>
            <a:endParaRPr lang="en-US" sz="1400" dirty="0"/>
          </a:p>
        </p:txBody>
      </p:sp>
      <p:sp>
        <p:nvSpPr>
          <p:cNvPr id="13" name="Text 11"/>
          <p:cNvSpPr/>
          <p:nvPr/>
        </p:nvSpPr>
        <p:spPr>
          <a:xfrm>
            <a:off x="6309360" y="2057400"/>
            <a:ext cx="2148840" cy="2011680"/>
          </a:xfrm>
          <a:prstGeom prst="rect">
            <a:avLst/>
          </a:prstGeom>
          <a:noFill/>
          <a:ln/>
        </p:spPr>
        <p:txBody>
          <a:bodyPr wrap="square" lIns="0" tIns="0" rIns="0" bIns="0" rtlCol="0" anchor="ctr">
            <a:normAutofit/>
          </a:bodyPr>
          <a:lstStyle/>
          <a:p>
            <a:pPr indent="0" marL="0">
              <a:buNone/>
            </a:pPr>
            <a:r>
              <a:rPr lang="en-US" sz="1080" dirty="0">
                <a:solidFill>
                  <a:srgbClr val="24364B"/>
                </a:solidFill>
                <a:latin typeface="Aptos" pitchFamily="34" charset="0"/>
                <a:ea typeface="Aptos" pitchFamily="34" charset="-122"/>
                <a:cs typeface="Aptos" pitchFamily="34" charset="-120"/>
              </a:rPr>
              <a:t>Source: CIK-GVKEY crosswalk</a:t>
            </a:r>
            <a:endParaRPr lang="en-US" sz="1080" dirty="0"/>
          </a:p>
          <a:p>
            <a:pPr indent="0" marL="0">
              <a:buNone/>
            </a:pPr>
            <a:r>
              <a:rPr lang="en-US" sz="1080" dirty="0">
                <a:solidFill>
                  <a:srgbClr val="24364B"/>
                </a:solidFill>
                <a:latin typeface="Aptos" pitchFamily="34" charset="0"/>
                <a:ea typeface="Aptos" pitchFamily="34" charset="-122"/>
                <a:cs typeface="Aptos" pitchFamily="34" charset="-120"/>
              </a:rPr>
              <a:t>This file links firm IDs across datasets so we can correctly merge financial and lobbying records.</a:t>
            </a:r>
            <a:endParaRPr lang="en-US" sz="1080" dirty="0"/>
          </a:p>
        </p:txBody>
      </p:sp>
      <p:sp>
        <p:nvSpPr>
          <p:cNvPr id="14" name="Shape 12"/>
          <p:cNvSpPr/>
          <p:nvPr/>
        </p:nvSpPr>
        <p:spPr>
          <a:xfrm>
            <a:off x="731520" y="4526280"/>
            <a:ext cx="7680960" cy="1051560"/>
          </a:xfrm>
          <a:prstGeom prst="roundRect">
            <a:avLst>
              <a:gd name="adj" fmla="val 7826"/>
            </a:avLst>
          </a:prstGeom>
          <a:solidFill>
            <a:srgbClr val="EDF5FF"/>
          </a:solidFill>
          <a:ln w="12700">
            <a:solidFill>
              <a:srgbClr val="DCEEFF"/>
            </a:solidFill>
            <a:prstDash val="solid"/>
          </a:ln>
          <a:effectLst>
            <a:outerShdw sx="100000" sy="100000" kx="0" ky="0" algn="bl" rotWithShape="0" blurRad="38100" dist="17780" dir="2700000">
              <a:srgbClr val="000000">
                <a:alpha val="8000"/>
              </a:srgbClr>
            </a:outerShdw>
          </a:effectLst>
        </p:spPr>
      </p:sp>
      <p:sp>
        <p:nvSpPr>
          <p:cNvPr id="15" name="Text 13"/>
          <p:cNvSpPr/>
          <p:nvPr/>
        </p:nvSpPr>
        <p:spPr>
          <a:xfrm>
            <a:off x="914400" y="4846320"/>
            <a:ext cx="7315200" cy="320040"/>
          </a:xfrm>
          <a:prstGeom prst="rect">
            <a:avLst/>
          </a:prstGeom>
          <a:noFill/>
          <a:ln/>
        </p:spPr>
        <p:txBody>
          <a:bodyPr wrap="square" lIns="0" tIns="0" rIns="0" bIns="0" rtlCol="0" anchor="ctr">
            <a:normAutofit/>
          </a:bodyPr>
          <a:lstStyle/>
          <a:p>
            <a:pPr indent="0" marL="0">
              <a:buNone/>
            </a:pPr>
            <a:r>
              <a:rPr lang="en-US" sz="1150" b="1" dirty="0">
                <a:solidFill>
                  <a:srgbClr val="102A43"/>
                </a:solidFill>
                <a:latin typeface="Aptos" pitchFamily="34" charset="0"/>
                <a:ea typeface="Aptos" pitchFamily="34" charset="-122"/>
                <a:cs typeface="Aptos" pitchFamily="34" charset="-120"/>
              </a:rPr>
              <a:t>Why this matters: without the crosswalk, we would be matching the wrong firms and our analysis would not be valid.</a:t>
            </a:r>
            <a:endParaRPr lang="en-US" sz="1150" dirty="0"/>
          </a:p>
        </p:txBody>
      </p:sp>
      <p:sp>
        <p:nvSpPr>
          <p:cNvPr id="16" name="Text 14"/>
          <p:cNvSpPr/>
          <p:nvPr/>
        </p:nvSpPr>
        <p:spPr>
          <a:xfrm>
            <a:off x="502920" y="6473952"/>
            <a:ext cx="8138160" cy="146304"/>
          </a:xfrm>
          <a:prstGeom prst="rect">
            <a:avLst/>
          </a:prstGeom>
          <a:noFill/>
          <a:ln/>
        </p:spPr>
        <p:txBody>
          <a:bodyPr wrap="square" lIns="0" tIns="0" rIns="0" bIns="0" rtlCol="0" anchor="ctr"/>
          <a:lstStyle/>
          <a:p>
            <a:pPr indent="0" marL="0">
              <a:buNone/>
            </a:pPr>
            <a:r>
              <a:rPr lang="en-US" sz="800" dirty="0">
                <a:solidFill>
                  <a:srgbClr val="5F7084"/>
                </a:solidFill>
                <a:latin typeface="Aptos" pitchFamily="34" charset="0"/>
                <a:ea typeface="Aptos" pitchFamily="34" charset="-122"/>
                <a:cs typeface="Aptos" pitchFamily="34" charset="-120"/>
              </a:rPr>
              <a:t>Files used: data/processed/financials_clean.csv, data/processed/lobbying_clean.csv, and data/processed/cik_gvkey_crosswalk.csv.</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F8FD"/>
        </a:solidFill>
      </p:bgPr>
    </p:bg>
    <p:spTree>
      <p:nvGrpSpPr>
        <p:cNvPr id="1" name=""/>
        <p:cNvGrpSpPr/>
        <p:nvPr/>
      </p:nvGrpSpPr>
      <p:grpSpPr>
        <a:xfrm>
          <a:off x="0" y="0"/>
          <a:ext cx="0" cy="0"/>
          <a:chOff x="0" y="0"/>
          <a:chExt cx="0" cy="0"/>
        </a:xfrm>
      </p:grpSpPr>
      <p:sp>
        <p:nvSpPr>
          <p:cNvPr id="2" name="Shape 0"/>
          <p:cNvSpPr/>
          <p:nvPr/>
        </p:nvSpPr>
        <p:spPr>
          <a:xfrm>
            <a:off x="502920" y="274320"/>
            <a:ext cx="2011680" cy="310896"/>
          </a:xfrm>
          <a:prstGeom prst="roundRect">
            <a:avLst>
              <a:gd name="adj" fmla="val 23529"/>
            </a:avLst>
          </a:prstGeom>
          <a:solidFill>
            <a:srgbClr val="DCEEFF"/>
          </a:solidFill>
          <a:ln w="12700">
            <a:solidFill>
              <a:srgbClr val="DCEEFF"/>
            </a:solidFill>
            <a:prstDash val="solid"/>
          </a:ln>
        </p:spPr>
      </p:sp>
      <p:sp>
        <p:nvSpPr>
          <p:cNvPr id="3" name="Text 1"/>
          <p:cNvSpPr/>
          <p:nvPr/>
        </p:nvSpPr>
        <p:spPr>
          <a:xfrm>
            <a:off x="502920" y="301752"/>
            <a:ext cx="2011680" cy="201168"/>
          </a:xfrm>
          <a:prstGeom prst="rect">
            <a:avLst/>
          </a:prstGeom>
          <a:noFill/>
          <a:ln/>
        </p:spPr>
        <p:txBody>
          <a:bodyPr wrap="square" lIns="0" tIns="0" rIns="0" bIns="0" rtlCol="0" anchor="ctr"/>
          <a:lstStyle/>
          <a:p>
            <a:pPr algn="ctr" indent="0" marL="0">
              <a:buNone/>
            </a:pPr>
            <a:r>
              <a:rPr lang="en-US" sz="900" b="1" spc="100" kern="0" dirty="0">
                <a:solidFill>
                  <a:srgbClr val="102A43"/>
                </a:solidFill>
                <a:latin typeface="Trebuchet MS" pitchFamily="34" charset="0"/>
                <a:ea typeface="Trebuchet MS" pitchFamily="34" charset="-122"/>
                <a:cs typeface="Trebuchet MS" pitchFamily="34" charset="-120"/>
              </a:rPr>
              <a:t>SLIDE 4</a:t>
            </a:r>
            <a:endParaRPr lang="en-US" sz="900" dirty="0"/>
          </a:p>
        </p:txBody>
      </p:sp>
      <p:sp>
        <p:nvSpPr>
          <p:cNvPr id="4" name="Text 2"/>
          <p:cNvSpPr/>
          <p:nvPr/>
        </p:nvSpPr>
        <p:spPr>
          <a:xfrm>
            <a:off x="502920" y="658368"/>
            <a:ext cx="8138160" cy="347472"/>
          </a:xfrm>
          <a:prstGeom prst="rect">
            <a:avLst/>
          </a:prstGeom>
          <a:noFill/>
          <a:ln/>
        </p:spPr>
        <p:txBody>
          <a:bodyPr wrap="square" lIns="0" tIns="0" rIns="0" bIns="0" rtlCol="0" anchor="ctr">
            <a:normAutofit/>
          </a:bodyPr>
          <a:lstStyle/>
          <a:p>
            <a:pPr indent="0" marL="0">
              <a:buNone/>
            </a:pPr>
            <a:r>
              <a:rPr lang="en-US" sz="2400" b="1" dirty="0">
                <a:solidFill>
                  <a:srgbClr val="102A43"/>
                </a:solidFill>
                <a:latin typeface="Trebuchet MS" pitchFamily="34" charset="0"/>
                <a:ea typeface="Trebuchet MS" pitchFamily="34" charset="-122"/>
                <a:cs typeface="Trebuchet MS" pitchFamily="34" charset="-120"/>
              </a:rPr>
              <a:t>Methodology</a:t>
            </a:r>
            <a:endParaRPr lang="en-US" sz="2400" dirty="0"/>
          </a:p>
        </p:txBody>
      </p:sp>
      <p:sp>
        <p:nvSpPr>
          <p:cNvPr id="5" name="Shape 3"/>
          <p:cNvSpPr/>
          <p:nvPr/>
        </p:nvSpPr>
        <p:spPr>
          <a:xfrm>
            <a:off x="502920" y="1417320"/>
            <a:ext cx="3931920" cy="4480560"/>
          </a:xfrm>
          <a:prstGeom prst="roundRect">
            <a:avLst>
              <a:gd name="adj" fmla="val 2093"/>
            </a:avLst>
          </a:prstGeom>
          <a:solidFill>
            <a:srgbClr val="FFFFFF"/>
          </a:solidFill>
          <a:ln w="12700">
            <a:solidFill>
              <a:srgbClr val="DDE8F2"/>
            </a:solidFill>
            <a:prstDash val="solid"/>
          </a:ln>
          <a:effectLst>
            <a:outerShdw sx="100000" sy="100000" kx="0" ky="0" algn="bl" rotWithShape="0" blurRad="38100" dist="17780" dir="2700000">
              <a:srgbClr val="000000">
                <a:alpha val="8000"/>
              </a:srgbClr>
            </a:outerShdw>
          </a:effectLst>
        </p:spPr>
      </p:sp>
      <p:sp>
        <p:nvSpPr>
          <p:cNvPr id="6" name="Shape 4"/>
          <p:cNvSpPr/>
          <p:nvPr/>
        </p:nvSpPr>
        <p:spPr>
          <a:xfrm>
            <a:off x="4617720" y="1417320"/>
            <a:ext cx="4023360" cy="4480560"/>
          </a:xfrm>
          <a:prstGeom prst="roundRect">
            <a:avLst>
              <a:gd name="adj" fmla="val 2045"/>
            </a:avLst>
          </a:prstGeom>
          <a:solidFill>
            <a:srgbClr val="FFFFFF"/>
          </a:solidFill>
          <a:ln w="12700">
            <a:solidFill>
              <a:srgbClr val="DDE8F2"/>
            </a:solidFill>
            <a:prstDash val="solid"/>
          </a:ln>
          <a:effectLst>
            <a:outerShdw sx="100000" sy="100000" kx="0" ky="0" algn="bl" rotWithShape="0" blurRad="38100" dist="17780" dir="2700000">
              <a:srgbClr val="000000">
                <a:alpha val="8000"/>
              </a:srgbClr>
            </a:outerShdw>
          </a:effectLst>
        </p:spPr>
      </p:sp>
      <p:sp>
        <p:nvSpPr>
          <p:cNvPr id="7" name="Text 5"/>
          <p:cNvSpPr/>
          <p:nvPr/>
        </p:nvSpPr>
        <p:spPr>
          <a:xfrm>
            <a:off x="749808" y="1737360"/>
            <a:ext cx="3474720" cy="219456"/>
          </a:xfrm>
          <a:prstGeom prst="rect">
            <a:avLst/>
          </a:prstGeom>
          <a:noFill/>
          <a:ln/>
        </p:spPr>
        <p:txBody>
          <a:bodyPr wrap="square" lIns="0" tIns="0" rIns="0" bIns="0" rtlCol="0" anchor="ctr"/>
          <a:lstStyle/>
          <a:p>
            <a:pPr indent="0" marL="0">
              <a:buNone/>
            </a:pPr>
            <a:r>
              <a:rPr lang="en-US" sz="1500" b="1" dirty="0">
                <a:solidFill>
                  <a:srgbClr val="102A43"/>
                </a:solidFill>
                <a:latin typeface="Trebuchet MS" pitchFamily="34" charset="0"/>
                <a:ea typeface="Trebuchet MS" pitchFamily="34" charset="-122"/>
                <a:cs typeface="Trebuchet MS" pitchFamily="34" charset="-120"/>
              </a:rPr>
              <a:t>Step-by-step process</a:t>
            </a:r>
            <a:endParaRPr lang="en-US" sz="1500" dirty="0"/>
          </a:p>
        </p:txBody>
      </p:sp>
      <p:sp>
        <p:nvSpPr>
          <p:cNvPr id="8" name="Text 6"/>
          <p:cNvSpPr/>
          <p:nvPr/>
        </p:nvSpPr>
        <p:spPr>
          <a:xfrm>
            <a:off x="749808" y="2057400"/>
            <a:ext cx="3566160" cy="2468880"/>
          </a:xfrm>
          <a:prstGeom prst="rect">
            <a:avLst/>
          </a:prstGeom>
          <a:noFill/>
          <a:ln/>
        </p:spPr>
        <p:txBody>
          <a:bodyPr wrap="square" lIns="0" tIns="0" rIns="0" bIns="0" rtlCol="0" anchor="ctr">
            <a:normAutofit/>
          </a:bodyPr>
          <a:lstStyle/>
          <a:p>
            <a:pPr indent="0" marL="0">
              <a:buNone/>
            </a:pPr>
            <a:r>
              <a:rPr lang="en-US" sz="1120" dirty="0">
                <a:solidFill>
                  <a:srgbClr val="24364B"/>
                </a:solidFill>
                <a:latin typeface="Aptos" pitchFamily="34" charset="0"/>
                <a:ea typeface="Aptos" pitchFamily="34" charset="-122"/>
                <a:cs typeface="Aptos" pitchFamily="34" charset="-120"/>
              </a:rPr>
              <a:t>1) Cleaned each dataset</a:t>
            </a:r>
            <a:endParaRPr lang="en-US" sz="1120" dirty="0"/>
          </a:p>
          <a:p>
            <a:pPr indent="0" marL="0">
              <a:buNone/>
            </a:pPr>
            <a:r>
              <a:rPr lang="en-US" sz="1120" dirty="0">
                <a:solidFill>
                  <a:srgbClr val="24364B"/>
                </a:solidFill>
                <a:latin typeface="Aptos" pitchFamily="34" charset="0"/>
                <a:ea typeface="Aptos" pitchFamily="34" charset="-122"/>
                <a:cs typeface="Aptos" pitchFamily="34" charset="-120"/>
              </a:rPr>
              <a:t>2) Merged using the crosswalk</a:t>
            </a:r>
            <a:endParaRPr lang="en-US" sz="1120" dirty="0"/>
          </a:p>
          <a:p>
            <a:pPr indent="0" marL="0">
              <a:buNone/>
            </a:pPr>
            <a:r>
              <a:rPr lang="en-US" sz="1120" dirty="0">
                <a:solidFill>
                  <a:srgbClr val="24364B"/>
                </a:solidFill>
                <a:latin typeface="Aptos" pitchFamily="34" charset="0"/>
                <a:ea typeface="Aptos" pitchFamily="34" charset="-122"/>
                <a:cs typeface="Aptos" pitchFamily="34" charset="-120"/>
              </a:rPr>
              <a:t>3) Built a firm-year panel from 2010 to 2020</a:t>
            </a:r>
            <a:endParaRPr lang="en-US" sz="1120" dirty="0"/>
          </a:p>
          <a:p>
            <a:pPr indent="0" marL="0">
              <a:buNone/>
            </a:pPr>
            <a:r>
              <a:rPr lang="en-US" sz="1120" dirty="0">
                <a:solidFill>
                  <a:srgbClr val="24364B"/>
                </a:solidFill>
                <a:latin typeface="Aptos" pitchFamily="34" charset="0"/>
                <a:ea typeface="Aptos" pitchFamily="34" charset="-122"/>
                <a:cs typeface="Aptos" pitchFamily="34" charset="-120"/>
              </a:rPr>
              <a:t>4) Tested how next-year profitability changes with prior-year lobbying spend</a:t>
            </a:r>
            <a:endParaRPr lang="en-US" sz="1120" dirty="0"/>
          </a:p>
          <a:p>
            <a:pPr indent="0" marL="0">
              <a:buNone/>
            </a:pPr>
            <a:r>
              <a:rPr lang="en-US" sz="1120" dirty="0">
                <a:solidFill>
                  <a:srgbClr val="24364B"/>
                </a:solidFill>
                <a:latin typeface="Aptos" pitchFamily="34" charset="0"/>
                <a:ea typeface="Aptos" pitchFamily="34" charset="-122"/>
                <a:cs typeface="Aptos" pitchFamily="34" charset="-120"/>
              </a:rPr>
              <a:t>5) Added firm and year controls to reduce bias</a:t>
            </a:r>
            <a:endParaRPr lang="en-US" sz="1120" dirty="0"/>
          </a:p>
        </p:txBody>
      </p:sp>
      <p:sp>
        <p:nvSpPr>
          <p:cNvPr id="9" name="Shape 7"/>
          <p:cNvSpPr/>
          <p:nvPr/>
        </p:nvSpPr>
        <p:spPr>
          <a:xfrm>
            <a:off x="749808" y="4617720"/>
            <a:ext cx="3566160" cy="1005840"/>
          </a:xfrm>
          <a:prstGeom prst="roundRect">
            <a:avLst>
              <a:gd name="adj" fmla="val 8182"/>
            </a:avLst>
          </a:prstGeom>
          <a:solidFill>
            <a:srgbClr val="EDF5FF"/>
          </a:solidFill>
          <a:ln w="12700">
            <a:solidFill>
              <a:srgbClr val="DCEEFF"/>
            </a:solidFill>
            <a:prstDash val="solid"/>
          </a:ln>
          <a:effectLst>
            <a:outerShdw sx="100000" sy="100000" kx="0" ky="0" algn="bl" rotWithShape="0" blurRad="38100" dist="17780" dir="2700000">
              <a:srgbClr val="000000">
                <a:alpha val="8000"/>
              </a:srgbClr>
            </a:outerShdw>
          </a:effectLst>
        </p:spPr>
      </p:sp>
      <p:sp>
        <p:nvSpPr>
          <p:cNvPr id="10" name="Text 8"/>
          <p:cNvSpPr/>
          <p:nvPr/>
        </p:nvSpPr>
        <p:spPr>
          <a:xfrm>
            <a:off x="914400" y="4956048"/>
            <a:ext cx="3200400" cy="274320"/>
          </a:xfrm>
          <a:prstGeom prst="rect">
            <a:avLst/>
          </a:prstGeom>
          <a:noFill/>
          <a:ln/>
        </p:spPr>
        <p:txBody>
          <a:bodyPr wrap="square" lIns="0" tIns="0" rIns="0" bIns="0" rtlCol="0" anchor="ctr">
            <a:normAutofit/>
          </a:bodyPr>
          <a:lstStyle/>
          <a:p>
            <a:pPr indent="0" marL="0">
              <a:buNone/>
            </a:pPr>
            <a:r>
              <a:rPr lang="en-US" sz="1100" b="1" dirty="0">
                <a:solidFill>
                  <a:srgbClr val="102A43"/>
                </a:solidFill>
                <a:latin typeface="Aptos" pitchFamily="34" charset="0"/>
                <a:ea typeface="Aptos" pitchFamily="34" charset="-122"/>
                <a:cs typeface="Aptos" pitchFamily="34" charset="-120"/>
              </a:rPr>
              <a:t>Plain English: we compare each firm mostly to itself over time.</a:t>
            </a:r>
            <a:endParaRPr lang="en-US" sz="1100" dirty="0"/>
          </a:p>
        </p:txBody>
      </p:sp>
      <p:sp>
        <p:nvSpPr>
          <p:cNvPr id="11" name="Text 9"/>
          <p:cNvSpPr/>
          <p:nvPr/>
        </p:nvSpPr>
        <p:spPr>
          <a:xfrm>
            <a:off x="4864608" y="1737360"/>
            <a:ext cx="3474720" cy="219456"/>
          </a:xfrm>
          <a:prstGeom prst="rect">
            <a:avLst/>
          </a:prstGeom>
          <a:noFill/>
          <a:ln/>
        </p:spPr>
        <p:txBody>
          <a:bodyPr wrap="square" lIns="0" tIns="0" rIns="0" bIns="0" rtlCol="0" anchor="ctr"/>
          <a:lstStyle/>
          <a:p>
            <a:pPr indent="0" marL="0">
              <a:buNone/>
            </a:pPr>
            <a:r>
              <a:rPr lang="en-US" sz="1500" b="1" dirty="0">
                <a:solidFill>
                  <a:srgbClr val="102A43"/>
                </a:solidFill>
                <a:latin typeface="Trebuchet MS" pitchFamily="34" charset="0"/>
                <a:ea typeface="Trebuchet MS" pitchFamily="34" charset="-122"/>
                <a:cs typeface="Trebuchet MS" pitchFamily="34" charset="-120"/>
              </a:rPr>
              <a:t>Model summary</a:t>
            </a:r>
            <a:endParaRPr lang="en-US" sz="1500" dirty="0"/>
          </a:p>
        </p:txBody>
      </p:sp>
      <p:sp>
        <p:nvSpPr>
          <p:cNvPr id="12" name="Text 10"/>
          <p:cNvSpPr/>
          <p:nvPr/>
        </p:nvSpPr>
        <p:spPr>
          <a:xfrm>
            <a:off x="4864608" y="2057400"/>
            <a:ext cx="3566160" cy="2103120"/>
          </a:xfrm>
          <a:prstGeom prst="rect">
            <a:avLst/>
          </a:prstGeom>
          <a:noFill/>
          <a:ln/>
        </p:spPr>
        <p:txBody>
          <a:bodyPr wrap="square" lIns="0" tIns="0" rIns="0" bIns="0" rtlCol="0" anchor="ctr">
            <a:normAutofit/>
          </a:bodyPr>
          <a:lstStyle/>
          <a:p>
            <a:pPr indent="0" marL="0">
              <a:buNone/>
            </a:pPr>
            <a:r>
              <a:rPr lang="en-US" sz="1120" dirty="0">
                <a:solidFill>
                  <a:srgbClr val="24364B"/>
                </a:solidFill>
                <a:latin typeface="Aptos" pitchFamily="34" charset="0"/>
                <a:ea typeface="Aptos" pitchFamily="34" charset="-122"/>
                <a:cs typeface="Aptos" pitchFamily="34" charset="-120"/>
              </a:rPr>
              <a:t>Outcome: ROA (profitability)</a:t>
            </a:r>
            <a:endParaRPr lang="en-US" sz="1120" dirty="0"/>
          </a:p>
          <a:p>
            <a:pPr indent="0" marL="0">
              <a:buNone/>
            </a:pPr>
            <a:r>
              <a:rPr lang="en-US" sz="1120" dirty="0">
                <a:solidFill>
                  <a:srgbClr val="24364B"/>
                </a:solidFill>
                <a:latin typeface="Aptos" pitchFamily="34" charset="0"/>
                <a:ea typeface="Aptos" pitchFamily="34" charset="-122"/>
                <a:cs typeface="Aptos" pitchFamily="34" charset="-120"/>
              </a:rPr>
              <a:t>Main predictor: lobbying spend from the previous year</a:t>
            </a:r>
            <a:endParaRPr lang="en-US" sz="1120" dirty="0"/>
          </a:p>
          <a:p>
            <a:pPr indent="0" marL="0">
              <a:buNone/>
            </a:pPr>
            <a:r>
              <a:rPr lang="en-US" sz="1120" dirty="0">
                <a:solidFill>
                  <a:srgbClr val="24364B"/>
                </a:solidFill>
                <a:latin typeface="Aptos" pitchFamily="34" charset="0"/>
                <a:ea typeface="Aptos" pitchFamily="34" charset="-122"/>
                <a:cs typeface="Aptos" pitchFamily="34" charset="-120"/>
              </a:rPr>
              <a:t>Controls: firm size and year effects</a:t>
            </a:r>
            <a:endParaRPr lang="en-US" sz="1120" dirty="0"/>
          </a:p>
          <a:p>
            <a:pPr indent="0" marL="0">
              <a:buNone/>
            </a:pPr>
            <a:r>
              <a:rPr lang="en-US" sz="1120" dirty="0">
                <a:solidFill>
                  <a:srgbClr val="24364B"/>
                </a:solidFill>
                <a:latin typeface="Aptos" pitchFamily="34" charset="0"/>
                <a:ea typeface="Aptos" pitchFamily="34" charset="-122"/>
                <a:cs typeface="Aptos" pitchFamily="34" charset="-120"/>
              </a:rPr>
              <a:t>Uncertainty: clustered standard errors at firm level</a:t>
            </a:r>
            <a:endParaRPr lang="en-US" sz="1120" dirty="0"/>
          </a:p>
        </p:txBody>
      </p:sp>
      <p:sp>
        <p:nvSpPr>
          <p:cNvPr id="13" name="Shape 11"/>
          <p:cNvSpPr/>
          <p:nvPr/>
        </p:nvSpPr>
        <p:spPr>
          <a:xfrm>
            <a:off x="4864608" y="4343400"/>
            <a:ext cx="3566160" cy="1280160"/>
          </a:xfrm>
          <a:prstGeom prst="roundRect">
            <a:avLst>
              <a:gd name="adj" fmla="val 6429"/>
            </a:avLst>
          </a:prstGeom>
          <a:solidFill>
            <a:srgbClr val="EDF5FF"/>
          </a:solidFill>
          <a:ln w="12700">
            <a:solidFill>
              <a:srgbClr val="DCEEFF"/>
            </a:solidFill>
            <a:prstDash val="solid"/>
          </a:ln>
          <a:effectLst>
            <a:outerShdw sx="100000" sy="100000" kx="0" ky="0" algn="bl" rotWithShape="0" blurRad="38100" dist="17780" dir="2700000">
              <a:srgbClr val="000000">
                <a:alpha val="8000"/>
              </a:srgbClr>
            </a:outerShdw>
          </a:effectLst>
        </p:spPr>
      </p:sp>
      <p:sp>
        <p:nvSpPr>
          <p:cNvPr id="14" name="Text 12"/>
          <p:cNvSpPr/>
          <p:nvPr/>
        </p:nvSpPr>
        <p:spPr>
          <a:xfrm>
            <a:off x="5047488" y="4645152"/>
            <a:ext cx="3200400" cy="731520"/>
          </a:xfrm>
          <a:prstGeom prst="rect">
            <a:avLst/>
          </a:prstGeom>
          <a:noFill/>
          <a:ln/>
        </p:spPr>
        <p:txBody>
          <a:bodyPr wrap="square" lIns="0" tIns="0" rIns="0" bIns="0" rtlCol="0" anchor="ctr">
            <a:normAutofit/>
          </a:bodyPr>
          <a:lstStyle/>
          <a:p>
            <a:pPr indent="0" marL="0">
              <a:buNone/>
            </a:pPr>
            <a:r>
              <a:rPr lang="en-US" sz="1080" dirty="0">
                <a:solidFill>
                  <a:srgbClr val="102A43"/>
                </a:solidFill>
                <a:latin typeface="Aptos" pitchFamily="34" charset="0"/>
                <a:ea typeface="Aptos" pitchFamily="34" charset="-122"/>
                <a:cs typeface="Aptos" pitchFamily="34" charset="-120"/>
              </a:rPr>
              <a:t>Simple equation idea:</a:t>
            </a:r>
            <a:endParaRPr lang="en-US" sz="1080" dirty="0"/>
          </a:p>
          <a:p>
            <a:pPr indent="0" marL="0">
              <a:buNone/>
            </a:pPr>
            <a:r>
              <a:rPr lang="en-US" sz="1080" dirty="0">
                <a:solidFill>
                  <a:srgbClr val="102A43"/>
                </a:solidFill>
                <a:latin typeface="Aptos" pitchFamily="34" charset="0"/>
                <a:ea typeface="Aptos" pitchFamily="34" charset="-122"/>
                <a:cs typeface="Aptos" pitchFamily="34" charset="-120"/>
              </a:rPr>
              <a:t>Profitability today = lobbying last year + company factors + year factors</a:t>
            </a:r>
            <a:endParaRPr lang="en-US" sz="10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8FD"/>
        </a:solidFill>
      </p:bgPr>
    </p:bg>
    <p:spTree>
      <p:nvGrpSpPr>
        <p:cNvPr id="1" name=""/>
        <p:cNvGrpSpPr/>
        <p:nvPr/>
      </p:nvGrpSpPr>
      <p:grpSpPr>
        <a:xfrm>
          <a:off x="0" y="0"/>
          <a:ext cx="0" cy="0"/>
          <a:chOff x="0" y="0"/>
          <a:chExt cx="0" cy="0"/>
        </a:xfrm>
      </p:grpSpPr>
      <p:sp>
        <p:nvSpPr>
          <p:cNvPr id="2" name="Shape 0"/>
          <p:cNvSpPr/>
          <p:nvPr/>
        </p:nvSpPr>
        <p:spPr>
          <a:xfrm>
            <a:off x="502920" y="274320"/>
            <a:ext cx="2011680" cy="310896"/>
          </a:xfrm>
          <a:prstGeom prst="roundRect">
            <a:avLst>
              <a:gd name="adj" fmla="val 23529"/>
            </a:avLst>
          </a:prstGeom>
          <a:solidFill>
            <a:srgbClr val="DCEEFF"/>
          </a:solidFill>
          <a:ln w="12700">
            <a:solidFill>
              <a:srgbClr val="DCEEFF"/>
            </a:solidFill>
            <a:prstDash val="solid"/>
          </a:ln>
        </p:spPr>
      </p:sp>
      <p:sp>
        <p:nvSpPr>
          <p:cNvPr id="3" name="Text 1"/>
          <p:cNvSpPr/>
          <p:nvPr/>
        </p:nvSpPr>
        <p:spPr>
          <a:xfrm>
            <a:off x="502920" y="301752"/>
            <a:ext cx="2011680" cy="201168"/>
          </a:xfrm>
          <a:prstGeom prst="rect">
            <a:avLst/>
          </a:prstGeom>
          <a:noFill/>
          <a:ln/>
        </p:spPr>
        <p:txBody>
          <a:bodyPr wrap="square" lIns="0" tIns="0" rIns="0" bIns="0" rtlCol="0" anchor="ctr"/>
          <a:lstStyle/>
          <a:p>
            <a:pPr algn="ctr" indent="0" marL="0">
              <a:buNone/>
            </a:pPr>
            <a:r>
              <a:rPr lang="en-US" sz="900" b="1" spc="100" kern="0" dirty="0">
                <a:solidFill>
                  <a:srgbClr val="102A43"/>
                </a:solidFill>
                <a:latin typeface="Trebuchet MS" pitchFamily="34" charset="0"/>
                <a:ea typeface="Trebuchet MS" pitchFamily="34" charset="-122"/>
                <a:cs typeface="Trebuchet MS" pitchFamily="34" charset="-120"/>
              </a:rPr>
              <a:t>SLIDE 5</a:t>
            </a:r>
            <a:endParaRPr lang="en-US" sz="900" dirty="0"/>
          </a:p>
        </p:txBody>
      </p:sp>
      <p:sp>
        <p:nvSpPr>
          <p:cNvPr id="4" name="Text 2"/>
          <p:cNvSpPr/>
          <p:nvPr/>
        </p:nvSpPr>
        <p:spPr>
          <a:xfrm>
            <a:off x="502920" y="658368"/>
            <a:ext cx="8138160" cy="347472"/>
          </a:xfrm>
          <a:prstGeom prst="rect">
            <a:avLst/>
          </a:prstGeom>
          <a:noFill/>
          <a:ln/>
        </p:spPr>
        <p:txBody>
          <a:bodyPr wrap="square" lIns="0" tIns="0" rIns="0" bIns="0" rtlCol="0" anchor="ctr">
            <a:normAutofit/>
          </a:bodyPr>
          <a:lstStyle/>
          <a:p>
            <a:pPr indent="0" marL="0">
              <a:buNone/>
            </a:pPr>
            <a:r>
              <a:rPr lang="en-US" sz="2400" b="1" dirty="0">
                <a:solidFill>
                  <a:srgbClr val="102A43"/>
                </a:solidFill>
                <a:latin typeface="Trebuchet MS" pitchFamily="34" charset="0"/>
                <a:ea typeface="Trebuchet MS" pitchFamily="34" charset="-122"/>
                <a:cs typeface="Trebuchet MS" pitchFamily="34" charset="-120"/>
              </a:rPr>
              <a:t>Findings (With Graphs)</a:t>
            </a:r>
            <a:endParaRPr lang="en-US" sz="2400" dirty="0"/>
          </a:p>
        </p:txBody>
      </p:sp>
      <p:sp>
        <p:nvSpPr>
          <p:cNvPr id="5" name="Shape 3"/>
          <p:cNvSpPr/>
          <p:nvPr/>
        </p:nvSpPr>
        <p:spPr>
          <a:xfrm>
            <a:off x="502920" y="1417320"/>
            <a:ext cx="3977640" cy="2788920"/>
          </a:xfrm>
          <a:prstGeom prst="roundRect">
            <a:avLst>
              <a:gd name="adj" fmla="val 2951"/>
            </a:avLst>
          </a:prstGeom>
          <a:solidFill>
            <a:srgbClr val="FFFFFF"/>
          </a:solidFill>
          <a:ln w="12700">
            <a:solidFill>
              <a:srgbClr val="DDE8F2"/>
            </a:solidFill>
            <a:prstDash val="solid"/>
          </a:ln>
          <a:effectLst>
            <a:outerShdw sx="100000" sy="100000" kx="0" ky="0" algn="bl" rotWithShape="0" blurRad="38100" dist="17780" dir="2700000">
              <a:srgbClr val="000000">
                <a:alpha val="8000"/>
              </a:srgbClr>
            </a:outerShdw>
          </a:effectLst>
        </p:spPr>
      </p:sp>
      <p:pic>
        <p:nvPicPr>
          <p:cNvPr id="6" name="Image 0" descr="/workspaces/qm2023-capstone-silly-geese/results/figures/M2/plot3_dual_axis_outcome_driver.png">    </p:cNvPr>
          <p:cNvPicPr>
            <a:picLocks noChangeAspect="1"/>
          </p:cNvPicPr>
          <p:nvPr/>
        </p:nvPicPr>
        <p:blipFill>
          <a:blip r:embed="rId1"/>
          <a:srcRect l="0" r="0" t="0" b="0"/>
          <a:stretch/>
        </p:blipFill>
        <p:spPr>
          <a:xfrm>
            <a:off x="612648" y="1527048"/>
            <a:ext cx="3758184" cy="2276856"/>
          </a:xfrm>
          <a:prstGeom prst="rect">
            <a:avLst/>
          </a:prstGeom>
        </p:spPr>
      </p:pic>
      <p:sp>
        <p:nvSpPr>
          <p:cNvPr id="7" name="Text 4"/>
          <p:cNvSpPr/>
          <p:nvPr/>
        </p:nvSpPr>
        <p:spPr>
          <a:xfrm>
            <a:off x="630936" y="3931920"/>
            <a:ext cx="3721608" cy="146304"/>
          </a:xfrm>
          <a:prstGeom prst="rect">
            <a:avLst/>
          </a:prstGeom>
          <a:noFill/>
          <a:ln/>
        </p:spPr>
        <p:txBody>
          <a:bodyPr wrap="square" lIns="0" tIns="0" rIns="0" bIns="0" rtlCol="0" anchor="ctr">
            <a:normAutofit/>
          </a:bodyPr>
          <a:lstStyle/>
          <a:p>
            <a:pPr indent="0" marL="0">
              <a:buNone/>
            </a:pPr>
            <a:r>
              <a:rPr lang="en-US" sz="850" i="1" dirty="0">
                <a:solidFill>
                  <a:srgbClr val="5F7084"/>
                </a:solidFill>
                <a:latin typeface="Aptos" pitchFamily="34" charset="0"/>
                <a:ea typeface="Aptos" pitchFamily="34" charset="-122"/>
                <a:cs typeface="Aptos" pitchFamily="34" charset="-120"/>
              </a:rPr>
              <a:t>Figure 1: Outcome vs. driver over time</a:t>
            </a:r>
            <a:endParaRPr lang="en-US" sz="850" dirty="0"/>
          </a:p>
        </p:txBody>
      </p:sp>
      <p:sp>
        <p:nvSpPr>
          <p:cNvPr id="8" name="Shape 5"/>
          <p:cNvSpPr/>
          <p:nvPr/>
        </p:nvSpPr>
        <p:spPr>
          <a:xfrm>
            <a:off x="4663440" y="1417320"/>
            <a:ext cx="3977640" cy="2788920"/>
          </a:xfrm>
          <a:prstGeom prst="roundRect">
            <a:avLst>
              <a:gd name="adj" fmla="val 2951"/>
            </a:avLst>
          </a:prstGeom>
          <a:solidFill>
            <a:srgbClr val="FFFFFF"/>
          </a:solidFill>
          <a:ln w="12700">
            <a:solidFill>
              <a:srgbClr val="DDE8F2"/>
            </a:solidFill>
            <a:prstDash val="solid"/>
          </a:ln>
          <a:effectLst>
            <a:outerShdw sx="100000" sy="100000" kx="0" ky="0" algn="bl" rotWithShape="0" blurRad="38100" dist="17780" dir="2700000">
              <a:srgbClr val="000000">
                <a:alpha val="8000"/>
              </a:srgbClr>
            </a:outerShdw>
          </a:effectLst>
        </p:spPr>
      </p:sp>
      <p:pic>
        <p:nvPicPr>
          <p:cNvPr id="9" name="Image 1" descr="/workspaces/qm2023-capstone-silly-geese/results/figures/M2/plot4_lagged_effect_analysis.png">    </p:cNvPr>
          <p:cNvPicPr>
            <a:picLocks noChangeAspect="1"/>
          </p:cNvPicPr>
          <p:nvPr/>
        </p:nvPicPr>
        <p:blipFill>
          <a:blip r:embed="rId2"/>
          <a:srcRect l="0" r="0" t="0" b="0"/>
          <a:stretch/>
        </p:blipFill>
        <p:spPr>
          <a:xfrm>
            <a:off x="4773168" y="1527048"/>
            <a:ext cx="3758184" cy="2276856"/>
          </a:xfrm>
          <a:prstGeom prst="rect">
            <a:avLst/>
          </a:prstGeom>
        </p:spPr>
      </p:pic>
      <p:sp>
        <p:nvSpPr>
          <p:cNvPr id="10" name="Text 6"/>
          <p:cNvSpPr/>
          <p:nvPr/>
        </p:nvSpPr>
        <p:spPr>
          <a:xfrm>
            <a:off x="4791456" y="3931920"/>
            <a:ext cx="3721608" cy="146304"/>
          </a:xfrm>
          <a:prstGeom prst="rect">
            <a:avLst/>
          </a:prstGeom>
          <a:noFill/>
          <a:ln/>
        </p:spPr>
        <p:txBody>
          <a:bodyPr wrap="square" lIns="0" tIns="0" rIns="0" bIns="0" rtlCol="0" anchor="ctr">
            <a:normAutofit/>
          </a:bodyPr>
          <a:lstStyle/>
          <a:p>
            <a:pPr indent="0" marL="0">
              <a:buNone/>
            </a:pPr>
            <a:r>
              <a:rPr lang="en-US" sz="850" i="1" dirty="0">
                <a:solidFill>
                  <a:srgbClr val="5F7084"/>
                </a:solidFill>
                <a:latin typeface="Aptos" pitchFamily="34" charset="0"/>
                <a:ea typeface="Aptos" pitchFamily="34" charset="-122"/>
                <a:cs typeface="Aptos" pitchFamily="34" charset="-120"/>
              </a:rPr>
              <a:t>Figure 2: Lagged relationship analysis</a:t>
            </a:r>
            <a:endParaRPr lang="en-US" sz="850" dirty="0"/>
          </a:p>
        </p:txBody>
      </p:sp>
      <p:sp>
        <p:nvSpPr>
          <p:cNvPr id="11" name="Shape 7"/>
          <p:cNvSpPr/>
          <p:nvPr/>
        </p:nvSpPr>
        <p:spPr>
          <a:xfrm>
            <a:off x="502920" y="4434840"/>
            <a:ext cx="8138160" cy="1463040"/>
          </a:xfrm>
          <a:prstGeom prst="roundRect">
            <a:avLst>
              <a:gd name="adj" fmla="val 5625"/>
            </a:avLst>
          </a:prstGeom>
          <a:solidFill>
            <a:srgbClr val="FFFFFF"/>
          </a:solidFill>
          <a:ln w="12700">
            <a:solidFill>
              <a:srgbClr val="DDE8F2"/>
            </a:solidFill>
            <a:prstDash val="solid"/>
          </a:ln>
          <a:effectLst>
            <a:outerShdw sx="100000" sy="100000" kx="0" ky="0" algn="bl" rotWithShape="0" blurRad="38100" dist="17780" dir="2700000">
              <a:srgbClr val="000000">
                <a:alpha val="8000"/>
              </a:srgbClr>
            </a:outerShdw>
          </a:effectLst>
        </p:spPr>
      </p:sp>
      <p:sp>
        <p:nvSpPr>
          <p:cNvPr id="12" name="Text 8"/>
          <p:cNvSpPr/>
          <p:nvPr/>
        </p:nvSpPr>
        <p:spPr>
          <a:xfrm>
            <a:off x="749808" y="4663440"/>
            <a:ext cx="7680960" cy="219456"/>
          </a:xfrm>
          <a:prstGeom prst="rect">
            <a:avLst/>
          </a:prstGeom>
          <a:noFill/>
          <a:ln/>
        </p:spPr>
        <p:txBody>
          <a:bodyPr wrap="square" lIns="0" tIns="0" rIns="0" bIns="0" rtlCol="0" anchor="ctr"/>
          <a:lstStyle/>
          <a:p>
            <a:pPr indent="0" marL="0">
              <a:buNone/>
            </a:pPr>
            <a:r>
              <a:rPr lang="en-US" sz="1500" b="1" dirty="0">
                <a:solidFill>
                  <a:srgbClr val="102A43"/>
                </a:solidFill>
                <a:latin typeface="Trebuchet MS" pitchFamily="34" charset="0"/>
                <a:ea typeface="Trebuchet MS" pitchFamily="34" charset="-122"/>
                <a:cs typeface="Trebuchet MS" pitchFamily="34" charset="-120"/>
              </a:rPr>
              <a:t>Main findings in simple terms</a:t>
            </a:r>
            <a:endParaRPr lang="en-US" sz="1500" dirty="0"/>
          </a:p>
        </p:txBody>
      </p:sp>
      <p:sp>
        <p:nvSpPr>
          <p:cNvPr id="13" name="Text 9"/>
          <p:cNvSpPr/>
          <p:nvPr/>
        </p:nvSpPr>
        <p:spPr>
          <a:xfrm>
            <a:off x="749808" y="4983480"/>
            <a:ext cx="7680960" cy="731520"/>
          </a:xfrm>
          <a:prstGeom prst="rect">
            <a:avLst/>
          </a:prstGeom>
          <a:noFill/>
          <a:ln/>
        </p:spPr>
        <p:txBody>
          <a:bodyPr wrap="square" lIns="0" tIns="0" rIns="0" bIns="0" rtlCol="0" anchor="ctr">
            <a:normAutofit/>
          </a:bodyPr>
          <a:lstStyle/>
          <a:p>
            <a:pPr indent="0" marL="0">
              <a:buNone/>
            </a:pPr>
            <a:r>
              <a:rPr lang="en-US" sz="1130" dirty="0">
                <a:solidFill>
                  <a:srgbClr val="24364B"/>
                </a:solidFill>
                <a:latin typeface="Aptos" pitchFamily="34" charset="0"/>
                <a:ea typeface="Aptos" pitchFamily="34" charset="-122"/>
                <a:cs typeface="Aptos" pitchFamily="34" charset="-120"/>
              </a:rPr>
              <a:t>Our main model did not confirm our original hypothesis. Instead of higher profitability, the estimated relationship was negative and not statistically strong. In plain terms: spending more on lobbying did not reliably predict better profits in the following year in our sample.</a:t>
            </a:r>
            <a:endParaRPr lang="en-US" sz="1130" dirty="0"/>
          </a:p>
        </p:txBody>
      </p:sp>
      <p:sp>
        <p:nvSpPr>
          <p:cNvPr id="14" name="Text 10"/>
          <p:cNvSpPr/>
          <p:nvPr/>
        </p:nvSpPr>
        <p:spPr>
          <a:xfrm>
            <a:off x="502920" y="6473952"/>
            <a:ext cx="8138160" cy="146304"/>
          </a:xfrm>
          <a:prstGeom prst="rect">
            <a:avLst/>
          </a:prstGeom>
          <a:noFill/>
          <a:ln/>
        </p:spPr>
        <p:txBody>
          <a:bodyPr wrap="square" lIns="0" tIns="0" rIns="0" bIns="0" rtlCol="0" anchor="ctr"/>
          <a:lstStyle/>
          <a:p>
            <a:pPr indent="0" marL="0">
              <a:buNone/>
            </a:pPr>
            <a:r>
              <a:rPr lang="en-US" sz="800" dirty="0">
                <a:solidFill>
                  <a:srgbClr val="5F7084"/>
                </a:solidFill>
                <a:latin typeface="Aptos" pitchFamily="34" charset="0"/>
                <a:ea typeface="Aptos" pitchFamily="34" charset="-122"/>
                <a:cs typeface="Aptos" pitchFamily="34" charset="-120"/>
              </a:rPr>
              <a:t>Graph paths: ../figures/M2/plot3_dual_axis_outcome_driver.png and ../figures/M2/plot4_lagged_effect_analysis.png</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1F33"/>
        </a:solidFill>
      </p:bgPr>
    </p:bg>
    <p:spTree>
      <p:nvGrpSpPr>
        <p:cNvPr id="1" name=""/>
        <p:cNvGrpSpPr/>
        <p:nvPr/>
      </p:nvGrpSpPr>
      <p:grpSpPr>
        <a:xfrm>
          <a:off x="0" y="0"/>
          <a:ext cx="0" cy="0"/>
          <a:chOff x="0" y="0"/>
          <a:chExt cx="0" cy="0"/>
        </a:xfrm>
      </p:grpSpPr>
      <p:sp>
        <p:nvSpPr>
          <p:cNvPr id="2" name="Shape 0"/>
          <p:cNvSpPr/>
          <p:nvPr/>
        </p:nvSpPr>
        <p:spPr>
          <a:xfrm>
            <a:off x="-731520" y="3840480"/>
            <a:ext cx="2743200" cy="2743200"/>
          </a:xfrm>
          <a:prstGeom prst="ellipse">
            <a:avLst/>
          </a:prstGeom>
          <a:solidFill>
            <a:srgbClr val="58A6FF">
              <a:alpha val="25000"/>
            </a:srgbClr>
          </a:solidFill>
          <a:ln w="12700">
            <a:solidFill>
              <a:srgbClr val="58A6FF">
                <a:alpha val="0"/>
              </a:srgbClr>
            </a:solidFill>
            <a:prstDash val="solid"/>
          </a:ln>
        </p:spPr>
      </p:sp>
      <p:sp>
        <p:nvSpPr>
          <p:cNvPr id="3" name="Text 1"/>
          <p:cNvSpPr/>
          <p:nvPr/>
        </p:nvSpPr>
        <p:spPr>
          <a:xfrm>
            <a:off x="822960" y="1874520"/>
            <a:ext cx="3474720" cy="548640"/>
          </a:xfrm>
          <a:prstGeom prst="rect">
            <a:avLst/>
          </a:prstGeom>
          <a:noFill/>
          <a:ln/>
        </p:spPr>
        <p:txBody>
          <a:bodyPr wrap="square" lIns="0" tIns="0" rIns="0" bIns="0" rtlCol="0" anchor="ctr"/>
          <a:lstStyle/>
          <a:p>
            <a:pPr indent="0" marL="0">
              <a:buNone/>
            </a:pPr>
            <a:r>
              <a:rPr lang="en-US" sz="4200" b="1" dirty="0">
                <a:solidFill>
                  <a:srgbClr val="FFFFFF"/>
                </a:solidFill>
                <a:latin typeface="Trebuchet MS" pitchFamily="34" charset="0"/>
                <a:ea typeface="Trebuchet MS" pitchFamily="34" charset="-122"/>
                <a:cs typeface="Trebuchet MS" pitchFamily="34" charset="-120"/>
              </a:rPr>
              <a:t>Thank You</a:t>
            </a:r>
            <a:endParaRPr lang="en-US" sz="4200" dirty="0"/>
          </a:p>
        </p:txBody>
      </p:sp>
      <p:sp>
        <p:nvSpPr>
          <p:cNvPr id="4" name="Text 2"/>
          <p:cNvSpPr/>
          <p:nvPr/>
        </p:nvSpPr>
        <p:spPr>
          <a:xfrm>
            <a:off x="868680" y="2560320"/>
            <a:ext cx="2926080" cy="320040"/>
          </a:xfrm>
          <a:prstGeom prst="rect">
            <a:avLst/>
          </a:prstGeom>
          <a:noFill/>
          <a:ln/>
        </p:spPr>
        <p:txBody>
          <a:bodyPr wrap="square" lIns="0" tIns="0" rIns="0" bIns="0" rtlCol="0" anchor="ctr"/>
          <a:lstStyle/>
          <a:p>
            <a:pPr indent="0" marL="0">
              <a:buNone/>
            </a:pPr>
            <a:r>
              <a:rPr lang="en-US" sz="2000" dirty="0">
                <a:solidFill>
                  <a:srgbClr val="D7E6F7"/>
                </a:solidFill>
                <a:latin typeface="Aptos" pitchFamily="34" charset="0"/>
                <a:ea typeface="Aptos" pitchFamily="34" charset="-122"/>
                <a:cs typeface="Aptos" pitchFamily="34" charset="-120"/>
              </a:rPr>
              <a:t>Questions?</a:t>
            </a:r>
            <a:endParaRPr lang="en-US" sz="2000" dirty="0"/>
          </a:p>
        </p:txBody>
      </p:sp>
      <p:sp>
        <p:nvSpPr>
          <p:cNvPr id="5" name="Shape 3"/>
          <p:cNvSpPr/>
          <p:nvPr/>
        </p:nvSpPr>
        <p:spPr>
          <a:xfrm>
            <a:off x="4572000" y="1234440"/>
            <a:ext cx="3840480" cy="2651760"/>
          </a:xfrm>
          <a:prstGeom prst="roundRect">
            <a:avLst>
              <a:gd name="adj" fmla="val 3103"/>
            </a:avLst>
          </a:prstGeom>
          <a:solidFill>
            <a:srgbClr val="FFFFFF"/>
          </a:solidFill>
          <a:ln w="12700">
            <a:solidFill>
              <a:srgbClr val="DDE8F2"/>
            </a:solidFill>
            <a:prstDash val="solid"/>
          </a:ln>
          <a:effectLst>
            <a:outerShdw sx="100000" sy="100000" kx="0" ky="0" algn="bl" rotWithShape="0" blurRad="38100" dist="17780" dir="2700000">
              <a:srgbClr val="000000">
                <a:alpha val="8000"/>
              </a:srgbClr>
            </a:outerShdw>
          </a:effectLst>
        </p:spPr>
      </p:sp>
      <p:sp>
        <p:nvSpPr>
          <p:cNvPr id="6" name="Text 4"/>
          <p:cNvSpPr/>
          <p:nvPr/>
        </p:nvSpPr>
        <p:spPr>
          <a:xfrm>
            <a:off x="4800600" y="1508760"/>
            <a:ext cx="3383280" cy="182880"/>
          </a:xfrm>
          <a:prstGeom prst="rect">
            <a:avLst/>
          </a:prstGeom>
          <a:noFill/>
          <a:ln/>
        </p:spPr>
        <p:txBody>
          <a:bodyPr wrap="square" lIns="0" tIns="0" rIns="0" bIns="0" rtlCol="0" anchor="ctr"/>
          <a:lstStyle/>
          <a:p>
            <a:pPr indent="0" marL="0">
              <a:buNone/>
            </a:pPr>
            <a:r>
              <a:rPr lang="en-US" sz="1500" b="1" dirty="0">
                <a:solidFill>
                  <a:srgbClr val="102A43"/>
                </a:solidFill>
                <a:latin typeface="Trebuchet MS" pitchFamily="34" charset="0"/>
                <a:ea typeface="Trebuchet MS" pitchFamily="34" charset="-122"/>
                <a:cs typeface="Trebuchet MS" pitchFamily="34" charset="-120"/>
              </a:rPr>
              <a:t>Quick recap</a:t>
            </a:r>
            <a:endParaRPr lang="en-US" sz="1500" dirty="0"/>
          </a:p>
        </p:txBody>
      </p:sp>
      <p:sp>
        <p:nvSpPr>
          <p:cNvPr id="7" name="Text 5"/>
          <p:cNvSpPr/>
          <p:nvPr/>
        </p:nvSpPr>
        <p:spPr>
          <a:xfrm>
            <a:off x="4800600" y="1828800"/>
            <a:ext cx="3383280" cy="1417320"/>
          </a:xfrm>
          <a:prstGeom prst="rect">
            <a:avLst/>
          </a:prstGeom>
          <a:noFill/>
          <a:ln/>
        </p:spPr>
        <p:txBody>
          <a:bodyPr wrap="square" lIns="0" tIns="0" rIns="0" bIns="0" rtlCol="0" anchor="ctr">
            <a:normAutofit/>
          </a:bodyPr>
          <a:lstStyle/>
          <a:p>
            <a:pPr indent="0" marL="0">
              <a:buNone/>
            </a:pPr>
            <a:r>
              <a:rPr lang="en-US" sz="1120" dirty="0">
                <a:solidFill>
                  <a:srgbClr val="24364B"/>
                </a:solidFill>
                <a:latin typeface="Aptos" pitchFamily="34" charset="0"/>
                <a:ea typeface="Aptos" pitchFamily="34" charset="-122"/>
                <a:cs typeface="Aptos" pitchFamily="34" charset="-120"/>
              </a:rPr>
              <a:t>We tested whether more lobbying spending leads to higher profitability. Using merged firm data and a panel model, we found that this effect was not clearly positive in our sample.</a:t>
            </a:r>
            <a:endParaRPr lang="en-US" sz="11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QM 2023</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Corporate Lobbying and Firm Profitability</dc:title>
  <dc:subject>Capstone presentation</dc:subject>
  <dc:creator>QM 2023 Capstone Team</dc:creator>
  <cp:lastModifiedBy>QM 2023 Capstone Team</cp:lastModifiedBy>
  <cp:revision>1</cp:revision>
  <dcterms:created xsi:type="dcterms:W3CDTF">2026-05-01T05:14:45Z</dcterms:created>
  <dcterms:modified xsi:type="dcterms:W3CDTF">2026-05-01T05:14:45Z</dcterms:modified>
</cp:coreProperties>
</file>