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main takeaway: lobbying does not show a clear payoff in future profitability, and the point estimate is negative.
Emphasize that this is a merged firm-year panel from 2010 to 2020, so the analysis is about repeated firm observations over time rather than one cross-section snapshot.
Keep the tone careful: the estimate is informative as a pattern, not a definitive causal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main finding first: the point estimate is negative, but the standard error is large enough that it is not a clean signal.
Translate the magnitude carefully. The number is large because ROA is a ratio, so the practical message is about direction and uncertainty, not exact dollar-for-dollar forecasting.
Close with the recommendation: treat lobbying as a weak screening variable, not a basis for a strong overweight call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data pipeline in order: financials, lobbying, crosswalk, then merged panel.
Explain that lagging lobbying spend is the main design choice to reduce the obvious same-year reverse causality concern.
Point out that the clustered standard errors are not a decoration; the diagnostics show heteroskedasticity, so clustered inference is the right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interpretation simple: the coefficient is negative, but the p-value says the effect is not sharp enough to treat as a strong result.
Mention that the model already includes firm and year fixed effects, so the estimate is based on within-firm movement over time.
If asked about the magnitude, remind the audience that ROA is a ratio and the sample is sparse, so the safer interpretation is direction plus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show that the result is not a one-model story: alternative specifications tend to keep the same sign, but not the same certainty.
Call out the placebo lead explicitly because it is the clearest caution against a simple causal story.
For the ARIMA benchmark, the key message is that the annual series does not forecast better than a naive baseline, so the time-series angle does not create a tradeable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 the diagnostics as support for the modeling choices, not as decorative appendices.
The heteroskedasticity result is the main reason the clustered standard errors are used throughout the presentation.
The residual plots are a reminder that this is an empirical panel with uneven coverage and skewed firm outcomes, so the goal is robust patterns rather than perfect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with the direct takeaway: the evidence does not justify a strong positive story about lobbying and future profits.
Be explicit that the recommendation is cautious and conditional. The data support a screening rule more than a hard allocation rule.
If the audience asks for the next step, suggest richer sector classification, longer panels, or stronger identification to separate cause from timing.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7498080" y="-731520"/>
            <a:ext cx="3200400" cy="3200400"/>
          </a:xfrm>
          <a:prstGeom prst="ellipse">
            <a:avLst/>
          </a:prstGeom>
          <a:solidFill>
            <a:srgbClr val="58A6FF">
              <a:alpha val="30000"/>
            </a:srgbClr>
          </a:solidFill>
          <a:ln w="12700">
            <a:solidFill>
              <a:srgbClr val="58A6FF">
                <a:alpha val="0"/>
              </a:srgbClr>
            </a:solidFill>
            <a:prstDash val="solid"/>
          </a:ln>
        </p:spPr>
      </p:sp>
      <p:sp>
        <p:nvSpPr>
          <p:cNvPr id="3" name="Shape 1"/>
          <p:cNvSpPr/>
          <p:nvPr/>
        </p:nvSpPr>
        <p:spPr>
          <a:xfrm>
            <a:off x="8275320" y="3611880"/>
            <a:ext cx="1920240" cy="1920240"/>
          </a:xfrm>
          <a:prstGeom prst="ellipse">
            <a:avLst/>
          </a:prstGeom>
          <a:solidFill>
            <a:srgbClr val="DCEEFF">
              <a:alpha val="24000"/>
            </a:srgbClr>
          </a:solidFill>
          <a:ln w="12700">
            <a:solidFill>
              <a:srgbClr val="DCEEFF">
                <a:alpha val="0"/>
              </a:srgbClr>
            </a:solidFill>
            <a:prstDash val="solid"/>
          </a:ln>
        </p:spPr>
      </p:sp>
      <p:sp>
        <p:nvSpPr>
          <p:cNvPr id="4" name="Text 2"/>
          <p:cNvSpPr/>
          <p:nvPr/>
        </p:nvSpPr>
        <p:spPr>
          <a:xfrm>
            <a:off x="658368" y="914400"/>
            <a:ext cx="4206240" cy="1234440"/>
          </a:xfrm>
          <a:prstGeom prst="rect">
            <a:avLst/>
          </a:prstGeom>
          <a:noFill/>
          <a:ln/>
        </p:spPr>
        <p:txBody>
          <a:bodyPr wrap="square" lIns="0" tIns="0" rIns="0" bIns="0" rtlCol="0" anchor="ctr">
            <a:normAutofit/>
          </a:bodyPr>
          <a:lstStyle/>
          <a:p>
            <a:pPr indent="0" marL="0">
              <a:buNone/>
            </a:pPr>
            <a:r>
              <a:rPr lang="en-US" sz="3100" b="1" dirty="0">
                <a:solidFill>
                  <a:srgbClr val="FFFFFF"/>
                </a:solidFill>
                <a:latin typeface="Trebuchet MS" pitchFamily="34" charset="0"/>
                <a:ea typeface="Trebuchet MS" pitchFamily="34" charset="-122"/>
                <a:cs typeface="Trebuchet MS" pitchFamily="34" charset="-120"/>
              </a:rPr>
              <a:t>Lobbying and</a:t>
            </a:r>
            <a:endParaRPr lang="en-US" sz="3100" dirty="0"/>
          </a:p>
          <a:p>
            <a:pPr indent="0" marL="0">
              <a:buNone/>
            </a:pPr>
            <a:r>
              <a:rPr lang="en-US" sz="3100" b="1" dirty="0">
                <a:solidFill>
                  <a:srgbClr val="FFFFFF"/>
                </a:solidFill>
                <a:latin typeface="Trebuchet MS" pitchFamily="34" charset="0"/>
                <a:ea typeface="Trebuchet MS" pitchFamily="34" charset="-122"/>
                <a:cs typeface="Trebuchet MS" pitchFamily="34" charset="-120"/>
              </a:rPr>
              <a:t>Profitability</a:t>
            </a:r>
            <a:endParaRPr lang="en-US" sz="3100" dirty="0"/>
          </a:p>
        </p:txBody>
      </p:sp>
      <p:sp>
        <p:nvSpPr>
          <p:cNvPr id="5" name="Text 3"/>
          <p:cNvSpPr/>
          <p:nvPr/>
        </p:nvSpPr>
        <p:spPr>
          <a:xfrm>
            <a:off x="676656" y="2240280"/>
            <a:ext cx="4480560" cy="502920"/>
          </a:xfrm>
          <a:prstGeom prst="rect">
            <a:avLst/>
          </a:prstGeom>
          <a:noFill/>
          <a:ln/>
        </p:spPr>
        <p:txBody>
          <a:bodyPr wrap="square" lIns="0" tIns="0" rIns="0" bIns="0" rtlCol="0" anchor="ctr">
            <a:normAutofit/>
          </a:bodyPr>
          <a:lstStyle/>
          <a:p>
            <a:pPr indent="0" marL="0">
              <a:buNone/>
            </a:pPr>
            <a:r>
              <a:rPr lang="en-US" sz="1300" dirty="0">
                <a:solidFill>
                  <a:srgbClr val="D7E6F7"/>
                </a:solidFill>
                <a:latin typeface="Aptos" pitchFamily="34" charset="0"/>
                <a:ea typeface="Aptos" pitchFamily="34" charset="-122"/>
                <a:cs typeface="Aptos" pitchFamily="34" charset="-120"/>
              </a:rPr>
              <a:t>A simple, investor-facing readout of how firm lobbying spend lines up with future ROA in the merged 2010-2020 panel.</a:t>
            </a:r>
            <a:endParaRPr lang="en-US" sz="1300" dirty="0"/>
          </a:p>
        </p:txBody>
      </p:sp>
      <p:sp>
        <p:nvSpPr>
          <p:cNvPr id="6" name="Shape 4"/>
          <p:cNvSpPr/>
          <p:nvPr/>
        </p:nvSpPr>
        <p:spPr>
          <a:xfrm>
            <a:off x="5577840" y="914400"/>
            <a:ext cx="2788920" cy="914400"/>
          </a:xfrm>
          <a:prstGeom prst="roundRect">
            <a:avLst>
              <a:gd name="adj" fmla="val 9000"/>
            </a:avLst>
          </a:prstGeom>
          <a:solidFill>
            <a:srgbClr val="FFFFFF"/>
          </a:solidFill>
          <a:ln w="12700">
            <a:solidFill>
              <a:srgbClr val="DDE8F2"/>
            </a:solidFill>
            <a:prstDash val="solid"/>
          </a:ln>
          <a:effectLst>
            <a:outerShdw sx="100000" sy="100000" kx="0" ky="0" algn="bl" rotWithShape="0" blurRad="38100" dist="19050" dir="2700000">
              <a:srgbClr val="000000">
                <a:alpha val="8000"/>
              </a:srgbClr>
            </a:outerShdw>
          </a:effectLst>
        </p:spPr>
      </p:sp>
      <p:sp>
        <p:nvSpPr>
          <p:cNvPr id="7" name="Shape 5"/>
          <p:cNvSpPr/>
          <p:nvPr/>
        </p:nvSpPr>
        <p:spPr>
          <a:xfrm>
            <a:off x="5577840" y="914400"/>
            <a:ext cx="109728" cy="914400"/>
          </a:xfrm>
          <a:prstGeom prst="rect">
            <a:avLst/>
          </a:prstGeom>
          <a:solidFill>
            <a:srgbClr val="58A6FF"/>
          </a:solidFill>
          <a:ln w="12700">
            <a:solidFill>
              <a:srgbClr val="58A6FF"/>
            </a:solidFill>
            <a:prstDash val="solid"/>
          </a:ln>
        </p:spPr>
      </p:sp>
      <p:sp>
        <p:nvSpPr>
          <p:cNvPr id="8" name="Text 6"/>
          <p:cNvSpPr/>
          <p:nvPr/>
        </p:nvSpPr>
        <p:spPr>
          <a:xfrm>
            <a:off x="5779008" y="1024128"/>
            <a:ext cx="2496312" cy="164592"/>
          </a:xfrm>
          <a:prstGeom prst="rect">
            <a:avLst/>
          </a:prstGeom>
          <a:noFill/>
          <a:ln/>
        </p:spPr>
        <p:txBody>
          <a:bodyPr wrap="square" lIns="0" tIns="0" rIns="0" bIns="0" rtlCol="0" anchor="ctr"/>
          <a:lstStyle/>
          <a:p>
            <a:pPr indent="0" marL="0">
              <a:buNone/>
            </a:pPr>
            <a:r>
              <a:rPr lang="en-US" sz="900" b="1" dirty="0">
                <a:solidFill>
                  <a:srgbClr val="5F7084"/>
                </a:solidFill>
                <a:latin typeface="Aptos" pitchFamily="34" charset="0"/>
                <a:ea typeface="Aptos" pitchFamily="34" charset="-122"/>
                <a:cs typeface="Aptos" pitchFamily="34" charset="-120"/>
              </a:rPr>
              <a:t>Headline result</a:t>
            </a:r>
            <a:endParaRPr lang="en-US" sz="900" dirty="0"/>
          </a:p>
        </p:txBody>
      </p:sp>
      <p:sp>
        <p:nvSpPr>
          <p:cNvPr id="9" name="Text 7"/>
          <p:cNvSpPr/>
          <p:nvPr/>
        </p:nvSpPr>
        <p:spPr>
          <a:xfrm>
            <a:off x="5779008" y="1188720"/>
            <a:ext cx="2496312" cy="329184"/>
          </a:xfrm>
          <a:prstGeom prst="rect">
            <a:avLst/>
          </a:prstGeom>
          <a:noFill/>
          <a:ln/>
        </p:spPr>
        <p:txBody>
          <a:bodyPr wrap="square" lIns="0" tIns="0" rIns="0" bIns="0" rtlCol="0" anchor="ctr">
            <a:normAutofit/>
          </a:bodyPr>
          <a:lstStyle/>
          <a:p>
            <a:pPr indent="0" marL="0">
              <a:buNone/>
            </a:pPr>
            <a:r>
              <a:rPr lang="en-US" sz="2100" b="1" dirty="0">
                <a:solidFill>
                  <a:srgbClr val="102A43"/>
                </a:solidFill>
                <a:latin typeface="Trebuchet MS" pitchFamily="34" charset="0"/>
                <a:ea typeface="Trebuchet MS" pitchFamily="34" charset="-122"/>
                <a:cs typeface="Trebuchet MS" pitchFamily="34" charset="-120"/>
              </a:rPr>
              <a:t>-174.6 pp</a:t>
            </a:r>
            <a:endParaRPr lang="en-US" sz="2100" dirty="0"/>
          </a:p>
        </p:txBody>
      </p:sp>
      <p:sp>
        <p:nvSpPr>
          <p:cNvPr id="10" name="Text 8"/>
          <p:cNvSpPr/>
          <p:nvPr/>
        </p:nvSpPr>
        <p:spPr>
          <a:xfrm>
            <a:off x="5779008" y="1545336"/>
            <a:ext cx="2496312" cy="219456"/>
          </a:xfrm>
          <a:prstGeom prst="rect">
            <a:avLst/>
          </a:prstGeom>
          <a:noFill/>
          <a:ln/>
        </p:spPr>
        <p:txBody>
          <a:bodyPr wrap="square" lIns="0" tIns="0" rIns="0" bIns="0" rtlCol="0" anchor="ctr">
            <a:normAutofit/>
          </a:bodyPr>
          <a:lstStyle/>
          <a:p>
            <a:pPr indent="0" marL="0">
              <a:buNone/>
            </a:pPr>
            <a:r>
              <a:rPr lang="en-US" sz="950" dirty="0">
                <a:solidFill>
                  <a:srgbClr val="24364B"/>
                </a:solidFill>
                <a:latin typeface="Aptos" pitchFamily="34" charset="0"/>
                <a:ea typeface="Aptos" pitchFamily="34" charset="-122"/>
                <a:cs typeface="Aptos" pitchFamily="34" charset="-120"/>
              </a:rPr>
              <a:t>A $1M increase in lagged lobbying spend is associated with lower ROA, but the estimate is noisy.</a:t>
            </a:r>
            <a:endParaRPr lang="en-US" sz="950" dirty="0"/>
          </a:p>
        </p:txBody>
      </p:sp>
      <p:sp>
        <p:nvSpPr>
          <p:cNvPr id="11" name="Shape 9"/>
          <p:cNvSpPr/>
          <p:nvPr/>
        </p:nvSpPr>
        <p:spPr>
          <a:xfrm>
            <a:off x="5577840" y="1965960"/>
            <a:ext cx="2788920" cy="914400"/>
          </a:xfrm>
          <a:prstGeom prst="roundRect">
            <a:avLst>
              <a:gd name="adj" fmla="val 9000"/>
            </a:avLst>
          </a:prstGeom>
          <a:solidFill>
            <a:srgbClr val="FFFFFF"/>
          </a:solidFill>
          <a:ln w="12700">
            <a:solidFill>
              <a:srgbClr val="DDE8F2"/>
            </a:solidFill>
            <a:prstDash val="solid"/>
          </a:ln>
          <a:effectLst>
            <a:outerShdw sx="100000" sy="100000" kx="0" ky="0" algn="bl" rotWithShape="0" blurRad="38100" dist="19050" dir="2700000">
              <a:srgbClr val="000000">
                <a:alpha val="8000"/>
              </a:srgbClr>
            </a:outerShdw>
          </a:effectLst>
        </p:spPr>
      </p:sp>
      <p:sp>
        <p:nvSpPr>
          <p:cNvPr id="12" name="Shape 10"/>
          <p:cNvSpPr/>
          <p:nvPr/>
        </p:nvSpPr>
        <p:spPr>
          <a:xfrm>
            <a:off x="5577840" y="1965960"/>
            <a:ext cx="109728" cy="914400"/>
          </a:xfrm>
          <a:prstGeom prst="rect">
            <a:avLst/>
          </a:prstGeom>
          <a:solidFill>
            <a:srgbClr val="DCEEFF"/>
          </a:solidFill>
          <a:ln w="12700">
            <a:solidFill>
              <a:srgbClr val="DCEEFF"/>
            </a:solidFill>
            <a:prstDash val="solid"/>
          </a:ln>
        </p:spPr>
      </p:sp>
      <p:sp>
        <p:nvSpPr>
          <p:cNvPr id="13" name="Text 11"/>
          <p:cNvSpPr/>
          <p:nvPr/>
        </p:nvSpPr>
        <p:spPr>
          <a:xfrm>
            <a:off x="5779008" y="2075688"/>
            <a:ext cx="2496312" cy="164592"/>
          </a:xfrm>
          <a:prstGeom prst="rect">
            <a:avLst/>
          </a:prstGeom>
          <a:noFill/>
          <a:ln/>
        </p:spPr>
        <p:txBody>
          <a:bodyPr wrap="square" lIns="0" tIns="0" rIns="0" bIns="0" rtlCol="0" anchor="ctr"/>
          <a:lstStyle/>
          <a:p>
            <a:pPr indent="0" marL="0">
              <a:buNone/>
            </a:pPr>
            <a:r>
              <a:rPr lang="en-US" sz="900" b="1" dirty="0">
                <a:solidFill>
                  <a:srgbClr val="5F7084"/>
                </a:solidFill>
                <a:latin typeface="Aptos" pitchFamily="34" charset="0"/>
                <a:ea typeface="Aptos" pitchFamily="34" charset="-122"/>
                <a:cs typeface="Aptos" pitchFamily="34" charset="-120"/>
              </a:rPr>
              <a:t>Model sample</a:t>
            </a:r>
            <a:endParaRPr lang="en-US" sz="900" dirty="0"/>
          </a:p>
        </p:txBody>
      </p:sp>
      <p:sp>
        <p:nvSpPr>
          <p:cNvPr id="14" name="Text 12"/>
          <p:cNvSpPr/>
          <p:nvPr/>
        </p:nvSpPr>
        <p:spPr>
          <a:xfrm>
            <a:off x="5779008" y="2240280"/>
            <a:ext cx="2496312" cy="329184"/>
          </a:xfrm>
          <a:prstGeom prst="rect">
            <a:avLst/>
          </a:prstGeom>
          <a:noFill/>
          <a:ln/>
        </p:spPr>
        <p:txBody>
          <a:bodyPr wrap="square" lIns="0" tIns="0" rIns="0" bIns="0" rtlCol="0" anchor="ctr">
            <a:normAutofit/>
          </a:bodyPr>
          <a:lstStyle/>
          <a:p>
            <a:pPr indent="0" marL="0">
              <a:buNone/>
            </a:pPr>
            <a:r>
              <a:rPr lang="en-US" sz="2100" b="1" dirty="0">
                <a:solidFill>
                  <a:srgbClr val="102A43"/>
                </a:solidFill>
                <a:latin typeface="Trebuchet MS" pitchFamily="34" charset="0"/>
                <a:ea typeface="Trebuchet MS" pitchFamily="34" charset="-122"/>
                <a:cs typeface="Trebuchet MS" pitchFamily="34" charset="-120"/>
              </a:rPr>
              <a:t>2,125 rows</a:t>
            </a:r>
            <a:endParaRPr lang="en-US" sz="2100" dirty="0"/>
          </a:p>
        </p:txBody>
      </p:sp>
      <p:sp>
        <p:nvSpPr>
          <p:cNvPr id="15" name="Text 13"/>
          <p:cNvSpPr/>
          <p:nvPr/>
        </p:nvSpPr>
        <p:spPr>
          <a:xfrm>
            <a:off x="5779008" y="2596896"/>
            <a:ext cx="2496312" cy="219456"/>
          </a:xfrm>
          <a:prstGeom prst="rect">
            <a:avLst/>
          </a:prstGeom>
          <a:noFill/>
          <a:ln/>
        </p:spPr>
        <p:txBody>
          <a:bodyPr wrap="square" lIns="0" tIns="0" rIns="0" bIns="0" rtlCol="0" anchor="ctr">
            <a:normAutofit/>
          </a:bodyPr>
          <a:lstStyle/>
          <a:p>
            <a:pPr indent="0" marL="0">
              <a:buNone/>
            </a:pPr>
            <a:r>
              <a:rPr lang="en-US" sz="950" dirty="0">
                <a:solidFill>
                  <a:srgbClr val="24364B"/>
                </a:solidFill>
                <a:latin typeface="Aptos" pitchFamily="34" charset="0"/>
                <a:ea typeface="Aptos" pitchFamily="34" charset="-122"/>
                <a:cs typeface="Aptos" pitchFamily="34" charset="-120"/>
              </a:rPr>
              <a:t>Firm-years after lagging spend and dropping missing controls.</a:t>
            </a:r>
            <a:endParaRPr lang="en-US" sz="950" dirty="0"/>
          </a:p>
        </p:txBody>
      </p:sp>
      <p:sp>
        <p:nvSpPr>
          <p:cNvPr id="16" name="Shape 14"/>
          <p:cNvSpPr/>
          <p:nvPr/>
        </p:nvSpPr>
        <p:spPr>
          <a:xfrm>
            <a:off x="5577840" y="3017520"/>
            <a:ext cx="2788920" cy="914400"/>
          </a:xfrm>
          <a:prstGeom prst="roundRect">
            <a:avLst>
              <a:gd name="adj" fmla="val 9000"/>
            </a:avLst>
          </a:prstGeom>
          <a:solidFill>
            <a:srgbClr val="FFFFFF"/>
          </a:solidFill>
          <a:ln w="12700">
            <a:solidFill>
              <a:srgbClr val="DDE8F2"/>
            </a:solidFill>
            <a:prstDash val="solid"/>
          </a:ln>
          <a:effectLst>
            <a:outerShdw sx="100000" sy="100000" kx="0" ky="0" algn="bl" rotWithShape="0" blurRad="38100" dist="19050" dir="2700000">
              <a:srgbClr val="000000">
                <a:alpha val="8000"/>
              </a:srgbClr>
            </a:outerShdw>
          </a:effectLst>
        </p:spPr>
      </p:sp>
      <p:sp>
        <p:nvSpPr>
          <p:cNvPr id="17" name="Shape 15"/>
          <p:cNvSpPr/>
          <p:nvPr/>
        </p:nvSpPr>
        <p:spPr>
          <a:xfrm>
            <a:off x="5577840" y="3017520"/>
            <a:ext cx="109728" cy="914400"/>
          </a:xfrm>
          <a:prstGeom prst="rect">
            <a:avLst/>
          </a:prstGeom>
          <a:solidFill>
            <a:srgbClr val="DCEEFF"/>
          </a:solidFill>
          <a:ln w="12700">
            <a:solidFill>
              <a:srgbClr val="DCEEFF"/>
            </a:solidFill>
            <a:prstDash val="solid"/>
          </a:ln>
        </p:spPr>
      </p:sp>
      <p:sp>
        <p:nvSpPr>
          <p:cNvPr id="18" name="Text 16"/>
          <p:cNvSpPr/>
          <p:nvPr/>
        </p:nvSpPr>
        <p:spPr>
          <a:xfrm>
            <a:off x="5779008" y="3127248"/>
            <a:ext cx="2496312" cy="164592"/>
          </a:xfrm>
          <a:prstGeom prst="rect">
            <a:avLst/>
          </a:prstGeom>
          <a:noFill/>
          <a:ln/>
        </p:spPr>
        <p:txBody>
          <a:bodyPr wrap="square" lIns="0" tIns="0" rIns="0" bIns="0" rtlCol="0" anchor="ctr"/>
          <a:lstStyle/>
          <a:p>
            <a:pPr indent="0" marL="0">
              <a:buNone/>
            </a:pPr>
            <a:r>
              <a:rPr lang="en-US" sz="900" b="1" dirty="0">
                <a:solidFill>
                  <a:srgbClr val="5F7084"/>
                </a:solidFill>
                <a:latin typeface="Aptos" pitchFamily="34" charset="0"/>
                <a:ea typeface="Aptos" pitchFamily="34" charset="-122"/>
                <a:cs typeface="Aptos" pitchFamily="34" charset="-120"/>
              </a:rPr>
              <a:t>Panel scope</a:t>
            </a:r>
            <a:endParaRPr lang="en-US" sz="900" dirty="0"/>
          </a:p>
        </p:txBody>
      </p:sp>
      <p:sp>
        <p:nvSpPr>
          <p:cNvPr id="19" name="Text 17"/>
          <p:cNvSpPr/>
          <p:nvPr/>
        </p:nvSpPr>
        <p:spPr>
          <a:xfrm>
            <a:off x="5779008" y="3291840"/>
            <a:ext cx="2496312" cy="329184"/>
          </a:xfrm>
          <a:prstGeom prst="rect">
            <a:avLst/>
          </a:prstGeom>
          <a:noFill/>
          <a:ln/>
        </p:spPr>
        <p:txBody>
          <a:bodyPr wrap="square" lIns="0" tIns="0" rIns="0" bIns="0" rtlCol="0" anchor="ctr">
            <a:normAutofit/>
          </a:bodyPr>
          <a:lstStyle/>
          <a:p>
            <a:pPr indent="0" marL="0">
              <a:buNone/>
            </a:pPr>
            <a:r>
              <a:rPr lang="en-US" sz="2100" b="1" dirty="0">
                <a:solidFill>
                  <a:srgbClr val="102A43"/>
                </a:solidFill>
                <a:latin typeface="Trebuchet MS" pitchFamily="34" charset="0"/>
                <a:ea typeface="Trebuchet MS" pitchFamily="34" charset="-122"/>
                <a:cs typeface="Trebuchet MS" pitchFamily="34" charset="-120"/>
              </a:rPr>
              <a:t>1,375 firms</a:t>
            </a:r>
            <a:endParaRPr lang="en-US" sz="2100" dirty="0"/>
          </a:p>
        </p:txBody>
      </p:sp>
      <p:sp>
        <p:nvSpPr>
          <p:cNvPr id="20" name="Text 18"/>
          <p:cNvSpPr/>
          <p:nvPr/>
        </p:nvSpPr>
        <p:spPr>
          <a:xfrm>
            <a:off x="5779008" y="3648456"/>
            <a:ext cx="2496312" cy="219456"/>
          </a:xfrm>
          <a:prstGeom prst="rect">
            <a:avLst/>
          </a:prstGeom>
          <a:noFill/>
          <a:ln/>
        </p:spPr>
        <p:txBody>
          <a:bodyPr wrap="square" lIns="0" tIns="0" rIns="0" bIns="0" rtlCol="0" anchor="ctr">
            <a:normAutofit/>
          </a:bodyPr>
          <a:lstStyle/>
          <a:p>
            <a:pPr indent="0" marL="0">
              <a:buNone/>
            </a:pPr>
            <a:r>
              <a:rPr lang="en-US" sz="950" dirty="0">
                <a:solidFill>
                  <a:srgbClr val="24364B"/>
                </a:solidFill>
                <a:latin typeface="Aptos" pitchFamily="34" charset="0"/>
                <a:ea typeface="Aptos" pitchFamily="34" charset="-122"/>
                <a:cs typeface="Aptos" pitchFamily="34" charset="-120"/>
              </a:rPr>
              <a:t>Merged financial and lobbying panel covering 2010-2020.</a:t>
            </a:r>
            <a:endParaRPr lang="en-US" sz="950" dirty="0"/>
          </a:p>
        </p:txBody>
      </p:sp>
      <p:sp>
        <p:nvSpPr>
          <p:cNvPr id="21" name="Shape 19"/>
          <p:cNvSpPr/>
          <p:nvPr/>
        </p:nvSpPr>
        <p:spPr>
          <a:xfrm>
            <a:off x="5577840" y="4069080"/>
            <a:ext cx="2788920" cy="914400"/>
          </a:xfrm>
          <a:prstGeom prst="roundRect">
            <a:avLst>
              <a:gd name="adj" fmla="val 9000"/>
            </a:avLst>
          </a:prstGeom>
          <a:solidFill>
            <a:srgbClr val="FFFFFF"/>
          </a:solidFill>
          <a:ln w="12700">
            <a:solidFill>
              <a:srgbClr val="DDE8F2"/>
            </a:solidFill>
            <a:prstDash val="solid"/>
          </a:ln>
          <a:effectLst>
            <a:outerShdw sx="100000" sy="100000" kx="0" ky="0" algn="bl" rotWithShape="0" blurRad="38100" dist="19050" dir="2700000">
              <a:srgbClr val="000000">
                <a:alpha val="8000"/>
              </a:srgbClr>
            </a:outerShdw>
          </a:effectLst>
        </p:spPr>
      </p:sp>
      <p:sp>
        <p:nvSpPr>
          <p:cNvPr id="22" name="Shape 20"/>
          <p:cNvSpPr/>
          <p:nvPr/>
        </p:nvSpPr>
        <p:spPr>
          <a:xfrm>
            <a:off x="5577840" y="4069080"/>
            <a:ext cx="109728" cy="914400"/>
          </a:xfrm>
          <a:prstGeom prst="rect">
            <a:avLst/>
          </a:prstGeom>
          <a:solidFill>
            <a:srgbClr val="DCEEFF"/>
          </a:solidFill>
          <a:ln w="12700">
            <a:solidFill>
              <a:srgbClr val="DCEEFF"/>
            </a:solidFill>
            <a:prstDash val="solid"/>
          </a:ln>
        </p:spPr>
      </p:sp>
      <p:sp>
        <p:nvSpPr>
          <p:cNvPr id="23" name="Text 21"/>
          <p:cNvSpPr/>
          <p:nvPr/>
        </p:nvSpPr>
        <p:spPr>
          <a:xfrm>
            <a:off x="5779008" y="4178808"/>
            <a:ext cx="2496312" cy="164592"/>
          </a:xfrm>
          <a:prstGeom prst="rect">
            <a:avLst/>
          </a:prstGeom>
          <a:noFill/>
          <a:ln/>
        </p:spPr>
        <p:txBody>
          <a:bodyPr wrap="square" lIns="0" tIns="0" rIns="0" bIns="0" rtlCol="0" anchor="ctr"/>
          <a:lstStyle/>
          <a:p>
            <a:pPr indent="0" marL="0">
              <a:buNone/>
            </a:pPr>
            <a:r>
              <a:rPr lang="en-US" sz="900" b="1" dirty="0">
                <a:solidFill>
                  <a:srgbClr val="5F7084"/>
                </a:solidFill>
                <a:latin typeface="Aptos" pitchFamily="34" charset="0"/>
                <a:ea typeface="Aptos" pitchFamily="34" charset="-122"/>
                <a:cs typeface="Aptos" pitchFamily="34" charset="-120"/>
              </a:rPr>
              <a:t>Robustness</a:t>
            </a:r>
            <a:endParaRPr lang="en-US" sz="900" dirty="0"/>
          </a:p>
        </p:txBody>
      </p:sp>
      <p:sp>
        <p:nvSpPr>
          <p:cNvPr id="24" name="Text 22"/>
          <p:cNvSpPr/>
          <p:nvPr/>
        </p:nvSpPr>
        <p:spPr>
          <a:xfrm>
            <a:off x="5779008" y="4343400"/>
            <a:ext cx="2496312" cy="329184"/>
          </a:xfrm>
          <a:prstGeom prst="rect">
            <a:avLst/>
          </a:prstGeom>
          <a:noFill/>
          <a:ln/>
        </p:spPr>
        <p:txBody>
          <a:bodyPr wrap="square" lIns="0" tIns="0" rIns="0" bIns="0" rtlCol="0" anchor="ctr">
            <a:normAutofit/>
          </a:bodyPr>
          <a:lstStyle/>
          <a:p>
            <a:pPr indent="0" marL="0">
              <a:buNone/>
            </a:pPr>
            <a:r>
              <a:rPr lang="en-US" sz="2100" b="1" dirty="0">
                <a:solidFill>
                  <a:srgbClr val="102A43"/>
                </a:solidFill>
                <a:latin typeface="Trebuchet MS" pitchFamily="34" charset="0"/>
                <a:ea typeface="Trebuchet MS" pitchFamily="34" charset="-122"/>
                <a:cs typeface="Trebuchet MS" pitchFamily="34" charset="-120"/>
              </a:rPr>
              <a:t>Negative sign</a:t>
            </a:r>
            <a:endParaRPr lang="en-US" sz="2100" dirty="0"/>
          </a:p>
        </p:txBody>
      </p:sp>
      <p:sp>
        <p:nvSpPr>
          <p:cNvPr id="25" name="Text 23"/>
          <p:cNvSpPr/>
          <p:nvPr/>
        </p:nvSpPr>
        <p:spPr>
          <a:xfrm>
            <a:off x="5779008" y="4700016"/>
            <a:ext cx="2496312" cy="219456"/>
          </a:xfrm>
          <a:prstGeom prst="rect">
            <a:avLst/>
          </a:prstGeom>
          <a:noFill/>
          <a:ln/>
        </p:spPr>
        <p:txBody>
          <a:bodyPr wrap="square" lIns="0" tIns="0" rIns="0" bIns="0" rtlCol="0" anchor="ctr">
            <a:normAutofit/>
          </a:bodyPr>
          <a:lstStyle/>
          <a:p>
            <a:pPr indent="0" marL="0">
              <a:buNone/>
            </a:pPr>
            <a:r>
              <a:rPr lang="en-US" sz="950" dirty="0">
                <a:solidFill>
                  <a:srgbClr val="24364B"/>
                </a:solidFill>
                <a:latin typeface="Aptos" pitchFamily="34" charset="0"/>
                <a:ea typeface="Aptos" pitchFamily="34" charset="-122"/>
                <a:cs typeface="Aptos" pitchFamily="34" charset="-120"/>
              </a:rPr>
              <a:t>The sign stays mostly negative across lag, DiD, and bootstrap checks.</a:t>
            </a:r>
            <a:endParaRPr lang="en-US" sz="950" dirty="0"/>
          </a:p>
        </p:txBody>
      </p:sp>
      <p:sp>
        <p:nvSpPr>
          <p:cNvPr id="26" name="Text 24"/>
          <p:cNvSpPr/>
          <p:nvPr/>
        </p:nvSpPr>
        <p:spPr>
          <a:xfrm>
            <a:off x="676656" y="6053328"/>
            <a:ext cx="4937760" cy="164592"/>
          </a:xfrm>
          <a:prstGeom prst="rect">
            <a:avLst/>
          </a:prstGeom>
          <a:noFill/>
          <a:ln/>
        </p:spPr>
        <p:txBody>
          <a:bodyPr wrap="square" lIns="0" tIns="0" rIns="0" bIns="0" rtlCol="0" anchor="ctr"/>
          <a:lstStyle/>
          <a:p>
            <a:pPr indent="0" marL="0">
              <a:buNone/>
            </a:pPr>
            <a:r>
              <a:rPr lang="en-US" sz="900" dirty="0">
                <a:solidFill>
                  <a:srgbClr val="D7E6F7"/>
                </a:solidFill>
                <a:latin typeface="Aptos" pitchFamily="34" charset="0"/>
                <a:ea typeface="Aptos" pitchFamily="34" charset="-122"/>
                <a:cs typeface="Aptos" pitchFamily="34" charset="-120"/>
              </a:rPr>
              <a:t>Prepared from the project’s cleaned panel, regression tables, and diagnostic figures.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8FD"/>
        </a:solidFill>
      </p:bgPr>
    </p:bg>
    <p:spTree>
      <p:nvGrpSpPr>
        <p:cNvPr id="1" name=""/>
        <p:cNvGrpSpPr/>
        <p:nvPr/>
      </p:nvGrpSpPr>
      <p:grpSpPr>
        <a:xfrm>
          <a:off x="0" y="0"/>
          <a:ext cx="0" cy="0"/>
          <a:chOff x="0" y="0"/>
          <a:chExt cx="0" cy="0"/>
        </a:xfrm>
      </p:grpSpPr>
      <p:sp>
        <p:nvSpPr>
          <p:cNvPr id="2" name="Shape 0"/>
          <p:cNvSpPr/>
          <p:nvPr/>
        </p:nvSpPr>
        <p:spPr>
          <a:xfrm>
            <a:off x="502920" y="292608"/>
            <a:ext cx="1417320" cy="310896"/>
          </a:xfrm>
          <a:prstGeom prst="roundRect">
            <a:avLst>
              <a:gd name="adj" fmla="val 23529"/>
            </a:avLst>
          </a:prstGeom>
          <a:solidFill>
            <a:srgbClr val="DCEEFF"/>
          </a:solidFill>
          <a:ln w="12700">
            <a:solidFill>
              <a:srgbClr val="DCEEFF"/>
            </a:solidFill>
            <a:prstDash val="solid"/>
          </a:ln>
        </p:spPr>
      </p:sp>
      <p:sp>
        <p:nvSpPr>
          <p:cNvPr id="3" name="Text 1"/>
          <p:cNvSpPr/>
          <p:nvPr/>
        </p:nvSpPr>
        <p:spPr>
          <a:xfrm>
            <a:off x="502920" y="320040"/>
            <a:ext cx="1417320" cy="201168"/>
          </a:xfrm>
          <a:prstGeom prst="rect">
            <a:avLst/>
          </a:prstGeom>
          <a:noFill/>
          <a:ln/>
        </p:spPr>
        <p:txBody>
          <a:bodyPr wrap="square" lIns="0" tIns="0" rIns="0" bIns="0" rtlCol="0" anchor="ctr"/>
          <a:lstStyle/>
          <a:p>
            <a:pPr algn="ctr" indent="0" marL="0">
              <a:buNone/>
            </a:pPr>
            <a:r>
              <a:rPr lang="en-US" sz="900" b="1" spc="110" kern="0" dirty="0">
                <a:solidFill>
                  <a:srgbClr val="102A43"/>
                </a:solidFill>
                <a:latin typeface="Trebuchet MS" pitchFamily="34" charset="0"/>
                <a:ea typeface="Trebuchet MS" pitchFamily="34" charset="-122"/>
                <a:cs typeface="Trebuchet MS" pitchFamily="34" charset="-120"/>
              </a:rPr>
              <a:t>EXECUTIVE SUMMARY</a:t>
            </a:r>
            <a:endParaRPr lang="en-US" sz="900" dirty="0"/>
          </a:p>
        </p:txBody>
      </p:sp>
      <p:sp>
        <p:nvSpPr>
          <p:cNvPr id="4" name="Text 2"/>
          <p:cNvSpPr/>
          <p:nvPr/>
        </p:nvSpPr>
        <p:spPr>
          <a:xfrm>
            <a:off x="502920" y="658368"/>
            <a:ext cx="7955280" cy="420624"/>
          </a:xfrm>
          <a:prstGeom prst="rect">
            <a:avLst/>
          </a:prstGeom>
          <a:noFill/>
          <a:ln/>
        </p:spPr>
        <p:txBody>
          <a:bodyPr wrap="square" lIns="0" tIns="0" rIns="0" bIns="0" rtlCol="0" anchor="ctr">
            <a:normAutofit/>
          </a:bodyPr>
          <a:lstStyle/>
          <a:p>
            <a:pPr indent="0" marL="0">
              <a:buNone/>
            </a:pPr>
            <a:r>
              <a:rPr lang="en-US" sz="2400" b="1" dirty="0">
                <a:solidFill>
                  <a:srgbClr val="102A43"/>
                </a:solidFill>
                <a:latin typeface="Trebuchet MS" pitchFamily="34" charset="0"/>
                <a:ea typeface="Trebuchet MS" pitchFamily="34" charset="-122"/>
                <a:cs typeface="Trebuchet MS" pitchFamily="34" charset="-120"/>
              </a:rPr>
              <a:t>What the data say in plain English</a:t>
            </a:r>
            <a:endParaRPr lang="en-US" sz="2400" dirty="0"/>
          </a:p>
        </p:txBody>
      </p:sp>
      <p:sp>
        <p:nvSpPr>
          <p:cNvPr id="5" name="Text 3"/>
          <p:cNvSpPr/>
          <p:nvPr/>
        </p:nvSpPr>
        <p:spPr>
          <a:xfrm>
            <a:off x="502920" y="1024128"/>
            <a:ext cx="8138160" cy="310896"/>
          </a:xfrm>
          <a:prstGeom prst="rect">
            <a:avLst/>
          </a:prstGeom>
          <a:noFill/>
          <a:ln/>
        </p:spPr>
        <p:txBody>
          <a:bodyPr wrap="square" lIns="0" tIns="0" rIns="0" bIns="0" rtlCol="0" anchor="ctr">
            <a:normAutofit/>
          </a:bodyPr>
          <a:lstStyle/>
          <a:p>
            <a:pPr indent="0" marL="0">
              <a:buNone/>
            </a:pPr>
            <a:r>
              <a:rPr lang="en-US" sz="1050" dirty="0">
                <a:solidFill>
                  <a:srgbClr val="5F7084"/>
                </a:solidFill>
                <a:latin typeface="Aptos" pitchFamily="34" charset="0"/>
                <a:ea typeface="Aptos" pitchFamily="34" charset="-122"/>
                <a:cs typeface="Aptos" pitchFamily="34" charset="-120"/>
              </a:rPr>
              <a:t>The key question is whether more lobbying is followed by better profits.</a:t>
            </a:r>
            <a:endParaRPr lang="en-US" sz="1050" dirty="0"/>
          </a:p>
        </p:txBody>
      </p:sp>
      <p:sp>
        <p:nvSpPr>
          <p:cNvPr id="6" name="Shape 4"/>
          <p:cNvSpPr/>
          <p:nvPr/>
        </p:nvSpPr>
        <p:spPr>
          <a:xfrm>
            <a:off x="502920" y="1417320"/>
            <a:ext cx="5760720" cy="4023360"/>
          </a:xfrm>
          <a:prstGeom prst="roundRect">
            <a:avLst>
              <a:gd name="adj" fmla="val 2045"/>
            </a:avLst>
          </a:prstGeom>
          <a:solidFill>
            <a:srgbClr val="FFFFFF"/>
          </a:solidFill>
          <a:ln w="12700">
            <a:solidFill>
              <a:srgbClr val="DDE8F2"/>
            </a:solidFill>
            <a:prstDash val="solid"/>
          </a:ln>
          <a:effectLst>
            <a:outerShdw sx="100000" sy="100000" kx="0" ky="0" algn="bl" rotWithShape="0" blurRad="38100" dist="19050" dir="2700000">
              <a:srgbClr val="000000">
                <a:alpha val="7000"/>
              </a:srgbClr>
            </a:outerShdw>
          </a:effectLst>
        </p:spPr>
      </p:sp>
      <p:sp>
        <p:nvSpPr>
          <p:cNvPr id="7" name="Text 5"/>
          <p:cNvSpPr/>
          <p:nvPr/>
        </p:nvSpPr>
        <p:spPr>
          <a:xfrm>
            <a:off x="749808" y="1719072"/>
            <a:ext cx="5230368" cy="1051560"/>
          </a:xfrm>
          <a:prstGeom prst="rect">
            <a:avLst/>
          </a:prstGeom>
          <a:noFill/>
          <a:ln/>
        </p:spPr>
        <p:txBody>
          <a:bodyPr wrap="square" lIns="0" tIns="0" rIns="0" bIns="0" rtlCol="0" anchor="ctr">
            <a:normAutofit/>
          </a:bodyPr>
          <a:lstStyle/>
          <a:p>
            <a:pPr indent="0" marL="0">
              <a:buNone/>
            </a:pPr>
            <a:r>
              <a:rPr lang="en-US" sz="1600" dirty="0">
                <a:solidFill>
                  <a:srgbClr val="24364B"/>
                </a:solidFill>
                <a:latin typeface="Aptos" pitchFamily="34" charset="0"/>
                <a:ea typeface="Aptos" pitchFamily="34" charset="-122"/>
                <a:cs typeface="Aptos" pitchFamily="34" charset="-120"/>
              </a:rPr>
              <a:t>The main fixed-effects model points to a negative relationship: a $1 million increase in lobbying spend next year lines up with about a 174.6 percentage-point drop in ROA. That estimate is not statistically strong, so it should be read as a pattern, not proof.</a:t>
            </a:r>
            <a:endParaRPr lang="en-US" sz="1600" dirty="0"/>
          </a:p>
        </p:txBody>
      </p:sp>
      <p:sp>
        <p:nvSpPr>
          <p:cNvPr id="8" name="Text 6"/>
          <p:cNvSpPr/>
          <p:nvPr/>
        </p:nvSpPr>
        <p:spPr>
          <a:xfrm>
            <a:off x="749808" y="2880360"/>
            <a:ext cx="5230368" cy="914400"/>
          </a:xfrm>
          <a:prstGeom prst="rect">
            <a:avLst/>
          </a:prstGeom>
          <a:noFill/>
          <a:ln/>
        </p:spPr>
        <p:txBody>
          <a:bodyPr wrap="square" lIns="0" tIns="0" rIns="0" bIns="0" rtlCol="0" anchor="ctr">
            <a:normAutofit/>
          </a:bodyPr>
          <a:lstStyle/>
          <a:p>
            <a:pPr indent="0" marL="0">
              <a:buNone/>
            </a:pPr>
            <a:r>
              <a:rPr lang="en-US" sz="1400" dirty="0">
                <a:solidFill>
                  <a:srgbClr val="24364B"/>
                </a:solidFill>
                <a:latin typeface="Aptos" pitchFamily="34" charset="0"/>
                <a:ea typeface="Aptos" pitchFamily="34" charset="-122"/>
                <a:cs typeface="Aptos" pitchFamily="34" charset="-120"/>
              </a:rPr>
              <a:t>The same negative direction shows up in several checks, but the lead test warns that profitability may sometimes move before lobbying does. That makes the result useful for screening, not for treating lobbying as a reliable profit engine.</a:t>
            </a:r>
            <a:endParaRPr lang="en-US" sz="1400" dirty="0"/>
          </a:p>
        </p:txBody>
      </p:sp>
      <p:sp>
        <p:nvSpPr>
          <p:cNvPr id="9" name="Shape 7"/>
          <p:cNvSpPr/>
          <p:nvPr/>
        </p:nvSpPr>
        <p:spPr>
          <a:xfrm>
            <a:off x="6446520" y="1417320"/>
            <a:ext cx="1965960" cy="932688"/>
          </a:xfrm>
          <a:prstGeom prst="roundRect">
            <a:avLst>
              <a:gd name="adj" fmla="val 8824"/>
            </a:avLst>
          </a:prstGeom>
          <a:solidFill>
            <a:srgbClr val="FFFFFF"/>
          </a:solidFill>
          <a:ln w="12700">
            <a:solidFill>
              <a:srgbClr val="DDE8F2"/>
            </a:solidFill>
            <a:prstDash val="solid"/>
          </a:ln>
          <a:effectLst>
            <a:outerShdw sx="100000" sy="100000" kx="0" ky="0" algn="bl" rotWithShape="0" blurRad="38100" dist="19050" dir="2700000">
              <a:srgbClr val="000000">
                <a:alpha val="8000"/>
              </a:srgbClr>
            </a:outerShdw>
          </a:effectLst>
        </p:spPr>
      </p:sp>
      <p:sp>
        <p:nvSpPr>
          <p:cNvPr id="10" name="Shape 8"/>
          <p:cNvSpPr/>
          <p:nvPr/>
        </p:nvSpPr>
        <p:spPr>
          <a:xfrm>
            <a:off x="6446520" y="1417320"/>
            <a:ext cx="109728" cy="932688"/>
          </a:xfrm>
          <a:prstGeom prst="rect">
            <a:avLst/>
          </a:prstGeom>
          <a:solidFill>
            <a:srgbClr val="58A6FF"/>
          </a:solidFill>
          <a:ln w="12700">
            <a:solidFill>
              <a:srgbClr val="58A6FF"/>
            </a:solidFill>
            <a:prstDash val="solid"/>
          </a:ln>
        </p:spPr>
      </p:sp>
      <p:sp>
        <p:nvSpPr>
          <p:cNvPr id="11" name="Text 9"/>
          <p:cNvSpPr/>
          <p:nvPr/>
        </p:nvSpPr>
        <p:spPr>
          <a:xfrm>
            <a:off x="6647688" y="1527048"/>
            <a:ext cx="1673352" cy="164592"/>
          </a:xfrm>
          <a:prstGeom prst="rect">
            <a:avLst/>
          </a:prstGeom>
          <a:noFill/>
          <a:ln/>
        </p:spPr>
        <p:txBody>
          <a:bodyPr wrap="square" lIns="0" tIns="0" rIns="0" bIns="0" rtlCol="0" anchor="ctr"/>
          <a:lstStyle/>
          <a:p>
            <a:pPr indent="0" marL="0">
              <a:buNone/>
            </a:pPr>
            <a:r>
              <a:rPr lang="en-US" sz="900" b="1" dirty="0">
                <a:solidFill>
                  <a:srgbClr val="5F7084"/>
                </a:solidFill>
                <a:latin typeface="Aptos" pitchFamily="34" charset="0"/>
                <a:ea typeface="Aptos" pitchFamily="34" charset="-122"/>
                <a:cs typeface="Aptos" pitchFamily="34" charset="-120"/>
              </a:rPr>
              <a:t>Lag used</a:t>
            </a:r>
            <a:endParaRPr lang="en-US" sz="900" dirty="0"/>
          </a:p>
        </p:txBody>
      </p:sp>
      <p:sp>
        <p:nvSpPr>
          <p:cNvPr id="12" name="Text 10"/>
          <p:cNvSpPr/>
          <p:nvPr/>
        </p:nvSpPr>
        <p:spPr>
          <a:xfrm>
            <a:off x="6647688" y="1691640"/>
            <a:ext cx="1673352" cy="329184"/>
          </a:xfrm>
          <a:prstGeom prst="rect">
            <a:avLst/>
          </a:prstGeom>
          <a:noFill/>
          <a:ln/>
        </p:spPr>
        <p:txBody>
          <a:bodyPr wrap="square" lIns="0" tIns="0" rIns="0" bIns="0" rtlCol="0" anchor="ctr">
            <a:normAutofit/>
          </a:bodyPr>
          <a:lstStyle/>
          <a:p>
            <a:pPr indent="0" marL="0">
              <a:buNone/>
            </a:pPr>
            <a:r>
              <a:rPr lang="en-US" sz="2100" b="1" dirty="0">
                <a:solidFill>
                  <a:srgbClr val="102A43"/>
                </a:solidFill>
                <a:latin typeface="Trebuchet MS" pitchFamily="34" charset="0"/>
                <a:ea typeface="Trebuchet MS" pitchFamily="34" charset="-122"/>
                <a:cs typeface="Trebuchet MS" pitchFamily="34" charset="-120"/>
              </a:rPr>
              <a:t>1 year</a:t>
            </a:r>
            <a:endParaRPr lang="en-US" sz="2100" dirty="0"/>
          </a:p>
        </p:txBody>
      </p:sp>
      <p:sp>
        <p:nvSpPr>
          <p:cNvPr id="13" name="Text 11"/>
          <p:cNvSpPr/>
          <p:nvPr/>
        </p:nvSpPr>
        <p:spPr>
          <a:xfrm>
            <a:off x="6647688" y="2048256"/>
            <a:ext cx="1673352" cy="237744"/>
          </a:xfrm>
          <a:prstGeom prst="rect">
            <a:avLst/>
          </a:prstGeom>
          <a:noFill/>
          <a:ln/>
        </p:spPr>
        <p:txBody>
          <a:bodyPr wrap="square" lIns="0" tIns="0" rIns="0" bIns="0" rtlCol="0" anchor="ctr">
            <a:normAutofit/>
          </a:bodyPr>
          <a:lstStyle/>
          <a:p>
            <a:pPr indent="0" marL="0">
              <a:buNone/>
            </a:pPr>
            <a:r>
              <a:rPr lang="en-US" sz="950" dirty="0">
                <a:solidFill>
                  <a:srgbClr val="24364B"/>
                </a:solidFill>
                <a:latin typeface="Aptos" pitchFamily="34" charset="0"/>
                <a:ea typeface="Aptos" pitchFamily="34" charset="-122"/>
                <a:cs typeface="Aptos" pitchFamily="34" charset="-120"/>
              </a:rPr>
              <a:t>Lobbying is measured one year before ROA to reduce same-year reverse causality.</a:t>
            </a:r>
            <a:endParaRPr lang="en-US" sz="950" dirty="0"/>
          </a:p>
        </p:txBody>
      </p:sp>
      <p:sp>
        <p:nvSpPr>
          <p:cNvPr id="14" name="Shape 12"/>
          <p:cNvSpPr/>
          <p:nvPr/>
        </p:nvSpPr>
        <p:spPr>
          <a:xfrm>
            <a:off x="6446520" y="2487168"/>
            <a:ext cx="1965960" cy="932688"/>
          </a:xfrm>
          <a:prstGeom prst="roundRect">
            <a:avLst>
              <a:gd name="adj" fmla="val 8824"/>
            </a:avLst>
          </a:prstGeom>
          <a:solidFill>
            <a:srgbClr val="FFFFFF"/>
          </a:solidFill>
          <a:ln w="12700">
            <a:solidFill>
              <a:srgbClr val="DDE8F2"/>
            </a:solidFill>
            <a:prstDash val="solid"/>
          </a:ln>
          <a:effectLst>
            <a:outerShdw sx="100000" sy="100000" kx="0" ky="0" algn="bl" rotWithShape="0" blurRad="38100" dist="19050" dir="2700000">
              <a:srgbClr val="000000">
                <a:alpha val="8000"/>
              </a:srgbClr>
            </a:outerShdw>
          </a:effectLst>
        </p:spPr>
      </p:sp>
      <p:sp>
        <p:nvSpPr>
          <p:cNvPr id="15" name="Shape 13"/>
          <p:cNvSpPr/>
          <p:nvPr/>
        </p:nvSpPr>
        <p:spPr>
          <a:xfrm>
            <a:off x="6446520" y="2487168"/>
            <a:ext cx="109728" cy="932688"/>
          </a:xfrm>
          <a:prstGeom prst="rect">
            <a:avLst/>
          </a:prstGeom>
          <a:solidFill>
            <a:srgbClr val="DCEEFF"/>
          </a:solidFill>
          <a:ln w="12700">
            <a:solidFill>
              <a:srgbClr val="DCEEFF"/>
            </a:solidFill>
            <a:prstDash val="solid"/>
          </a:ln>
        </p:spPr>
      </p:sp>
      <p:sp>
        <p:nvSpPr>
          <p:cNvPr id="16" name="Text 14"/>
          <p:cNvSpPr/>
          <p:nvPr/>
        </p:nvSpPr>
        <p:spPr>
          <a:xfrm>
            <a:off x="6647688" y="2596896"/>
            <a:ext cx="1673352" cy="164592"/>
          </a:xfrm>
          <a:prstGeom prst="rect">
            <a:avLst/>
          </a:prstGeom>
          <a:noFill/>
          <a:ln/>
        </p:spPr>
        <p:txBody>
          <a:bodyPr wrap="square" lIns="0" tIns="0" rIns="0" bIns="0" rtlCol="0" anchor="ctr"/>
          <a:lstStyle/>
          <a:p>
            <a:pPr indent="0" marL="0">
              <a:buNone/>
            </a:pPr>
            <a:r>
              <a:rPr lang="en-US" sz="900" b="1" dirty="0">
                <a:solidFill>
                  <a:srgbClr val="5F7084"/>
                </a:solidFill>
                <a:latin typeface="Aptos" pitchFamily="34" charset="0"/>
                <a:ea typeface="Aptos" pitchFamily="34" charset="-122"/>
                <a:cs typeface="Aptos" pitchFamily="34" charset="-120"/>
              </a:rPr>
              <a:t>p-value</a:t>
            </a:r>
            <a:endParaRPr lang="en-US" sz="900" dirty="0"/>
          </a:p>
        </p:txBody>
      </p:sp>
      <p:sp>
        <p:nvSpPr>
          <p:cNvPr id="17" name="Text 15"/>
          <p:cNvSpPr/>
          <p:nvPr/>
        </p:nvSpPr>
        <p:spPr>
          <a:xfrm>
            <a:off x="6647688" y="2761488"/>
            <a:ext cx="1673352" cy="329184"/>
          </a:xfrm>
          <a:prstGeom prst="rect">
            <a:avLst/>
          </a:prstGeom>
          <a:noFill/>
          <a:ln/>
        </p:spPr>
        <p:txBody>
          <a:bodyPr wrap="square" lIns="0" tIns="0" rIns="0" bIns="0" rtlCol="0" anchor="ctr">
            <a:normAutofit/>
          </a:bodyPr>
          <a:lstStyle/>
          <a:p>
            <a:pPr indent="0" marL="0">
              <a:buNone/>
            </a:pPr>
            <a:r>
              <a:rPr lang="en-US" sz="2100" b="1" dirty="0">
                <a:solidFill>
                  <a:srgbClr val="102A43"/>
                </a:solidFill>
                <a:latin typeface="Trebuchet MS" pitchFamily="34" charset="0"/>
                <a:ea typeface="Trebuchet MS" pitchFamily="34" charset="-122"/>
                <a:cs typeface="Trebuchet MS" pitchFamily="34" charset="-120"/>
              </a:rPr>
              <a:t>0.135</a:t>
            </a:r>
            <a:endParaRPr lang="en-US" sz="2100" dirty="0"/>
          </a:p>
        </p:txBody>
      </p:sp>
      <p:sp>
        <p:nvSpPr>
          <p:cNvPr id="18" name="Text 16"/>
          <p:cNvSpPr/>
          <p:nvPr/>
        </p:nvSpPr>
        <p:spPr>
          <a:xfrm>
            <a:off x="6647688" y="3118104"/>
            <a:ext cx="1673352" cy="237744"/>
          </a:xfrm>
          <a:prstGeom prst="rect">
            <a:avLst/>
          </a:prstGeom>
          <a:noFill/>
          <a:ln/>
        </p:spPr>
        <p:txBody>
          <a:bodyPr wrap="square" lIns="0" tIns="0" rIns="0" bIns="0" rtlCol="0" anchor="ctr">
            <a:normAutofit/>
          </a:bodyPr>
          <a:lstStyle/>
          <a:p>
            <a:pPr indent="0" marL="0">
              <a:buNone/>
            </a:pPr>
            <a:r>
              <a:rPr lang="en-US" sz="950" dirty="0">
                <a:solidFill>
                  <a:srgbClr val="24364B"/>
                </a:solidFill>
                <a:latin typeface="Aptos" pitchFamily="34" charset="0"/>
                <a:ea typeface="Aptos" pitchFamily="34" charset="-122"/>
                <a:cs typeface="Aptos" pitchFamily="34" charset="-120"/>
              </a:rPr>
              <a:t>The clustered estimate is not conventionally significant.</a:t>
            </a:r>
            <a:endParaRPr lang="en-US" sz="950" dirty="0"/>
          </a:p>
        </p:txBody>
      </p:sp>
      <p:sp>
        <p:nvSpPr>
          <p:cNvPr id="19" name="Shape 17"/>
          <p:cNvSpPr/>
          <p:nvPr/>
        </p:nvSpPr>
        <p:spPr>
          <a:xfrm>
            <a:off x="6446520" y="3557016"/>
            <a:ext cx="1965960" cy="932688"/>
          </a:xfrm>
          <a:prstGeom prst="roundRect">
            <a:avLst>
              <a:gd name="adj" fmla="val 8824"/>
            </a:avLst>
          </a:prstGeom>
          <a:solidFill>
            <a:srgbClr val="FFFFFF"/>
          </a:solidFill>
          <a:ln w="12700">
            <a:solidFill>
              <a:srgbClr val="DDE8F2"/>
            </a:solidFill>
            <a:prstDash val="solid"/>
          </a:ln>
          <a:effectLst>
            <a:outerShdw sx="100000" sy="100000" kx="0" ky="0" algn="bl" rotWithShape="0" blurRad="38100" dist="19050" dir="2700000">
              <a:srgbClr val="000000">
                <a:alpha val="8000"/>
              </a:srgbClr>
            </a:outerShdw>
          </a:effectLst>
        </p:spPr>
      </p:sp>
      <p:sp>
        <p:nvSpPr>
          <p:cNvPr id="20" name="Shape 18"/>
          <p:cNvSpPr/>
          <p:nvPr/>
        </p:nvSpPr>
        <p:spPr>
          <a:xfrm>
            <a:off x="6446520" y="3557016"/>
            <a:ext cx="109728" cy="932688"/>
          </a:xfrm>
          <a:prstGeom prst="rect">
            <a:avLst/>
          </a:prstGeom>
          <a:solidFill>
            <a:srgbClr val="DCEEFF"/>
          </a:solidFill>
          <a:ln w="12700">
            <a:solidFill>
              <a:srgbClr val="DCEEFF"/>
            </a:solidFill>
            <a:prstDash val="solid"/>
          </a:ln>
        </p:spPr>
      </p:sp>
      <p:sp>
        <p:nvSpPr>
          <p:cNvPr id="21" name="Text 19"/>
          <p:cNvSpPr/>
          <p:nvPr/>
        </p:nvSpPr>
        <p:spPr>
          <a:xfrm>
            <a:off x="6647688" y="3666744"/>
            <a:ext cx="1673352" cy="164592"/>
          </a:xfrm>
          <a:prstGeom prst="rect">
            <a:avLst/>
          </a:prstGeom>
          <a:noFill/>
          <a:ln/>
        </p:spPr>
        <p:txBody>
          <a:bodyPr wrap="square" lIns="0" tIns="0" rIns="0" bIns="0" rtlCol="0" anchor="ctr"/>
          <a:lstStyle/>
          <a:p>
            <a:pPr indent="0" marL="0">
              <a:buNone/>
            </a:pPr>
            <a:r>
              <a:rPr lang="en-US" sz="900" b="1" dirty="0">
                <a:solidFill>
                  <a:srgbClr val="5F7084"/>
                </a:solidFill>
                <a:latin typeface="Aptos" pitchFamily="34" charset="0"/>
                <a:ea typeface="Aptos" pitchFamily="34" charset="-122"/>
                <a:cs typeface="Aptos" pitchFamily="34" charset="-120"/>
              </a:rPr>
              <a:t>Balanced panel</a:t>
            </a:r>
            <a:endParaRPr lang="en-US" sz="900" dirty="0"/>
          </a:p>
        </p:txBody>
      </p:sp>
      <p:sp>
        <p:nvSpPr>
          <p:cNvPr id="22" name="Text 20"/>
          <p:cNvSpPr/>
          <p:nvPr/>
        </p:nvSpPr>
        <p:spPr>
          <a:xfrm>
            <a:off x="6647688" y="3831336"/>
            <a:ext cx="1673352" cy="329184"/>
          </a:xfrm>
          <a:prstGeom prst="rect">
            <a:avLst/>
          </a:prstGeom>
          <a:noFill/>
          <a:ln/>
        </p:spPr>
        <p:txBody>
          <a:bodyPr wrap="square" lIns="0" tIns="0" rIns="0" bIns="0" rtlCol="0" anchor="ctr">
            <a:normAutofit/>
          </a:bodyPr>
          <a:lstStyle/>
          <a:p>
            <a:pPr indent="0" marL="0">
              <a:buNone/>
            </a:pPr>
            <a:r>
              <a:rPr lang="en-US" sz="2100" b="1" dirty="0">
                <a:solidFill>
                  <a:srgbClr val="102A43"/>
                </a:solidFill>
                <a:latin typeface="Trebuchet MS" pitchFamily="34" charset="0"/>
                <a:ea typeface="Trebuchet MS" pitchFamily="34" charset="-122"/>
                <a:cs typeface="Trebuchet MS" pitchFamily="34" charset="-120"/>
              </a:rPr>
              <a:t>66 firms</a:t>
            </a:r>
            <a:endParaRPr lang="en-US" sz="2100" dirty="0"/>
          </a:p>
        </p:txBody>
      </p:sp>
      <p:sp>
        <p:nvSpPr>
          <p:cNvPr id="23" name="Text 21"/>
          <p:cNvSpPr/>
          <p:nvPr/>
        </p:nvSpPr>
        <p:spPr>
          <a:xfrm>
            <a:off x="6647688" y="4187952"/>
            <a:ext cx="1673352" cy="237744"/>
          </a:xfrm>
          <a:prstGeom prst="rect">
            <a:avLst/>
          </a:prstGeom>
          <a:noFill/>
          <a:ln/>
        </p:spPr>
        <p:txBody>
          <a:bodyPr wrap="square" lIns="0" tIns="0" rIns="0" bIns="0" rtlCol="0" anchor="ctr">
            <a:normAutofit/>
          </a:bodyPr>
          <a:lstStyle/>
          <a:p>
            <a:pPr indent="0" marL="0">
              <a:buNone/>
            </a:pPr>
            <a:r>
              <a:rPr lang="en-US" sz="950" dirty="0">
                <a:solidFill>
                  <a:srgbClr val="24364B"/>
                </a:solidFill>
                <a:latin typeface="Aptos" pitchFamily="34" charset="0"/>
                <a:ea typeface="Aptos" pitchFamily="34" charset="-122"/>
                <a:cs typeface="Aptos" pitchFamily="34" charset="-120"/>
              </a:rPr>
              <a:t>A tighter sample is available for robustness checks.</a:t>
            </a:r>
            <a:endParaRPr lang="en-US" sz="950" dirty="0"/>
          </a:p>
        </p:txBody>
      </p:sp>
      <p:sp>
        <p:nvSpPr>
          <p:cNvPr id="24" name="Shape 22"/>
          <p:cNvSpPr/>
          <p:nvPr/>
        </p:nvSpPr>
        <p:spPr>
          <a:xfrm>
            <a:off x="502920" y="5440680"/>
            <a:ext cx="7909560" cy="713232"/>
          </a:xfrm>
          <a:prstGeom prst="roundRect">
            <a:avLst>
              <a:gd name="adj" fmla="val 11538"/>
            </a:avLst>
          </a:prstGeom>
          <a:solidFill>
            <a:srgbClr val="E7F1FB"/>
          </a:solidFill>
          <a:ln w="12700">
            <a:solidFill>
              <a:srgbClr val="DCEEFF"/>
            </a:solidFill>
            <a:prstDash val="solid"/>
          </a:ln>
          <a:effectLst>
            <a:outerShdw sx="100000" sy="100000" kx="0" ky="0" algn="bl" rotWithShape="0" blurRad="38100" dist="19050" dir="2700000">
              <a:srgbClr val="000000">
                <a:alpha val="75000"/>
              </a:srgbClr>
            </a:outerShdw>
          </a:effectLst>
        </p:spPr>
      </p:sp>
      <p:sp>
        <p:nvSpPr>
          <p:cNvPr id="25" name="Text 23"/>
          <p:cNvSpPr/>
          <p:nvPr/>
        </p:nvSpPr>
        <p:spPr>
          <a:xfrm>
            <a:off x="749808" y="5623560"/>
            <a:ext cx="7388352" cy="310896"/>
          </a:xfrm>
          <a:prstGeom prst="rect">
            <a:avLst/>
          </a:prstGeom>
          <a:noFill/>
          <a:ln/>
        </p:spPr>
        <p:txBody>
          <a:bodyPr wrap="square" lIns="0" tIns="0" rIns="0" bIns="0" rtlCol="0" anchor="ctr">
            <a:normAutofit/>
          </a:bodyPr>
          <a:lstStyle/>
          <a:p>
            <a:pPr indent="0" marL="0">
              <a:buNone/>
            </a:pPr>
            <a:r>
              <a:rPr lang="en-US" sz="1250" b="1" dirty="0">
                <a:solidFill>
                  <a:srgbClr val="102A43"/>
                </a:solidFill>
                <a:latin typeface="Aptos" pitchFamily="34" charset="0"/>
                <a:ea typeface="Aptos" pitchFamily="34" charset="-122"/>
                <a:cs typeface="Aptos" pitchFamily="34" charset="-120"/>
              </a:rPr>
              <a:t>Recommendation: do not overweight lobbying alone as a sign of future profitability. If you need a portfolio tilt, favor firms with steadier earnings and lower policy dependence, and stay cautious with heavy lobbyers until the relationship is clearer.</a:t>
            </a:r>
            <a:endParaRPr lang="en-US" sz="1250" dirty="0"/>
          </a:p>
        </p:txBody>
      </p:sp>
      <p:sp>
        <p:nvSpPr>
          <p:cNvPr id="26" name="Text 24"/>
          <p:cNvSpPr/>
          <p:nvPr/>
        </p:nvSpPr>
        <p:spPr>
          <a:xfrm>
            <a:off x="502920" y="6510528"/>
            <a:ext cx="8138160" cy="146304"/>
          </a:xfrm>
          <a:prstGeom prst="rect">
            <a:avLst/>
          </a:prstGeom>
          <a:noFill/>
          <a:ln/>
        </p:spPr>
        <p:txBody>
          <a:bodyPr wrap="square" lIns="0" tIns="0" rIns="0" bIns="0" rtlCol="0" anchor="ctr"/>
          <a:lstStyle/>
          <a:p>
            <a:pPr indent="0" marL="0">
              <a:buNone/>
            </a:pPr>
            <a:r>
              <a:rPr lang="en-US" sz="800" dirty="0">
                <a:solidFill>
                  <a:srgbClr val="5F7084"/>
                </a:solidFill>
                <a:latin typeface="Aptos" pitchFamily="34" charset="0"/>
                <a:ea typeface="Aptos" pitchFamily="34" charset="-122"/>
                <a:cs typeface="Aptos" pitchFamily="34" charset="-120"/>
              </a:rPr>
              <a:t>Executive summary based on results in results/tables/M3_regression_table.txt, results/reports/M3_interpretation.md, and robustness checks.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8FD"/>
        </a:solidFill>
      </p:bgPr>
    </p:bg>
    <p:spTree>
      <p:nvGrpSpPr>
        <p:cNvPr id="1" name=""/>
        <p:cNvGrpSpPr/>
        <p:nvPr/>
      </p:nvGrpSpPr>
      <p:grpSpPr>
        <a:xfrm>
          <a:off x="0" y="0"/>
          <a:ext cx="0" cy="0"/>
          <a:chOff x="0" y="0"/>
          <a:chExt cx="0" cy="0"/>
        </a:xfrm>
      </p:grpSpPr>
      <p:sp>
        <p:nvSpPr>
          <p:cNvPr id="2" name="Shape 0"/>
          <p:cNvSpPr/>
          <p:nvPr/>
        </p:nvSpPr>
        <p:spPr>
          <a:xfrm>
            <a:off x="502920" y="292608"/>
            <a:ext cx="1417320" cy="310896"/>
          </a:xfrm>
          <a:prstGeom prst="roundRect">
            <a:avLst>
              <a:gd name="adj" fmla="val 23529"/>
            </a:avLst>
          </a:prstGeom>
          <a:solidFill>
            <a:srgbClr val="DCEEFF"/>
          </a:solidFill>
          <a:ln w="12700">
            <a:solidFill>
              <a:srgbClr val="DCEEFF"/>
            </a:solidFill>
            <a:prstDash val="solid"/>
          </a:ln>
        </p:spPr>
      </p:sp>
      <p:sp>
        <p:nvSpPr>
          <p:cNvPr id="3" name="Text 1"/>
          <p:cNvSpPr/>
          <p:nvPr/>
        </p:nvSpPr>
        <p:spPr>
          <a:xfrm>
            <a:off x="502920" y="320040"/>
            <a:ext cx="1417320" cy="201168"/>
          </a:xfrm>
          <a:prstGeom prst="rect">
            <a:avLst/>
          </a:prstGeom>
          <a:noFill/>
          <a:ln/>
        </p:spPr>
        <p:txBody>
          <a:bodyPr wrap="square" lIns="0" tIns="0" rIns="0" bIns="0" rtlCol="0" anchor="ctr"/>
          <a:lstStyle/>
          <a:p>
            <a:pPr algn="ctr" indent="0" marL="0">
              <a:buNone/>
            </a:pPr>
            <a:r>
              <a:rPr lang="en-US" sz="900" b="1" spc="110" kern="0" dirty="0">
                <a:solidFill>
                  <a:srgbClr val="102A43"/>
                </a:solidFill>
                <a:latin typeface="Trebuchet MS" pitchFamily="34" charset="0"/>
                <a:ea typeface="Trebuchet MS" pitchFamily="34" charset="-122"/>
                <a:cs typeface="Trebuchet MS" pitchFamily="34" charset="-120"/>
              </a:rPr>
              <a:t>METHODOLOGY</a:t>
            </a:r>
            <a:endParaRPr lang="en-US" sz="900" dirty="0"/>
          </a:p>
        </p:txBody>
      </p:sp>
      <p:sp>
        <p:nvSpPr>
          <p:cNvPr id="4" name="Text 2"/>
          <p:cNvSpPr/>
          <p:nvPr/>
        </p:nvSpPr>
        <p:spPr>
          <a:xfrm>
            <a:off x="502920" y="658368"/>
            <a:ext cx="7955280" cy="420624"/>
          </a:xfrm>
          <a:prstGeom prst="rect">
            <a:avLst/>
          </a:prstGeom>
          <a:noFill/>
          <a:ln/>
        </p:spPr>
        <p:txBody>
          <a:bodyPr wrap="square" lIns="0" tIns="0" rIns="0" bIns="0" rtlCol="0" anchor="ctr">
            <a:normAutofit/>
          </a:bodyPr>
          <a:lstStyle/>
          <a:p>
            <a:pPr indent="0" marL="0">
              <a:buNone/>
            </a:pPr>
            <a:r>
              <a:rPr lang="en-US" sz="2400" b="1" dirty="0">
                <a:solidFill>
                  <a:srgbClr val="102A43"/>
                </a:solidFill>
                <a:latin typeface="Trebuchet MS" pitchFamily="34" charset="0"/>
                <a:ea typeface="Trebuchet MS" pitchFamily="34" charset="-122"/>
                <a:cs typeface="Trebuchet MS" pitchFamily="34" charset="-120"/>
              </a:rPr>
              <a:t>How the panel was built and estimated</a:t>
            </a:r>
            <a:endParaRPr lang="en-US" sz="2400" dirty="0"/>
          </a:p>
        </p:txBody>
      </p:sp>
      <p:sp>
        <p:nvSpPr>
          <p:cNvPr id="5" name="Text 3"/>
          <p:cNvSpPr/>
          <p:nvPr/>
        </p:nvSpPr>
        <p:spPr>
          <a:xfrm>
            <a:off x="502920" y="1024128"/>
            <a:ext cx="8138160" cy="310896"/>
          </a:xfrm>
          <a:prstGeom prst="rect">
            <a:avLst/>
          </a:prstGeom>
          <a:noFill/>
          <a:ln/>
        </p:spPr>
        <p:txBody>
          <a:bodyPr wrap="square" lIns="0" tIns="0" rIns="0" bIns="0" rtlCol="0" anchor="ctr">
            <a:normAutofit/>
          </a:bodyPr>
          <a:lstStyle/>
          <a:p>
            <a:pPr indent="0" marL="0">
              <a:buNone/>
            </a:pPr>
            <a:r>
              <a:rPr lang="en-US" sz="1050" dirty="0">
                <a:solidFill>
                  <a:srgbClr val="5F7084"/>
                </a:solidFill>
                <a:latin typeface="Aptos" pitchFamily="34" charset="0"/>
                <a:ea typeface="Aptos" pitchFamily="34" charset="-122"/>
                <a:cs typeface="Aptos" pitchFamily="34" charset="-120"/>
              </a:rPr>
              <a:t>The setup is simple: clean the data, merge the firm-year records, then compare each firm to itself over time.</a:t>
            </a:r>
            <a:endParaRPr lang="en-US" sz="1050" dirty="0"/>
          </a:p>
        </p:txBody>
      </p:sp>
      <p:sp>
        <p:nvSpPr>
          <p:cNvPr id="6" name="Shape 4"/>
          <p:cNvSpPr/>
          <p:nvPr/>
        </p:nvSpPr>
        <p:spPr>
          <a:xfrm>
            <a:off x="502920" y="1371600"/>
            <a:ext cx="3794760" cy="4526280"/>
          </a:xfrm>
          <a:prstGeom prst="roundRect">
            <a:avLst>
              <a:gd name="adj" fmla="val 2169"/>
            </a:avLst>
          </a:prstGeom>
          <a:solidFill>
            <a:srgbClr val="FFFFFF"/>
          </a:solidFill>
          <a:ln w="12700">
            <a:solidFill>
              <a:srgbClr val="DDE8F2"/>
            </a:solidFill>
            <a:prstDash val="solid"/>
          </a:ln>
          <a:effectLst>
            <a:outerShdw sx="100000" sy="100000" kx="0" ky="0" algn="bl" rotWithShape="0" blurRad="38100" dist="19050" dir="2700000">
              <a:srgbClr val="000000">
                <a:alpha val="7000"/>
              </a:srgbClr>
            </a:outerShdw>
          </a:effectLst>
        </p:spPr>
      </p:sp>
      <p:sp>
        <p:nvSpPr>
          <p:cNvPr id="7" name="Text 5"/>
          <p:cNvSpPr/>
          <p:nvPr/>
        </p:nvSpPr>
        <p:spPr>
          <a:xfrm>
            <a:off x="749808" y="1627632"/>
            <a:ext cx="3108960" cy="182880"/>
          </a:xfrm>
          <a:prstGeom prst="rect">
            <a:avLst/>
          </a:prstGeom>
          <a:noFill/>
          <a:ln/>
        </p:spPr>
        <p:txBody>
          <a:bodyPr wrap="square" lIns="0" tIns="0" rIns="0" bIns="0" rtlCol="0" anchor="ctr"/>
          <a:lstStyle/>
          <a:p>
            <a:pPr indent="0" marL="0">
              <a:buNone/>
            </a:pPr>
            <a:r>
              <a:rPr lang="en-US" sz="1600" b="1" dirty="0">
                <a:solidFill>
                  <a:srgbClr val="102A43"/>
                </a:solidFill>
                <a:latin typeface="Trebuchet MS" pitchFamily="34" charset="0"/>
                <a:ea typeface="Trebuchet MS" pitchFamily="34" charset="-122"/>
                <a:cs typeface="Trebuchet MS" pitchFamily="34" charset="-120"/>
              </a:rPr>
              <a:t>Data sources</a:t>
            </a:r>
            <a:endParaRPr lang="en-US" sz="1600" dirty="0"/>
          </a:p>
        </p:txBody>
      </p:sp>
      <p:sp>
        <p:nvSpPr>
          <p:cNvPr id="8" name="Text 6"/>
          <p:cNvSpPr/>
          <p:nvPr/>
        </p:nvSpPr>
        <p:spPr>
          <a:xfrm>
            <a:off x="749808" y="1965960"/>
            <a:ext cx="3154680" cy="1234440"/>
          </a:xfrm>
          <a:prstGeom prst="rect">
            <a:avLst/>
          </a:prstGeom>
          <a:noFill/>
          <a:ln/>
        </p:spPr>
        <p:txBody>
          <a:bodyPr wrap="square" lIns="0" tIns="0" rIns="0" bIns="0" rtlCol="0" anchor="ctr">
            <a:normAutofit/>
          </a:bodyPr>
          <a:lstStyle/>
          <a:p>
            <a:pPr indent="0" marL="0">
              <a:buNone/>
            </a:pPr>
            <a:r>
              <a:rPr lang="en-US" sz="1250" dirty="0">
                <a:solidFill>
                  <a:srgbClr val="24364B"/>
                </a:solidFill>
                <a:latin typeface="Aptos" pitchFamily="34" charset="0"/>
                <a:ea typeface="Aptos" pitchFamily="34" charset="-122"/>
                <a:cs typeface="Aptos" pitchFamily="34" charset="-120"/>
              </a:rPr>
              <a:t>1. SEC XBRL 10-K filings provide assets, income, and revenue.</a:t>
            </a:r>
            <a:endParaRPr lang="en-US" sz="1250" dirty="0"/>
          </a:p>
          <a:p>
            <a:pPr indent="0" marL="0">
              <a:buNone/>
            </a:pPr>
            <a:r>
              <a:rPr lang="en-US" sz="1250" dirty="0">
                <a:solidFill>
                  <a:srgbClr val="24364B"/>
                </a:solidFill>
                <a:latin typeface="Aptos" pitchFamily="34" charset="0"/>
                <a:ea typeface="Aptos" pitchFamily="34" charset="-122"/>
                <a:cs typeface="Aptos" pitchFamily="34" charset="-120"/>
              </a:rPr>
              <a:t>2. Senate Lobbying Disclosure Reports provide yearly lobbying spend.</a:t>
            </a:r>
            <a:endParaRPr lang="en-US" sz="1250" dirty="0"/>
          </a:p>
          <a:p>
            <a:pPr indent="0" marL="0">
              <a:buNone/>
            </a:pPr>
            <a:r>
              <a:rPr lang="en-US" sz="1250" dirty="0">
                <a:solidFill>
                  <a:srgbClr val="24364B"/>
                </a:solidFill>
                <a:latin typeface="Aptos" pitchFamily="34" charset="0"/>
                <a:ea typeface="Aptos" pitchFamily="34" charset="-122"/>
                <a:cs typeface="Aptos" pitchFamily="34" charset="-120"/>
              </a:rPr>
              <a:t>3. A CIK-GVKEY crosswalk links the two sources into one firm-year panel.</a:t>
            </a:r>
            <a:endParaRPr lang="en-US" sz="1250" dirty="0"/>
          </a:p>
        </p:txBody>
      </p:sp>
      <p:sp>
        <p:nvSpPr>
          <p:cNvPr id="9" name="Text 7"/>
          <p:cNvSpPr/>
          <p:nvPr/>
        </p:nvSpPr>
        <p:spPr>
          <a:xfrm>
            <a:off x="749808" y="3401568"/>
            <a:ext cx="3108960" cy="182880"/>
          </a:xfrm>
          <a:prstGeom prst="rect">
            <a:avLst/>
          </a:prstGeom>
          <a:noFill/>
          <a:ln/>
        </p:spPr>
        <p:txBody>
          <a:bodyPr wrap="square" lIns="0" tIns="0" rIns="0" bIns="0" rtlCol="0" anchor="ctr"/>
          <a:lstStyle/>
          <a:p>
            <a:pPr indent="0" marL="0">
              <a:buNone/>
            </a:pPr>
            <a:r>
              <a:rPr lang="en-US" sz="1600" b="1" dirty="0">
                <a:solidFill>
                  <a:srgbClr val="102A43"/>
                </a:solidFill>
                <a:latin typeface="Trebuchet MS" pitchFamily="34" charset="0"/>
                <a:ea typeface="Trebuchet MS" pitchFamily="34" charset="-122"/>
                <a:cs typeface="Trebuchet MS" pitchFamily="34" charset="-120"/>
              </a:rPr>
              <a:t>Sample construction</a:t>
            </a:r>
            <a:endParaRPr lang="en-US" sz="1600" dirty="0"/>
          </a:p>
        </p:txBody>
      </p:sp>
      <p:sp>
        <p:nvSpPr>
          <p:cNvPr id="10" name="Text 8"/>
          <p:cNvSpPr/>
          <p:nvPr/>
        </p:nvSpPr>
        <p:spPr>
          <a:xfrm>
            <a:off x="749808" y="3730752"/>
            <a:ext cx="3154680" cy="1417320"/>
          </a:xfrm>
          <a:prstGeom prst="rect">
            <a:avLst/>
          </a:prstGeom>
          <a:noFill/>
          <a:ln/>
        </p:spPr>
        <p:txBody>
          <a:bodyPr wrap="square" lIns="0" tIns="0" rIns="0" bIns="0" rtlCol="0" anchor="ctr">
            <a:normAutofit/>
          </a:bodyPr>
          <a:lstStyle/>
          <a:p>
            <a:pPr indent="0" marL="0">
              <a:buNone/>
            </a:pPr>
            <a:r>
              <a:rPr lang="en-US" sz="1150" dirty="0">
                <a:solidFill>
                  <a:srgbClr val="24364B"/>
                </a:solidFill>
                <a:latin typeface="Aptos" pitchFamily="34" charset="0"/>
                <a:ea typeface="Aptos" pitchFamily="34" charset="-122"/>
                <a:cs typeface="Aptos" pitchFamily="34" charset="-120"/>
              </a:rPr>
              <a:t>Merged panel: 5,099 firm-years from 1,375 firms.</a:t>
            </a:r>
            <a:endParaRPr lang="en-US" sz="1150" dirty="0"/>
          </a:p>
          <a:p>
            <a:pPr indent="0" marL="0">
              <a:buNone/>
            </a:pPr>
            <a:r>
              <a:rPr lang="en-US" sz="1150" dirty="0">
                <a:solidFill>
                  <a:srgbClr val="24364B"/>
                </a:solidFill>
                <a:latin typeface="Aptos" pitchFamily="34" charset="0"/>
                <a:ea typeface="Aptos" pitchFamily="34" charset="-122"/>
                <a:cs typeface="Aptos" pitchFamily="34" charset="-120"/>
              </a:rPr>
              <a:t>Main FE model: 2,125 firm-years after lagging lobbying spend and dropping missing controls.</a:t>
            </a:r>
            <a:endParaRPr lang="en-US" sz="1150" dirty="0"/>
          </a:p>
          <a:p>
            <a:pPr indent="0" marL="0">
              <a:buNone/>
            </a:pPr>
            <a:r>
              <a:rPr lang="en-US" sz="1150" dirty="0">
                <a:solidFill>
                  <a:srgbClr val="24364B"/>
                </a:solidFill>
                <a:latin typeface="Aptos" pitchFamily="34" charset="0"/>
                <a:ea typeface="Aptos" pitchFamily="34" charset="-122"/>
                <a:cs typeface="Aptos" pitchFamily="34" charset="-120"/>
              </a:rPr>
              <a:t>Balanced robustness sample: 836 firm-years from 66 firms.</a:t>
            </a:r>
            <a:endParaRPr lang="en-US" sz="1150" dirty="0"/>
          </a:p>
        </p:txBody>
      </p:sp>
      <p:sp>
        <p:nvSpPr>
          <p:cNvPr id="11" name="Shape 9"/>
          <p:cNvSpPr/>
          <p:nvPr/>
        </p:nvSpPr>
        <p:spPr>
          <a:xfrm>
            <a:off x="4526280" y="1371600"/>
            <a:ext cx="3886200" cy="4526280"/>
          </a:xfrm>
          <a:prstGeom prst="roundRect">
            <a:avLst>
              <a:gd name="adj" fmla="val 2118"/>
            </a:avLst>
          </a:prstGeom>
          <a:solidFill>
            <a:srgbClr val="FFFFFF"/>
          </a:solidFill>
          <a:ln w="12700">
            <a:solidFill>
              <a:srgbClr val="DDE8F2"/>
            </a:solidFill>
            <a:prstDash val="solid"/>
          </a:ln>
          <a:effectLst>
            <a:outerShdw sx="100000" sy="100000" kx="0" ky="0" algn="bl" rotWithShape="0" blurRad="38100" dist="19050" dir="2700000">
              <a:srgbClr val="000000">
                <a:alpha val="7000"/>
              </a:srgbClr>
            </a:outerShdw>
          </a:effectLst>
        </p:spPr>
      </p:sp>
      <p:sp>
        <p:nvSpPr>
          <p:cNvPr id="12" name="Text 10"/>
          <p:cNvSpPr/>
          <p:nvPr/>
        </p:nvSpPr>
        <p:spPr>
          <a:xfrm>
            <a:off x="4773168" y="1627632"/>
            <a:ext cx="3200400" cy="182880"/>
          </a:xfrm>
          <a:prstGeom prst="rect">
            <a:avLst/>
          </a:prstGeom>
          <a:noFill/>
          <a:ln/>
        </p:spPr>
        <p:txBody>
          <a:bodyPr wrap="square" lIns="0" tIns="0" rIns="0" bIns="0" rtlCol="0" anchor="ctr"/>
          <a:lstStyle/>
          <a:p>
            <a:pPr indent="0" marL="0">
              <a:buNone/>
            </a:pPr>
            <a:r>
              <a:rPr lang="en-US" sz="1600" b="1" dirty="0">
                <a:solidFill>
                  <a:srgbClr val="102A43"/>
                </a:solidFill>
                <a:latin typeface="Trebuchet MS" pitchFamily="34" charset="0"/>
                <a:ea typeface="Trebuchet MS" pitchFamily="34" charset="-122"/>
                <a:cs typeface="Trebuchet MS" pitchFamily="34" charset="-120"/>
              </a:rPr>
              <a:t>Model equation</a:t>
            </a:r>
            <a:endParaRPr lang="en-US" sz="1600" dirty="0"/>
          </a:p>
        </p:txBody>
      </p:sp>
      <p:sp>
        <p:nvSpPr>
          <p:cNvPr id="13" name="Text 11"/>
          <p:cNvSpPr/>
          <p:nvPr/>
        </p:nvSpPr>
        <p:spPr>
          <a:xfrm>
            <a:off x="4773168" y="1938528"/>
            <a:ext cx="3383280" cy="777240"/>
          </a:xfrm>
          <a:prstGeom prst="rect">
            <a:avLst/>
          </a:prstGeom>
          <a:noFill/>
          <a:ln/>
        </p:spPr>
        <p:txBody>
          <a:bodyPr wrap="square" lIns="0" tIns="0" rIns="0" bIns="0" rtlCol="0" anchor="ctr">
            <a:normAutofit/>
          </a:bodyPr>
          <a:lstStyle/>
          <a:p>
            <a:pPr indent="0" marL="0">
              <a:buNone/>
            </a:pPr>
            <a:r>
              <a:rPr lang="en-US" sz="1300" dirty="0">
                <a:solidFill>
                  <a:srgbClr val="24364B"/>
                </a:solidFill>
                <a:latin typeface="Aptos" pitchFamily="34" charset="0"/>
                <a:ea typeface="Aptos" pitchFamily="34" charset="-122"/>
                <a:cs typeface="Aptos" pitchFamily="34" charset="-120"/>
              </a:rPr>
              <a:t>ROA_it = β1 Lobbying_spend_i,t-1 + β2 log(Assets_it) + β3 log(Revenues_it) + firm FE + year FE + error_it</a:t>
            </a:r>
            <a:endParaRPr lang="en-US" sz="1300" dirty="0"/>
          </a:p>
        </p:txBody>
      </p:sp>
      <p:sp>
        <p:nvSpPr>
          <p:cNvPr id="14" name="Text 12"/>
          <p:cNvSpPr/>
          <p:nvPr/>
        </p:nvSpPr>
        <p:spPr>
          <a:xfrm>
            <a:off x="4773168" y="2852928"/>
            <a:ext cx="3200400" cy="182880"/>
          </a:xfrm>
          <a:prstGeom prst="rect">
            <a:avLst/>
          </a:prstGeom>
          <a:noFill/>
          <a:ln/>
        </p:spPr>
        <p:txBody>
          <a:bodyPr wrap="square" lIns="0" tIns="0" rIns="0" bIns="0" rtlCol="0" anchor="ctr"/>
          <a:lstStyle/>
          <a:p>
            <a:pPr indent="0" marL="0">
              <a:buNone/>
            </a:pPr>
            <a:r>
              <a:rPr lang="en-US" sz="1600" b="1" dirty="0">
                <a:solidFill>
                  <a:srgbClr val="102A43"/>
                </a:solidFill>
                <a:latin typeface="Trebuchet MS" pitchFamily="34" charset="0"/>
                <a:ea typeface="Trebuchet MS" pitchFamily="34" charset="-122"/>
                <a:cs typeface="Trebuchet MS" pitchFamily="34" charset="-120"/>
              </a:rPr>
              <a:t>Variable meanings</a:t>
            </a:r>
            <a:endParaRPr lang="en-US" sz="1600" dirty="0"/>
          </a:p>
        </p:txBody>
      </p:sp>
      <p:sp>
        <p:nvSpPr>
          <p:cNvPr id="15" name="Text 13"/>
          <p:cNvSpPr/>
          <p:nvPr/>
        </p:nvSpPr>
        <p:spPr>
          <a:xfrm>
            <a:off x="4773168" y="3163824"/>
            <a:ext cx="3246120" cy="1097280"/>
          </a:xfrm>
          <a:prstGeom prst="rect">
            <a:avLst/>
          </a:prstGeom>
          <a:noFill/>
          <a:ln/>
        </p:spPr>
        <p:txBody>
          <a:bodyPr wrap="square" lIns="0" tIns="0" rIns="0" bIns="0" rtlCol="0" anchor="ctr">
            <a:normAutofit/>
          </a:bodyPr>
          <a:lstStyle/>
          <a:p>
            <a:pPr indent="0" marL="0">
              <a:buNone/>
            </a:pPr>
            <a:r>
              <a:rPr lang="en-US" sz="1180" dirty="0">
                <a:solidFill>
                  <a:srgbClr val="24364B"/>
                </a:solidFill>
                <a:latin typeface="Aptos" pitchFamily="34" charset="0"/>
                <a:ea typeface="Aptos" pitchFamily="34" charset="-122"/>
                <a:cs typeface="Aptos" pitchFamily="34" charset="-120"/>
              </a:rPr>
              <a:t>ROA = net income divided by assets.</a:t>
            </a:r>
            <a:endParaRPr lang="en-US" sz="1180" dirty="0"/>
          </a:p>
          <a:p>
            <a:pPr indent="0" marL="0">
              <a:buNone/>
            </a:pPr>
            <a:r>
              <a:rPr lang="en-US" sz="1180" dirty="0">
                <a:solidFill>
                  <a:srgbClr val="24364B"/>
                </a:solidFill>
                <a:latin typeface="Aptos" pitchFamily="34" charset="0"/>
                <a:ea typeface="Aptos" pitchFamily="34" charset="-122"/>
                <a:cs typeface="Aptos" pitchFamily="34" charset="-120"/>
              </a:rPr>
              <a:t>Lobbying spend = annual lobbying dollars, shifted one year earlier.</a:t>
            </a:r>
            <a:endParaRPr lang="en-US" sz="1180" dirty="0"/>
          </a:p>
          <a:p>
            <a:pPr indent="0" marL="0">
              <a:buNone/>
            </a:pPr>
            <a:r>
              <a:rPr lang="en-US" sz="1180" dirty="0">
                <a:solidFill>
                  <a:srgbClr val="24364B"/>
                </a:solidFill>
                <a:latin typeface="Aptos" pitchFamily="34" charset="0"/>
                <a:ea typeface="Aptos" pitchFamily="34" charset="-122"/>
                <a:cs typeface="Aptos" pitchFamily="34" charset="-120"/>
              </a:rPr>
              <a:t>Assets and revenues are logged to keep the scale stable and to reduce skew.</a:t>
            </a:r>
            <a:endParaRPr lang="en-US" sz="1180" dirty="0"/>
          </a:p>
        </p:txBody>
      </p:sp>
      <p:sp>
        <p:nvSpPr>
          <p:cNvPr id="16" name="Text 14"/>
          <p:cNvSpPr/>
          <p:nvPr/>
        </p:nvSpPr>
        <p:spPr>
          <a:xfrm>
            <a:off x="4773168" y="4526280"/>
            <a:ext cx="3200400" cy="182880"/>
          </a:xfrm>
          <a:prstGeom prst="rect">
            <a:avLst/>
          </a:prstGeom>
          <a:noFill/>
          <a:ln/>
        </p:spPr>
        <p:txBody>
          <a:bodyPr wrap="square" lIns="0" tIns="0" rIns="0" bIns="0" rtlCol="0" anchor="ctr"/>
          <a:lstStyle/>
          <a:p>
            <a:pPr indent="0" marL="0">
              <a:buNone/>
            </a:pPr>
            <a:r>
              <a:rPr lang="en-US" sz="1600" b="1" dirty="0">
                <a:solidFill>
                  <a:srgbClr val="102A43"/>
                </a:solidFill>
                <a:latin typeface="Trebuchet MS" pitchFamily="34" charset="0"/>
                <a:ea typeface="Trebuchet MS" pitchFamily="34" charset="-122"/>
                <a:cs typeface="Trebuchet MS" pitchFamily="34" charset="-120"/>
              </a:rPr>
              <a:t>Inference</a:t>
            </a:r>
            <a:endParaRPr lang="en-US" sz="1600" dirty="0"/>
          </a:p>
        </p:txBody>
      </p:sp>
      <p:sp>
        <p:nvSpPr>
          <p:cNvPr id="17" name="Text 15"/>
          <p:cNvSpPr/>
          <p:nvPr/>
        </p:nvSpPr>
        <p:spPr>
          <a:xfrm>
            <a:off x="4773168" y="4828032"/>
            <a:ext cx="3200400" cy="502920"/>
          </a:xfrm>
          <a:prstGeom prst="rect">
            <a:avLst/>
          </a:prstGeom>
          <a:noFill/>
          <a:ln/>
        </p:spPr>
        <p:txBody>
          <a:bodyPr wrap="square" lIns="0" tIns="0" rIns="0" bIns="0" rtlCol="0" anchor="ctr">
            <a:normAutofit/>
          </a:bodyPr>
          <a:lstStyle/>
          <a:p>
            <a:pPr indent="0" marL="0">
              <a:buNone/>
            </a:pPr>
            <a:r>
              <a:rPr lang="en-US" sz="1180" dirty="0">
                <a:solidFill>
                  <a:srgbClr val="24364B"/>
                </a:solidFill>
                <a:latin typeface="Aptos" pitchFamily="34" charset="0"/>
                <a:ea typeface="Aptos" pitchFamily="34" charset="-122"/>
                <a:cs typeface="Aptos" pitchFamily="34" charset="-120"/>
              </a:rPr>
              <a:t>Standard errors are clustered at the firm level so the uncertainty reflects repeated observations within the same entity.</a:t>
            </a:r>
            <a:endParaRPr lang="en-US" sz="1180" dirty="0"/>
          </a:p>
        </p:txBody>
      </p:sp>
      <p:sp>
        <p:nvSpPr>
          <p:cNvPr id="18" name="Text 16"/>
          <p:cNvSpPr/>
          <p:nvPr/>
        </p:nvSpPr>
        <p:spPr>
          <a:xfrm>
            <a:off x="502920" y="6510528"/>
            <a:ext cx="8138160" cy="146304"/>
          </a:xfrm>
          <a:prstGeom prst="rect">
            <a:avLst/>
          </a:prstGeom>
          <a:noFill/>
          <a:ln/>
        </p:spPr>
        <p:txBody>
          <a:bodyPr wrap="square" lIns="0" tIns="0" rIns="0" bIns="0" rtlCol="0" anchor="ctr"/>
          <a:lstStyle/>
          <a:p>
            <a:pPr indent="0" marL="0">
              <a:buNone/>
            </a:pPr>
            <a:r>
              <a:rPr lang="en-US" sz="800" dirty="0">
                <a:solidFill>
                  <a:srgbClr val="5F7084"/>
                </a:solidFill>
                <a:latin typeface="Aptos" pitchFamily="34" charset="0"/>
                <a:ea typeface="Aptos" pitchFamily="34" charset="-122"/>
                <a:cs typeface="Aptos" pitchFamily="34" charset="-120"/>
              </a:rPr>
              <a:t>Sources: data/processed/financials_clean.csv, data/processed/lobbying_clean.csv, data/processed/cik_gvkey_crosswalk.csv, data/final/merged_financials_lobbying.csv.</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8FD"/>
        </a:solidFill>
      </p:bgPr>
    </p:bg>
    <p:spTree>
      <p:nvGrpSpPr>
        <p:cNvPr id="1" name=""/>
        <p:cNvGrpSpPr/>
        <p:nvPr/>
      </p:nvGrpSpPr>
      <p:grpSpPr>
        <a:xfrm>
          <a:off x="0" y="0"/>
          <a:ext cx="0" cy="0"/>
          <a:chOff x="0" y="0"/>
          <a:chExt cx="0" cy="0"/>
        </a:xfrm>
      </p:grpSpPr>
      <p:sp>
        <p:nvSpPr>
          <p:cNvPr id="2" name="Shape 0"/>
          <p:cNvSpPr/>
          <p:nvPr/>
        </p:nvSpPr>
        <p:spPr>
          <a:xfrm>
            <a:off x="502920" y="292608"/>
            <a:ext cx="1417320" cy="310896"/>
          </a:xfrm>
          <a:prstGeom prst="roundRect">
            <a:avLst>
              <a:gd name="adj" fmla="val 23529"/>
            </a:avLst>
          </a:prstGeom>
          <a:solidFill>
            <a:srgbClr val="DCEEFF"/>
          </a:solidFill>
          <a:ln w="12700">
            <a:solidFill>
              <a:srgbClr val="DCEEFF"/>
            </a:solidFill>
            <a:prstDash val="solid"/>
          </a:ln>
        </p:spPr>
      </p:sp>
      <p:sp>
        <p:nvSpPr>
          <p:cNvPr id="3" name="Text 1"/>
          <p:cNvSpPr/>
          <p:nvPr/>
        </p:nvSpPr>
        <p:spPr>
          <a:xfrm>
            <a:off x="502920" y="320040"/>
            <a:ext cx="1417320" cy="201168"/>
          </a:xfrm>
          <a:prstGeom prst="rect">
            <a:avLst/>
          </a:prstGeom>
          <a:noFill/>
          <a:ln/>
        </p:spPr>
        <p:txBody>
          <a:bodyPr wrap="square" lIns="0" tIns="0" rIns="0" bIns="0" rtlCol="0" anchor="ctr"/>
          <a:lstStyle/>
          <a:p>
            <a:pPr algn="ctr" indent="0" marL="0">
              <a:buNone/>
            </a:pPr>
            <a:r>
              <a:rPr lang="en-US" sz="900" b="1" spc="110" kern="0" dirty="0">
                <a:solidFill>
                  <a:srgbClr val="102A43"/>
                </a:solidFill>
                <a:latin typeface="Trebuchet MS" pitchFamily="34" charset="0"/>
                <a:ea typeface="Trebuchet MS" pitchFamily="34" charset="-122"/>
                <a:cs typeface="Trebuchet MS" pitchFamily="34" charset="-120"/>
              </a:rPr>
              <a:t>RESULTS</a:t>
            </a:r>
            <a:endParaRPr lang="en-US" sz="900" dirty="0"/>
          </a:p>
        </p:txBody>
      </p:sp>
      <p:sp>
        <p:nvSpPr>
          <p:cNvPr id="4" name="Text 2"/>
          <p:cNvSpPr/>
          <p:nvPr/>
        </p:nvSpPr>
        <p:spPr>
          <a:xfrm>
            <a:off x="502920" y="658368"/>
            <a:ext cx="7955280" cy="420624"/>
          </a:xfrm>
          <a:prstGeom prst="rect">
            <a:avLst/>
          </a:prstGeom>
          <a:noFill/>
          <a:ln/>
        </p:spPr>
        <p:txBody>
          <a:bodyPr wrap="square" lIns="0" tIns="0" rIns="0" bIns="0" rtlCol="0" anchor="ctr">
            <a:normAutofit/>
          </a:bodyPr>
          <a:lstStyle/>
          <a:p>
            <a:pPr indent="0" marL="0">
              <a:buNone/>
            </a:pPr>
            <a:r>
              <a:rPr lang="en-US" sz="2400" b="1" dirty="0">
                <a:solidFill>
                  <a:srgbClr val="102A43"/>
                </a:solidFill>
                <a:latin typeface="Trebuchet MS" pitchFamily="34" charset="0"/>
                <a:ea typeface="Trebuchet MS" pitchFamily="34" charset="-122"/>
                <a:cs typeface="Trebuchet MS" pitchFamily="34" charset="-120"/>
              </a:rPr>
              <a:t>Table 1. Main fixed-effects regression</a:t>
            </a:r>
            <a:endParaRPr lang="en-US" sz="2400" dirty="0"/>
          </a:p>
        </p:txBody>
      </p:sp>
      <p:sp>
        <p:nvSpPr>
          <p:cNvPr id="5" name="Text 3"/>
          <p:cNvSpPr/>
          <p:nvPr/>
        </p:nvSpPr>
        <p:spPr>
          <a:xfrm>
            <a:off x="502920" y="1024128"/>
            <a:ext cx="8138160" cy="310896"/>
          </a:xfrm>
          <a:prstGeom prst="rect">
            <a:avLst/>
          </a:prstGeom>
          <a:noFill/>
          <a:ln/>
        </p:spPr>
        <p:txBody>
          <a:bodyPr wrap="square" lIns="0" tIns="0" rIns="0" bIns="0" rtlCol="0" anchor="ctr">
            <a:normAutofit/>
          </a:bodyPr>
          <a:lstStyle/>
          <a:p>
            <a:pPr indent="0" marL="0">
              <a:buNone/>
            </a:pPr>
            <a:r>
              <a:rPr lang="en-US" sz="1050" dirty="0">
                <a:solidFill>
                  <a:srgbClr val="5F7084"/>
                </a:solidFill>
                <a:latin typeface="Aptos" pitchFamily="34" charset="0"/>
                <a:ea typeface="Aptos" pitchFamily="34" charset="-122"/>
                <a:cs typeface="Aptos" pitchFamily="34" charset="-120"/>
              </a:rPr>
              <a:t>The coefficient is negative, but the uncertainty is large enough that the estimate is not conventionally significant.</a:t>
            </a:r>
            <a:endParaRPr lang="en-US" sz="1050" dirty="0"/>
          </a:p>
        </p:txBody>
      </p:sp>
      <p:sp>
        <p:nvSpPr>
          <p:cNvPr id="6" name="Shape 4"/>
          <p:cNvSpPr/>
          <p:nvPr/>
        </p:nvSpPr>
        <p:spPr>
          <a:xfrm>
            <a:off x="502920" y="1371600"/>
            <a:ext cx="8092440" cy="4526280"/>
          </a:xfrm>
          <a:prstGeom prst="roundRect">
            <a:avLst>
              <a:gd name="adj" fmla="val 1818"/>
            </a:avLst>
          </a:prstGeom>
          <a:solidFill>
            <a:srgbClr val="FFFFFF"/>
          </a:solidFill>
          <a:ln w="12700">
            <a:solidFill>
              <a:srgbClr val="DDE8F2"/>
            </a:solidFill>
            <a:prstDash val="solid"/>
          </a:ln>
          <a:effectLst>
            <a:outerShdw sx="100000" sy="100000" kx="0" ky="0" algn="bl" rotWithShape="0" blurRad="38100" dist="19050" dir="2700000">
              <a:srgbClr val="000000">
                <a:alpha val="7000"/>
              </a:srgbClr>
            </a:outerShdw>
          </a:effectLst>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49808" y="1664208"/>
          <a:ext cx="7607808" cy="1965960"/>
        </p:xfrm>
        <a:graphic>
          <a:graphicData uri="http://schemas.openxmlformats.org/drawingml/2006/table">
            <a:tbl>
              <a:tblPr/>
              <a:tblGrid>
                <a:gridCol w="2606040"/>
                <a:gridCol w="1005840"/>
                <a:gridCol w="914400"/>
                <a:gridCol w="777240"/>
                <a:gridCol w="777240"/>
                <a:gridCol w="640080"/>
              </a:tblGrid>
              <a:tr h="347472">
                <a:tc>
                  <a:txBody>
                    <a:bodyPr/>
                    <a:lstStyle/>
                    <a:p>
                      <a:pPr algn="ctr" indent="0" marL="0">
                        <a:buNone/>
                      </a:pPr>
                      <a:r>
                        <a:rPr lang="en-US" sz="1000" b="1" dirty="0">
                          <a:solidFill>
                            <a:srgbClr val="FFFFFF"/>
                          </a:solidFill>
                          <a:latin typeface="Aptos" pitchFamily="34" charset="0"/>
                          <a:ea typeface="Aptos" pitchFamily="34" charset="-122"/>
                          <a:cs typeface="Aptos" pitchFamily="34" charset="-120"/>
                        </a:rPr>
                        <a:t>Variable</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102A43"/>
                    </a:solidFill>
                  </a:tcPr>
                </a:tc>
                <a:tc>
                  <a:txBody>
                    <a:bodyPr/>
                    <a:lstStyle/>
                    <a:p>
                      <a:pPr algn="ctr" indent="0" marL="0">
                        <a:buNone/>
                      </a:pPr>
                      <a:r>
                        <a:rPr lang="en-US" sz="1000" b="1" dirty="0">
                          <a:solidFill>
                            <a:srgbClr val="FFFFFF"/>
                          </a:solidFill>
                          <a:latin typeface="Aptos" pitchFamily="34" charset="0"/>
                          <a:ea typeface="Aptos" pitchFamily="34" charset="-122"/>
                          <a:cs typeface="Aptos" pitchFamily="34" charset="-120"/>
                        </a:rPr>
                        <a:t>Coef.</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102A43"/>
                    </a:solidFill>
                  </a:tcPr>
                </a:tc>
                <a:tc>
                  <a:txBody>
                    <a:bodyPr/>
                    <a:lstStyle/>
                    <a:p>
                      <a:pPr algn="ctr" indent="0" marL="0">
                        <a:buNone/>
                      </a:pPr>
                      <a:r>
                        <a:rPr lang="en-US" sz="1000" b="1" dirty="0">
                          <a:solidFill>
                            <a:srgbClr val="FFFFFF"/>
                          </a:solidFill>
                          <a:latin typeface="Aptos" pitchFamily="34" charset="0"/>
                          <a:ea typeface="Aptos" pitchFamily="34" charset="-122"/>
                          <a:cs typeface="Aptos" pitchFamily="34" charset="-120"/>
                        </a:rPr>
                        <a:t>SE</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102A43"/>
                    </a:solidFill>
                  </a:tcPr>
                </a:tc>
                <a:tc>
                  <a:txBody>
                    <a:bodyPr/>
                    <a:lstStyle/>
                    <a:p>
                      <a:pPr algn="ctr" indent="0" marL="0">
                        <a:buNone/>
                      </a:pPr>
                      <a:r>
                        <a:rPr lang="en-US" sz="1000" b="1" dirty="0">
                          <a:solidFill>
                            <a:srgbClr val="FFFFFF"/>
                          </a:solidFill>
                          <a:latin typeface="Aptos" pitchFamily="34" charset="0"/>
                          <a:ea typeface="Aptos" pitchFamily="34" charset="-122"/>
                          <a:cs typeface="Aptos" pitchFamily="34" charset="-120"/>
                        </a:rPr>
                        <a:t>t</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102A43"/>
                    </a:solidFill>
                  </a:tcPr>
                </a:tc>
                <a:tc>
                  <a:txBody>
                    <a:bodyPr/>
                    <a:lstStyle/>
                    <a:p>
                      <a:pPr algn="ctr" indent="0" marL="0">
                        <a:buNone/>
                      </a:pPr>
                      <a:r>
                        <a:rPr lang="en-US" sz="1000" b="1" dirty="0">
                          <a:solidFill>
                            <a:srgbClr val="FFFFFF"/>
                          </a:solidFill>
                          <a:latin typeface="Aptos" pitchFamily="34" charset="0"/>
                          <a:ea typeface="Aptos" pitchFamily="34" charset="-122"/>
                          <a:cs typeface="Aptos" pitchFamily="34" charset="-120"/>
                        </a:rPr>
                        <a:t>p</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102A43"/>
                    </a:solidFill>
                  </a:tcPr>
                </a:tc>
                <a:tc>
                  <a:txBody>
                    <a:bodyPr/>
                    <a:lstStyle/>
                    <a:p>
                      <a:pPr algn="ctr" indent="0" marL="0">
                        <a:buNone/>
                      </a:pPr>
                      <a:r>
                        <a:rPr lang="en-US" sz="1000" b="1" dirty="0">
                          <a:solidFill>
                            <a:srgbClr val="FFFFFF"/>
                          </a:solidFill>
                          <a:latin typeface="Aptos" pitchFamily="34" charset="0"/>
                          <a:ea typeface="Aptos" pitchFamily="34" charset="-122"/>
                          <a:cs typeface="Aptos" pitchFamily="34" charset="-120"/>
                        </a:rPr>
                        <a:t>Stars</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102A43"/>
                    </a:solidFill>
                  </a:tcPr>
                </a:tc>
              </a:tr>
              <a:tr h="475488">
                <a:tc>
                  <a:txBody>
                    <a:bodyPr/>
                    <a:lstStyle/>
                    <a:p>
                      <a:pPr algn="ctr" indent="0" marL="0">
                        <a:buNone/>
                      </a:pPr>
                      <a:r>
                        <a:rPr lang="en-US" sz="1000" dirty="0">
                          <a:solidFill>
                            <a:srgbClr val="24364B"/>
                          </a:solidFill>
                          <a:latin typeface="Aptos" pitchFamily="34" charset="0"/>
                          <a:ea typeface="Aptos" pitchFamily="34" charset="-122"/>
                          <a:cs typeface="Aptos" pitchFamily="34" charset="-120"/>
                        </a:rPr>
                        <a:t>Lobbying spend, t-1 ($M)</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4364B"/>
                          </a:solidFill>
                          <a:latin typeface="Aptos" pitchFamily="34" charset="0"/>
                          <a:ea typeface="Aptos" pitchFamily="34" charset="-122"/>
                          <a:cs typeface="Aptos" pitchFamily="34" charset="-120"/>
                        </a:rPr>
                        <a:t>-174.587</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4364B"/>
                          </a:solidFill>
                          <a:latin typeface="Aptos" pitchFamily="34" charset="0"/>
                          <a:ea typeface="Aptos" pitchFamily="34" charset="-122"/>
                          <a:cs typeface="Aptos" pitchFamily="34" charset="-120"/>
                        </a:rPr>
                        <a:t>116.934</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4364B"/>
                          </a:solidFill>
                          <a:latin typeface="Aptos" pitchFamily="34" charset="0"/>
                          <a:ea typeface="Aptos" pitchFamily="34" charset="-122"/>
                          <a:cs typeface="Aptos" pitchFamily="34" charset="-120"/>
                        </a:rPr>
                        <a:t>-1.49</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4364B"/>
                          </a:solidFill>
                          <a:latin typeface="Aptos" pitchFamily="34" charset="0"/>
                          <a:ea typeface="Aptos" pitchFamily="34" charset="-122"/>
                          <a:cs typeface="Aptos" pitchFamily="34" charset="-120"/>
                        </a:rPr>
                        <a:t>0.135</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r>
              <a:tr h="475488">
                <a:tc>
                  <a:txBody>
                    <a:bodyPr/>
                    <a:lstStyle/>
                    <a:p>
                      <a:pPr algn="ctr" indent="0" marL="0">
                        <a:buNone/>
                      </a:pPr>
                      <a:r>
                        <a:rPr lang="en-US" sz="1000" dirty="0">
                          <a:solidFill>
                            <a:srgbClr val="24364B"/>
                          </a:solidFill>
                          <a:latin typeface="Aptos" pitchFamily="34" charset="0"/>
                          <a:ea typeface="Aptos" pitchFamily="34" charset="-122"/>
                          <a:cs typeface="Aptos" pitchFamily="34" charset="-120"/>
                        </a:rPr>
                        <a:t>Log(Assets)</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4364B"/>
                          </a:solidFill>
                          <a:latin typeface="Aptos" pitchFamily="34" charset="0"/>
                          <a:ea typeface="Aptos" pitchFamily="34" charset="-122"/>
                          <a:cs typeface="Aptos" pitchFamily="34" charset="-120"/>
                        </a:rPr>
                        <a:t>234.706</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4364B"/>
                          </a:solidFill>
                          <a:latin typeface="Aptos" pitchFamily="34" charset="0"/>
                          <a:ea typeface="Aptos" pitchFamily="34" charset="-122"/>
                          <a:cs typeface="Aptos" pitchFamily="34" charset="-120"/>
                        </a:rPr>
                        <a:t>148.659</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4364B"/>
                          </a:solidFill>
                          <a:latin typeface="Aptos" pitchFamily="34" charset="0"/>
                          <a:ea typeface="Aptos" pitchFamily="34" charset="-122"/>
                          <a:cs typeface="Aptos" pitchFamily="34" charset="-120"/>
                        </a:rPr>
                        <a:t>1.58</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4364B"/>
                          </a:solidFill>
                          <a:latin typeface="Aptos" pitchFamily="34" charset="0"/>
                          <a:ea typeface="Aptos" pitchFamily="34" charset="-122"/>
                          <a:cs typeface="Aptos" pitchFamily="34" charset="-120"/>
                        </a:rPr>
                        <a:t>0.114</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r>
              <a:tr h="475488">
                <a:tc>
                  <a:txBody>
                    <a:bodyPr/>
                    <a:lstStyle/>
                    <a:p>
                      <a:pPr algn="ctr" indent="0" marL="0">
                        <a:buNone/>
                      </a:pPr>
                      <a:r>
                        <a:rPr lang="en-US" sz="1000" dirty="0">
                          <a:solidFill>
                            <a:srgbClr val="24364B"/>
                          </a:solidFill>
                          <a:latin typeface="Aptos" pitchFamily="34" charset="0"/>
                          <a:ea typeface="Aptos" pitchFamily="34" charset="-122"/>
                          <a:cs typeface="Aptos" pitchFamily="34" charset="-120"/>
                        </a:rPr>
                        <a:t>Log(Revenues)</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4364B"/>
                          </a:solidFill>
                          <a:latin typeface="Aptos" pitchFamily="34" charset="0"/>
                          <a:ea typeface="Aptos" pitchFamily="34" charset="-122"/>
                          <a:cs typeface="Aptos" pitchFamily="34" charset="-120"/>
                        </a:rPr>
                        <a:t>47.835</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4364B"/>
                          </a:solidFill>
                          <a:latin typeface="Aptos" pitchFamily="34" charset="0"/>
                          <a:ea typeface="Aptos" pitchFamily="34" charset="-122"/>
                          <a:cs typeface="Aptos" pitchFamily="34" charset="-120"/>
                        </a:rPr>
                        <a:t>43.565</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4364B"/>
                          </a:solidFill>
                          <a:latin typeface="Aptos" pitchFamily="34" charset="0"/>
                          <a:ea typeface="Aptos" pitchFamily="34" charset="-122"/>
                          <a:cs typeface="Aptos" pitchFamily="34" charset="-120"/>
                        </a:rPr>
                        <a:t>1.10</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4364B"/>
                          </a:solidFill>
                          <a:latin typeface="Aptos" pitchFamily="34" charset="0"/>
                          <a:ea typeface="Aptos" pitchFamily="34" charset="-122"/>
                          <a:cs typeface="Aptos" pitchFamily="34" charset="-120"/>
                        </a:rPr>
                        <a:t>0.276</a:t>
                      </a: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endParaRPr lang="en-US" sz="1000" dirty="0">
                        <a:latin typeface="Aptos" charset="0"/>
                        <a:ea typeface="Aptos" charset="0"/>
                        <a:cs typeface="Aptos" charset="0"/>
                      </a:endParaRPr>
                    </a:p>
                  </a:txBody>
                  <a:tcPr marL="54864" marR="54864" marT="54864" marB="54864"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r>
            </a:tbl>
          </a:graphicData>
        </a:graphic>
      </p:graphicFrame>
      <p:sp>
        <p:nvSpPr>
          <p:cNvPr id="8" name="Text 5"/>
          <p:cNvSpPr/>
          <p:nvPr/>
        </p:nvSpPr>
        <p:spPr>
          <a:xfrm>
            <a:off x="749808" y="3886200"/>
            <a:ext cx="7498080" cy="310896"/>
          </a:xfrm>
          <a:prstGeom prst="rect">
            <a:avLst/>
          </a:prstGeom>
          <a:noFill/>
          <a:ln/>
        </p:spPr>
        <p:txBody>
          <a:bodyPr wrap="square" lIns="0" tIns="0" rIns="0" bIns="0" rtlCol="0" anchor="ctr">
            <a:normAutofit/>
          </a:bodyPr>
          <a:lstStyle/>
          <a:p>
            <a:pPr indent="0" marL="0">
              <a:buNone/>
            </a:pPr>
            <a:r>
              <a:rPr lang="en-US" sz="1250" dirty="0">
                <a:solidFill>
                  <a:srgbClr val="24364B"/>
                </a:solidFill>
                <a:latin typeface="Aptos" pitchFamily="34" charset="0"/>
                <a:ea typeface="Aptos" pitchFamily="34" charset="-122"/>
                <a:cs typeface="Aptos" pitchFamily="34" charset="-120"/>
              </a:rPr>
              <a:t>Key readout: the sign is negative, but the estimate is not tight enough to support a strong investment claim on its own.</a:t>
            </a:r>
            <a:endParaRPr lang="en-US" sz="1250" dirty="0"/>
          </a:p>
        </p:txBody>
      </p:sp>
      <p:sp>
        <p:nvSpPr>
          <p:cNvPr id="9" name="Shape 6"/>
          <p:cNvSpPr/>
          <p:nvPr/>
        </p:nvSpPr>
        <p:spPr>
          <a:xfrm>
            <a:off x="749808" y="4370832"/>
            <a:ext cx="2194560" cy="868680"/>
          </a:xfrm>
          <a:prstGeom prst="roundRect">
            <a:avLst>
              <a:gd name="adj" fmla="val 9474"/>
            </a:avLst>
          </a:prstGeom>
          <a:solidFill>
            <a:srgbClr val="F3F8FD"/>
          </a:solidFill>
          <a:ln w="12700">
            <a:solidFill>
              <a:srgbClr val="DDE8F2"/>
            </a:solidFill>
            <a:prstDash val="solid"/>
          </a:ln>
          <a:effectLst>
            <a:outerShdw sx="100000" sy="100000" kx="0" ky="0" algn="bl" rotWithShape="0" blurRad="38100" dist="19050" dir="2700000">
              <a:srgbClr val="000000">
                <a:alpha val="8000"/>
              </a:srgbClr>
            </a:outerShdw>
          </a:effectLst>
        </p:spPr>
      </p:sp>
      <p:sp>
        <p:nvSpPr>
          <p:cNvPr id="10" name="Shape 7"/>
          <p:cNvSpPr/>
          <p:nvPr/>
        </p:nvSpPr>
        <p:spPr>
          <a:xfrm>
            <a:off x="749808" y="4370832"/>
            <a:ext cx="109728" cy="868680"/>
          </a:xfrm>
          <a:prstGeom prst="rect">
            <a:avLst/>
          </a:prstGeom>
          <a:solidFill>
            <a:srgbClr val="58A6FF"/>
          </a:solidFill>
          <a:ln w="12700">
            <a:solidFill>
              <a:srgbClr val="58A6FF"/>
            </a:solidFill>
            <a:prstDash val="solid"/>
          </a:ln>
        </p:spPr>
      </p:sp>
      <p:sp>
        <p:nvSpPr>
          <p:cNvPr id="11" name="Text 8"/>
          <p:cNvSpPr/>
          <p:nvPr/>
        </p:nvSpPr>
        <p:spPr>
          <a:xfrm>
            <a:off x="950976" y="4480560"/>
            <a:ext cx="1901952" cy="164592"/>
          </a:xfrm>
          <a:prstGeom prst="rect">
            <a:avLst/>
          </a:prstGeom>
          <a:noFill/>
          <a:ln/>
        </p:spPr>
        <p:txBody>
          <a:bodyPr wrap="square" lIns="0" tIns="0" rIns="0" bIns="0" rtlCol="0" anchor="ctr"/>
          <a:lstStyle/>
          <a:p>
            <a:pPr indent="0" marL="0">
              <a:buNone/>
            </a:pPr>
            <a:r>
              <a:rPr lang="en-US" sz="900" b="1" dirty="0">
                <a:solidFill>
                  <a:srgbClr val="5F7084"/>
                </a:solidFill>
                <a:latin typeface="Aptos" pitchFamily="34" charset="0"/>
                <a:ea typeface="Aptos" pitchFamily="34" charset="-122"/>
                <a:cs typeface="Aptos" pitchFamily="34" charset="-120"/>
              </a:rPr>
              <a:t>Entity FE</a:t>
            </a:r>
            <a:endParaRPr lang="en-US" sz="900" dirty="0"/>
          </a:p>
        </p:txBody>
      </p:sp>
      <p:sp>
        <p:nvSpPr>
          <p:cNvPr id="12" name="Text 9"/>
          <p:cNvSpPr/>
          <p:nvPr/>
        </p:nvSpPr>
        <p:spPr>
          <a:xfrm>
            <a:off x="950976" y="4645152"/>
            <a:ext cx="1901952" cy="329184"/>
          </a:xfrm>
          <a:prstGeom prst="rect">
            <a:avLst/>
          </a:prstGeom>
          <a:noFill/>
          <a:ln/>
        </p:spPr>
        <p:txBody>
          <a:bodyPr wrap="square" lIns="0" tIns="0" rIns="0" bIns="0" rtlCol="0" anchor="ctr">
            <a:normAutofit/>
          </a:bodyPr>
          <a:lstStyle/>
          <a:p>
            <a:pPr indent="0" marL="0">
              <a:buNone/>
            </a:pPr>
            <a:r>
              <a:rPr lang="en-US" sz="2100" b="1" dirty="0">
                <a:solidFill>
                  <a:srgbClr val="102A43"/>
                </a:solidFill>
                <a:latin typeface="Trebuchet MS" pitchFamily="34" charset="0"/>
                <a:ea typeface="Trebuchet MS" pitchFamily="34" charset="-122"/>
                <a:cs typeface="Trebuchet MS" pitchFamily="34" charset="-120"/>
              </a:rPr>
              <a:t>Yes</a:t>
            </a:r>
            <a:endParaRPr lang="en-US" sz="2100" dirty="0"/>
          </a:p>
        </p:txBody>
      </p:sp>
      <p:sp>
        <p:nvSpPr>
          <p:cNvPr id="13" name="Text 10"/>
          <p:cNvSpPr/>
          <p:nvPr/>
        </p:nvSpPr>
        <p:spPr>
          <a:xfrm>
            <a:off x="950976" y="5001768"/>
            <a:ext cx="1901952" cy="173736"/>
          </a:xfrm>
          <a:prstGeom prst="rect">
            <a:avLst/>
          </a:prstGeom>
          <a:noFill/>
          <a:ln/>
        </p:spPr>
        <p:txBody>
          <a:bodyPr wrap="square" lIns="0" tIns="0" rIns="0" bIns="0" rtlCol="0" anchor="ctr">
            <a:normAutofit/>
          </a:bodyPr>
          <a:lstStyle/>
          <a:p>
            <a:pPr indent="0" marL="0">
              <a:buNone/>
            </a:pPr>
            <a:r>
              <a:rPr lang="en-US" sz="950" dirty="0">
                <a:solidFill>
                  <a:srgbClr val="24364B"/>
                </a:solidFill>
                <a:latin typeface="Aptos" pitchFamily="34" charset="0"/>
                <a:ea typeface="Aptos" pitchFamily="34" charset="-122"/>
                <a:cs typeface="Aptos" pitchFamily="34" charset="-120"/>
              </a:rPr>
              <a:t>Each firm is compared with itself over time.</a:t>
            </a:r>
            <a:endParaRPr lang="en-US" sz="950" dirty="0"/>
          </a:p>
        </p:txBody>
      </p:sp>
      <p:sp>
        <p:nvSpPr>
          <p:cNvPr id="14" name="Shape 11"/>
          <p:cNvSpPr/>
          <p:nvPr/>
        </p:nvSpPr>
        <p:spPr>
          <a:xfrm>
            <a:off x="3108960" y="4370832"/>
            <a:ext cx="2194560" cy="868680"/>
          </a:xfrm>
          <a:prstGeom prst="roundRect">
            <a:avLst>
              <a:gd name="adj" fmla="val 9474"/>
            </a:avLst>
          </a:prstGeom>
          <a:solidFill>
            <a:srgbClr val="F3F8FD"/>
          </a:solidFill>
          <a:ln w="12700">
            <a:solidFill>
              <a:srgbClr val="DDE8F2"/>
            </a:solidFill>
            <a:prstDash val="solid"/>
          </a:ln>
          <a:effectLst>
            <a:outerShdw sx="100000" sy="100000" kx="0" ky="0" algn="bl" rotWithShape="0" blurRad="38100" dist="19050" dir="2700000">
              <a:srgbClr val="000000">
                <a:alpha val="8000"/>
              </a:srgbClr>
            </a:outerShdw>
          </a:effectLst>
        </p:spPr>
      </p:sp>
      <p:sp>
        <p:nvSpPr>
          <p:cNvPr id="15" name="Shape 12"/>
          <p:cNvSpPr/>
          <p:nvPr/>
        </p:nvSpPr>
        <p:spPr>
          <a:xfrm>
            <a:off x="3108960" y="4370832"/>
            <a:ext cx="109728" cy="868680"/>
          </a:xfrm>
          <a:prstGeom prst="rect">
            <a:avLst/>
          </a:prstGeom>
          <a:solidFill>
            <a:srgbClr val="DCEEFF"/>
          </a:solidFill>
          <a:ln w="12700">
            <a:solidFill>
              <a:srgbClr val="DCEEFF"/>
            </a:solidFill>
            <a:prstDash val="solid"/>
          </a:ln>
        </p:spPr>
      </p:sp>
      <p:sp>
        <p:nvSpPr>
          <p:cNvPr id="16" name="Text 13"/>
          <p:cNvSpPr/>
          <p:nvPr/>
        </p:nvSpPr>
        <p:spPr>
          <a:xfrm>
            <a:off x="3310128" y="4480560"/>
            <a:ext cx="1901952" cy="164592"/>
          </a:xfrm>
          <a:prstGeom prst="rect">
            <a:avLst/>
          </a:prstGeom>
          <a:noFill/>
          <a:ln/>
        </p:spPr>
        <p:txBody>
          <a:bodyPr wrap="square" lIns="0" tIns="0" rIns="0" bIns="0" rtlCol="0" anchor="ctr"/>
          <a:lstStyle/>
          <a:p>
            <a:pPr indent="0" marL="0">
              <a:buNone/>
            </a:pPr>
            <a:r>
              <a:rPr lang="en-US" sz="900" b="1" dirty="0">
                <a:solidFill>
                  <a:srgbClr val="5F7084"/>
                </a:solidFill>
                <a:latin typeface="Aptos" pitchFamily="34" charset="0"/>
                <a:ea typeface="Aptos" pitchFamily="34" charset="-122"/>
                <a:cs typeface="Aptos" pitchFamily="34" charset="-120"/>
              </a:rPr>
              <a:t>Time FE</a:t>
            </a:r>
            <a:endParaRPr lang="en-US" sz="900" dirty="0"/>
          </a:p>
        </p:txBody>
      </p:sp>
      <p:sp>
        <p:nvSpPr>
          <p:cNvPr id="17" name="Text 14"/>
          <p:cNvSpPr/>
          <p:nvPr/>
        </p:nvSpPr>
        <p:spPr>
          <a:xfrm>
            <a:off x="3310128" y="4645152"/>
            <a:ext cx="1901952" cy="329184"/>
          </a:xfrm>
          <a:prstGeom prst="rect">
            <a:avLst/>
          </a:prstGeom>
          <a:noFill/>
          <a:ln/>
        </p:spPr>
        <p:txBody>
          <a:bodyPr wrap="square" lIns="0" tIns="0" rIns="0" bIns="0" rtlCol="0" anchor="ctr">
            <a:normAutofit/>
          </a:bodyPr>
          <a:lstStyle/>
          <a:p>
            <a:pPr indent="0" marL="0">
              <a:buNone/>
            </a:pPr>
            <a:r>
              <a:rPr lang="en-US" sz="2100" b="1" dirty="0">
                <a:solidFill>
                  <a:srgbClr val="102A43"/>
                </a:solidFill>
                <a:latin typeface="Trebuchet MS" pitchFamily="34" charset="0"/>
                <a:ea typeface="Trebuchet MS" pitchFamily="34" charset="-122"/>
                <a:cs typeface="Trebuchet MS" pitchFamily="34" charset="-120"/>
              </a:rPr>
              <a:t>Yes</a:t>
            </a:r>
            <a:endParaRPr lang="en-US" sz="2100" dirty="0"/>
          </a:p>
        </p:txBody>
      </p:sp>
      <p:sp>
        <p:nvSpPr>
          <p:cNvPr id="18" name="Text 15"/>
          <p:cNvSpPr/>
          <p:nvPr/>
        </p:nvSpPr>
        <p:spPr>
          <a:xfrm>
            <a:off x="3310128" y="5001768"/>
            <a:ext cx="1901952" cy="173736"/>
          </a:xfrm>
          <a:prstGeom prst="rect">
            <a:avLst/>
          </a:prstGeom>
          <a:noFill/>
          <a:ln/>
        </p:spPr>
        <p:txBody>
          <a:bodyPr wrap="square" lIns="0" tIns="0" rIns="0" bIns="0" rtlCol="0" anchor="ctr">
            <a:normAutofit/>
          </a:bodyPr>
          <a:lstStyle/>
          <a:p>
            <a:pPr indent="0" marL="0">
              <a:buNone/>
            </a:pPr>
            <a:r>
              <a:rPr lang="en-US" sz="950" dirty="0">
                <a:solidFill>
                  <a:srgbClr val="24364B"/>
                </a:solidFill>
                <a:latin typeface="Aptos" pitchFamily="34" charset="0"/>
                <a:ea typeface="Aptos" pitchFamily="34" charset="-122"/>
                <a:cs typeface="Aptos" pitchFamily="34" charset="-120"/>
              </a:rPr>
              <a:t>Common year shocks are absorbed.</a:t>
            </a:r>
            <a:endParaRPr lang="en-US" sz="950" dirty="0"/>
          </a:p>
        </p:txBody>
      </p:sp>
      <p:sp>
        <p:nvSpPr>
          <p:cNvPr id="19" name="Shape 16"/>
          <p:cNvSpPr/>
          <p:nvPr/>
        </p:nvSpPr>
        <p:spPr>
          <a:xfrm>
            <a:off x="5468112" y="4370832"/>
            <a:ext cx="2194560" cy="868680"/>
          </a:xfrm>
          <a:prstGeom prst="roundRect">
            <a:avLst>
              <a:gd name="adj" fmla="val 9474"/>
            </a:avLst>
          </a:prstGeom>
          <a:solidFill>
            <a:srgbClr val="F3F8FD"/>
          </a:solidFill>
          <a:ln w="12700">
            <a:solidFill>
              <a:srgbClr val="DDE8F2"/>
            </a:solidFill>
            <a:prstDash val="solid"/>
          </a:ln>
          <a:effectLst>
            <a:outerShdw sx="100000" sy="100000" kx="0" ky="0" algn="bl" rotWithShape="0" blurRad="38100" dist="19050" dir="2700000">
              <a:srgbClr val="000000">
                <a:alpha val="8000"/>
              </a:srgbClr>
            </a:outerShdw>
          </a:effectLst>
        </p:spPr>
      </p:sp>
      <p:sp>
        <p:nvSpPr>
          <p:cNvPr id="20" name="Shape 17"/>
          <p:cNvSpPr/>
          <p:nvPr/>
        </p:nvSpPr>
        <p:spPr>
          <a:xfrm>
            <a:off x="5468112" y="4370832"/>
            <a:ext cx="109728" cy="868680"/>
          </a:xfrm>
          <a:prstGeom prst="rect">
            <a:avLst/>
          </a:prstGeom>
          <a:solidFill>
            <a:srgbClr val="DCEEFF"/>
          </a:solidFill>
          <a:ln w="12700">
            <a:solidFill>
              <a:srgbClr val="DCEEFF"/>
            </a:solidFill>
            <a:prstDash val="solid"/>
          </a:ln>
        </p:spPr>
      </p:sp>
      <p:sp>
        <p:nvSpPr>
          <p:cNvPr id="21" name="Text 18"/>
          <p:cNvSpPr/>
          <p:nvPr/>
        </p:nvSpPr>
        <p:spPr>
          <a:xfrm>
            <a:off x="5669280" y="4480560"/>
            <a:ext cx="1901952" cy="164592"/>
          </a:xfrm>
          <a:prstGeom prst="rect">
            <a:avLst/>
          </a:prstGeom>
          <a:noFill/>
          <a:ln/>
        </p:spPr>
        <p:txBody>
          <a:bodyPr wrap="square" lIns="0" tIns="0" rIns="0" bIns="0" rtlCol="0" anchor="ctr"/>
          <a:lstStyle/>
          <a:p>
            <a:pPr indent="0" marL="0">
              <a:buNone/>
            </a:pPr>
            <a:r>
              <a:rPr lang="en-US" sz="900" b="1" dirty="0">
                <a:solidFill>
                  <a:srgbClr val="5F7084"/>
                </a:solidFill>
                <a:latin typeface="Aptos" pitchFamily="34" charset="0"/>
                <a:ea typeface="Aptos" pitchFamily="34" charset="-122"/>
                <a:cs typeface="Aptos" pitchFamily="34" charset="-120"/>
              </a:rPr>
              <a:t>Observations</a:t>
            </a:r>
            <a:endParaRPr lang="en-US" sz="900" dirty="0"/>
          </a:p>
        </p:txBody>
      </p:sp>
      <p:sp>
        <p:nvSpPr>
          <p:cNvPr id="22" name="Text 19"/>
          <p:cNvSpPr/>
          <p:nvPr/>
        </p:nvSpPr>
        <p:spPr>
          <a:xfrm>
            <a:off x="5669280" y="4645152"/>
            <a:ext cx="1901952" cy="329184"/>
          </a:xfrm>
          <a:prstGeom prst="rect">
            <a:avLst/>
          </a:prstGeom>
          <a:noFill/>
          <a:ln/>
        </p:spPr>
        <p:txBody>
          <a:bodyPr wrap="square" lIns="0" tIns="0" rIns="0" bIns="0" rtlCol="0" anchor="ctr">
            <a:normAutofit/>
          </a:bodyPr>
          <a:lstStyle/>
          <a:p>
            <a:pPr indent="0" marL="0">
              <a:buNone/>
            </a:pPr>
            <a:r>
              <a:rPr lang="en-US" sz="2100" b="1" dirty="0">
                <a:solidFill>
                  <a:srgbClr val="102A43"/>
                </a:solidFill>
                <a:latin typeface="Trebuchet MS" pitchFamily="34" charset="0"/>
                <a:ea typeface="Trebuchet MS" pitchFamily="34" charset="-122"/>
                <a:cs typeface="Trebuchet MS" pitchFamily="34" charset="-120"/>
              </a:rPr>
              <a:t>2,125</a:t>
            </a:r>
            <a:endParaRPr lang="en-US" sz="2100" dirty="0"/>
          </a:p>
        </p:txBody>
      </p:sp>
      <p:sp>
        <p:nvSpPr>
          <p:cNvPr id="23" name="Text 20"/>
          <p:cNvSpPr/>
          <p:nvPr/>
        </p:nvSpPr>
        <p:spPr>
          <a:xfrm>
            <a:off x="5669280" y="5001768"/>
            <a:ext cx="1901952" cy="173736"/>
          </a:xfrm>
          <a:prstGeom prst="rect">
            <a:avLst/>
          </a:prstGeom>
          <a:noFill/>
          <a:ln/>
        </p:spPr>
        <p:txBody>
          <a:bodyPr wrap="square" lIns="0" tIns="0" rIns="0" bIns="0" rtlCol="0" anchor="ctr">
            <a:normAutofit/>
          </a:bodyPr>
          <a:lstStyle/>
          <a:p>
            <a:pPr indent="0" marL="0">
              <a:buNone/>
            </a:pPr>
            <a:r>
              <a:rPr lang="en-US" sz="950" dirty="0">
                <a:solidFill>
                  <a:srgbClr val="24364B"/>
                </a:solidFill>
                <a:latin typeface="Aptos" pitchFamily="34" charset="0"/>
                <a:ea typeface="Aptos" pitchFamily="34" charset="-122"/>
                <a:cs typeface="Aptos" pitchFamily="34" charset="-120"/>
              </a:rPr>
              <a:t>Firm-years used in the main specification.</a:t>
            </a:r>
            <a:endParaRPr lang="en-US" sz="950" dirty="0"/>
          </a:p>
        </p:txBody>
      </p:sp>
      <p:sp>
        <p:nvSpPr>
          <p:cNvPr id="24" name="Text 21"/>
          <p:cNvSpPr/>
          <p:nvPr/>
        </p:nvSpPr>
        <p:spPr>
          <a:xfrm>
            <a:off x="502920" y="6510528"/>
            <a:ext cx="8138160" cy="146304"/>
          </a:xfrm>
          <a:prstGeom prst="rect">
            <a:avLst/>
          </a:prstGeom>
          <a:noFill/>
          <a:ln/>
        </p:spPr>
        <p:txBody>
          <a:bodyPr wrap="square" lIns="0" tIns="0" rIns="0" bIns="0" rtlCol="0" anchor="ctr"/>
          <a:lstStyle/>
          <a:p>
            <a:pPr indent="0" marL="0">
              <a:buNone/>
            </a:pPr>
            <a:r>
              <a:rPr lang="en-US" sz="800" dirty="0">
                <a:solidFill>
                  <a:srgbClr val="5F7084"/>
                </a:solidFill>
                <a:latin typeface="Aptos" pitchFamily="34" charset="0"/>
                <a:ea typeface="Aptos" pitchFamily="34" charset="-122"/>
                <a:cs typeface="Aptos" pitchFamily="34" charset="-120"/>
              </a:rPr>
              <a:t>Table 1 uses clustered standard errors at the firm level. Significance stars follow the usual cutoffs: * p&lt;0.10, ** p&lt;0.05, *** p&lt;0.01.</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8FD"/>
        </a:solidFill>
      </p:bgPr>
    </p:bg>
    <p:spTree>
      <p:nvGrpSpPr>
        <p:cNvPr id="1" name=""/>
        <p:cNvGrpSpPr/>
        <p:nvPr/>
      </p:nvGrpSpPr>
      <p:grpSpPr>
        <a:xfrm>
          <a:off x="0" y="0"/>
          <a:ext cx="0" cy="0"/>
          <a:chOff x="0" y="0"/>
          <a:chExt cx="0" cy="0"/>
        </a:xfrm>
      </p:grpSpPr>
      <p:sp>
        <p:nvSpPr>
          <p:cNvPr id="2" name="Shape 0"/>
          <p:cNvSpPr/>
          <p:nvPr/>
        </p:nvSpPr>
        <p:spPr>
          <a:xfrm>
            <a:off x="502920" y="292608"/>
            <a:ext cx="1417320" cy="310896"/>
          </a:xfrm>
          <a:prstGeom prst="roundRect">
            <a:avLst>
              <a:gd name="adj" fmla="val 23529"/>
            </a:avLst>
          </a:prstGeom>
          <a:solidFill>
            <a:srgbClr val="DCEEFF"/>
          </a:solidFill>
          <a:ln w="12700">
            <a:solidFill>
              <a:srgbClr val="DCEEFF"/>
            </a:solidFill>
            <a:prstDash val="solid"/>
          </a:ln>
        </p:spPr>
      </p:sp>
      <p:sp>
        <p:nvSpPr>
          <p:cNvPr id="3" name="Text 1"/>
          <p:cNvSpPr/>
          <p:nvPr/>
        </p:nvSpPr>
        <p:spPr>
          <a:xfrm>
            <a:off x="502920" y="320040"/>
            <a:ext cx="1417320" cy="201168"/>
          </a:xfrm>
          <a:prstGeom prst="rect">
            <a:avLst/>
          </a:prstGeom>
          <a:noFill/>
          <a:ln/>
        </p:spPr>
        <p:txBody>
          <a:bodyPr wrap="square" lIns="0" tIns="0" rIns="0" bIns="0" rtlCol="0" anchor="ctr"/>
          <a:lstStyle/>
          <a:p>
            <a:pPr algn="ctr" indent="0" marL="0">
              <a:buNone/>
            </a:pPr>
            <a:r>
              <a:rPr lang="en-US" sz="900" b="1" spc="110" kern="0" dirty="0">
                <a:solidFill>
                  <a:srgbClr val="102A43"/>
                </a:solidFill>
                <a:latin typeface="Trebuchet MS" pitchFamily="34" charset="0"/>
                <a:ea typeface="Trebuchet MS" pitchFamily="34" charset="-122"/>
                <a:cs typeface="Trebuchet MS" pitchFamily="34" charset="-120"/>
              </a:rPr>
              <a:t>RESULTS</a:t>
            </a:r>
            <a:endParaRPr lang="en-US" sz="900" dirty="0"/>
          </a:p>
        </p:txBody>
      </p:sp>
      <p:sp>
        <p:nvSpPr>
          <p:cNvPr id="4" name="Text 2"/>
          <p:cNvSpPr/>
          <p:nvPr/>
        </p:nvSpPr>
        <p:spPr>
          <a:xfrm>
            <a:off x="502920" y="658368"/>
            <a:ext cx="7955280" cy="420624"/>
          </a:xfrm>
          <a:prstGeom prst="rect">
            <a:avLst/>
          </a:prstGeom>
          <a:noFill/>
          <a:ln/>
        </p:spPr>
        <p:txBody>
          <a:bodyPr wrap="square" lIns="0" tIns="0" rIns="0" bIns="0" rtlCol="0" anchor="ctr">
            <a:normAutofit/>
          </a:bodyPr>
          <a:lstStyle/>
          <a:p>
            <a:pPr indent="0" marL="0">
              <a:buNone/>
            </a:pPr>
            <a:r>
              <a:rPr lang="en-US" sz="2400" b="1" dirty="0">
                <a:solidFill>
                  <a:srgbClr val="102A43"/>
                </a:solidFill>
                <a:latin typeface="Trebuchet MS" pitchFamily="34" charset="0"/>
                <a:ea typeface="Trebuchet MS" pitchFamily="34" charset="-122"/>
                <a:cs typeface="Trebuchet MS" pitchFamily="34" charset="-120"/>
              </a:rPr>
              <a:t>Table 2. Alternative specs and Figure 1</a:t>
            </a:r>
            <a:endParaRPr lang="en-US" sz="2400" dirty="0"/>
          </a:p>
        </p:txBody>
      </p:sp>
      <p:sp>
        <p:nvSpPr>
          <p:cNvPr id="5" name="Text 3"/>
          <p:cNvSpPr/>
          <p:nvPr/>
        </p:nvSpPr>
        <p:spPr>
          <a:xfrm>
            <a:off x="502920" y="1024128"/>
            <a:ext cx="8138160" cy="310896"/>
          </a:xfrm>
          <a:prstGeom prst="rect">
            <a:avLst/>
          </a:prstGeom>
          <a:noFill/>
          <a:ln/>
        </p:spPr>
        <p:txBody>
          <a:bodyPr wrap="square" lIns="0" tIns="0" rIns="0" bIns="0" rtlCol="0" anchor="ctr">
            <a:normAutofit/>
          </a:bodyPr>
          <a:lstStyle/>
          <a:p>
            <a:pPr indent="0" marL="0">
              <a:buNone/>
            </a:pPr>
            <a:r>
              <a:rPr lang="en-US" sz="1050" dirty="0">
                <a:solidFill>
                  <a:srgbClr val="5F7084"/>
                </a:solidFill>
                <a:latin typeface="Aptos" pitchFamily="34" charset="0"/>
                <a:ea typeface="Aptos" pitchFamily="34" charset="-122"/>
                <a:cs typeface="Aptos" pitchFamily="34" charset="-120"/>
              </a:rPr>
              <a:t>The sign mostly stays negative, but the size and precision shift when the timing or identification strategy changes.</a:t>
            </a:r>
            <a:endParaRPr lang="en-US" sz="1050" dirty="0"/>
          </a:p>
        </p:txBody>
      </p:sp>
      <p:sp>
        <p:nvSpPr>
          <p:cNvPr id="6" name="Shape 4"/>
          <p:cNvSpPr/>
          <p:nvPr/>
        </p:nvSpPr>
        <p:spPr>
          <a:xfrm>
            <a:off x="502920" y="1389888"/>
            <a:ext cx="3749040" cy="4526280"/>
          </a:xfrm>
          <a:prstGeom prst="roundRect">
            <a:avLst>
              <a:gd name="adj" fmla="val 2195"/>
            </a:avLst>
          </a:prstGeom>
          <a:solidFill>
            <a:srgbClr val="FFFFFF"/>
          </a:solidFill>
          <a:ln w="12700">
            <a:solidFill>
              <a:srgbClr val="DDE8F2"/>
            </a:solidFill>
            <a:prstDash val="solid"/>
          </a:ln>
          <a:effectLst>
            <a:outerShdw sx="100000" sy="100000" kx="0" ky="0" algn="bl" rotWithShape="0" blurRad="38100" dist="19050" dir="2700000">
              <a:srgbClr val="000000">
                <a:alpha val="7000"/>
              </a:srgbClr>
            </a:outerShdw>
          </a:effectLst>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13232" y="1682496"/>
          <a:ext cx="3291840" cy="3767328"/>
        </p:xfrm>
        <a:graphic>
          <a:graphicData uri="http://schemas.openxmlformats.org/drawingml/2006/table">
            <a:tbl>
              <a:tblPr/>
              <a:tblGrid>
                <a:gridCol w="941832"/>
                <a:gridCol w="914400"/>
                <a:gridCol w="1435608"/>
              </a:tblGrid>
              <a:tr h="347472">
                <a:tc>
                  <a:txBody>
                    <a:bodyPr/>
                    <a:lstStyle/>
                    <a:p>
                      <a:pPr algn="ctr" indent="0" marL="0">
                        <a:buNone/>
                      </a:pPr>
                      <a:r>
                        <a:rPr lang="en-US" sz="880" b="1" dirty="0">
                          <a:solidFill>
                            <a:srgbClr val="FFFFFF"/>
                          </a:solidFill>
                          <a:latin typeface="Aptos" pitchFamily="34" charset="0"/>
                          <a:ea typeface="Aptos" pitchFamily="34" charset="-122"/>
                          <a:cs typeface="Aptos" pitchFamily="34" charset="-120"/>
                        </a:rPr>
                        <a:t>Model</a:t>
                      </a:r>
                      <a:endParaRPr lang="en-US" sz="880" dirty="0">
                        <a:latin typeface="Aptos" charset="0"/>
                        <a:ea typeface="Aptos" charset="0"/>
                        <a:cs typeface="Aptos" charset="0"/>
                      </a:endParaRPr>
                    </a:p>
                  </a:txBody>
                  <a:tcPr marL="45720" marR="45720" marT="45720" marB="45720"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102A43"/>
                    </a:solidFill>
                  </a:tcPr>
                </a:tc>
                <a:tc>
                  <a:txBody>
                    <a:bodyPr/>
                    <a:lstStyle/>
                    <a:p>
                      <a:pPr algn="ctr" indent="0" marL="0">
                        <a:buNone/>
                      </a:pPr>
                      <a:r>
                        <a:rPr lang="en-US" sz="880" b="1" dirty="0">
                          <a:solidFill>
                            <a:srgbClr val="FFFFFF"/>
                          </a:solidFill>
                          <a:latin typeface="Aptos" pitchFamily="34" charset="0"/>
                          <a:ea typeface="Aptos" pitchFamily="34" charset="-122"/>
                          <a:cs typeface="Aptos" pitchFamily="34" charset="-120"/>
                        </a:rPr>
                        <a:t>Headline result</a:t>
                      </a:r>
                      <a:endParaRPr lang="en-US" sz="880" dirty="0">
                        <a:latin typeface="Aptos" charset="0"/>
                        <a:ea typeface="Aptos" charset="0"/>
                        <a:cs typeface="Aptos" charset="0"/>
                      </a:endParaRPr>
                    </a:p>
                  </a:txBody>
                  <a:tcPr marL="45720" marR="45720" marT="45720" marB="45720"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102A43"/>
                    </a:solidFill>
                  </a:tcPr>
                </a:tc>
                <a:tc>
                  <a:txBody>
                    <a:bodyPr/>
                    <a:lstStyle/>
                    <a:p>
                      <a:pPr algn="ctr" indent="0" marL="0">
                        <a:buNone/>
                      </a:pPr>
                      <a:r>
                        <a:rPr lang="en-US" sz="880" b="1" dirty="0">
                          <a:solidFill>
                            <a:srgbClr val="FFFFFF"/>
                          </a:solidFill>
                          <a:latin typeface="Aptos" pitchFamily="34" charset="0"/>
                          <a:ea typeface="Aptos" pitchFamily="34" charset="-122"/>
                          <a:cs typeface="Aptos" pitchFamily="34" charset="-120"/>
                        </a:rPr>
                        <a:t>Takeaway</a:t>
                      </a:r>
                      <a:endParaRPr lang="en-US" sz="880" dirty="0">
                        <a:latin typeface="Aptos" charset="0"/>
                        <a:ea typeface="Aptos" charset="0"/>
                        <a:cs typeface="Aptos" charset="0"/>
                      </a:endParaRPr>
                    </a:p>
                  </a:txBody>
                  <a:tcPr marL="45720" marR="45720" marT="45720" marB="45720"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102A43"/>
                    </a:solidFill>
                  </a:tcPr>
                </a:tc>
              </a:tr>
              <a:tr h="475488">
                <a:tc>
                  <a:txBody>
                    <a:bodyPr/>
                    <a:lstStyle/>
                    <a:p>
                      <a:pPr algn="ctr" indent="0" marL="0">
                        <a:buNone/>
                      </a:pPr>
                      <a:r>
                        <a:rPr lang="en-US" sz="880" dirty="0">
                          <a:solidFill>
                            <a:srgbClr val="24364B"/>
                          </a:solidFill>
                          <a:latin typeface="Aptos" pitchFamily="34" charset="0"/>
                          <a:ea typeface="Aptos" pitchFamily="34" charset="-122"/>
                          <a:cs typeface="Aptos" pitchFamily="34" charset="-120"/>
                        </a:rPr>
                        <a:t>Three-way FE</a:t>
                      </a:r>
                      <a:endParaRPr lang="en-US" sz="880" dirty="0">
                        <a:latin typeface="Aptos" charset="0"/>
                        <a:ea typeface="Aptos" charset="0"/>
                        <a:cs typeface="Aptos" charset="0"/>
                      </a:endParaRPr>
                    </a:p>
                  </a:txBody>
                  <a:tcPr marL="45720" marR="45720" marT="45720" marB="45720"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24364B"/>
                          </a:solidFill>
                          <a:latin typeface="Aptos" pitchFamily="34" charset="0"/>
                          <a:ea typeface="Aptos" pitchFamily="34" charset="-122"/>
                          <a:cs typeface="Aptos" pitchFamily="34" charset="-120"/>
                        </a:rPr>
                        <a:t>-159.5</a:t>
                      </a:r>
                      <a:endParaRPr lang="en-US" sz="880" dirty="0">
                        <a:latin typeface="Aptos" charset="0"/>
                        <a:ea typeface="Aptos" charset="0"/>
                        <a:cs typeface="Aptos" charset="0"/>
                      </a:endParaRPr>
                    </a:p>
                  </a:txBody>
                  <a:tcPr marL="45720" marR="45720" marT="45720" marB="45720"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24364B"/>
                          </a:solidFill>
                          <a:latin typeface="Aptos" pitchFamily="34" charset="0"/>
                          <a:ea typeface="Aptos" pitchFamily="34" charset="-122"/>
                          <a:cs typeface="Aptos" pitchFamily="34" charset="-120"/>
                        </a:rPr>
                        <a:t>Same direction; still noisy.</a:t>
                      </a:r>
                      <a:endParaRPr lang="en-US" sz="880" dirty="0">
                        <a:latin typeface="Aptos" charset="0"/>
                        <a:ea typeface="Aptos" charset="0"/>
                        <a:cs typeface="Aptos" charset="0"/>
                      </a:endParaRPr>
                    </a:p>
                  </a:txBody>
                  <a:tcPr marL="45720" marR="45720" marT="45720" marB="45720"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r>
              <a:tr h="475488">
                <a:tc>
                  <a:txBody>
                    <a:bodyPr/>
                    <a:lstStyle/>
                    <a:p>
                      <a:pPr algn="ctr" indent="0" marL="0">
                        <a:buNone/>
                      </a:pPr>
                      <a:r>
                        <a:rPr lang="en-US" sz="880" dirty="0">
                          <a:solidFill>
                            <a:srgbClr val="24364B"/>
                          </a:solidFill>
                          <a:latin typeface="Aptos" pitchFamily="34" charset="0"/>
                          <a:ea typeface="Aptos" pitchFamily="34" charset="-122"/>
                          <a:cs typeface="Aptos" pitchFamily="34" charset="-120"/>
                        </a:rPr>
                        <a:t>Lead-1 placebo</a:t>
                      </a:r>
                      <a:endParaRPr lang="en-US" sz="880" dirty="0">
                        <a:latin typeface="Aptos" charset="0"/>
                        <a:ea typeface="Aptos" charset="0"/>
                        <a:cs typeface="Aptos" charset="0"/>
                      </a:endParaRPr>
                    </a:p>
                  </a:txBody>
                  <a:tcPr marL="45720" marR="45720" marT="45720" marB="45720"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24364B"/>
                          </a:solidFill>
                          <a:latin typeface="Aptos" pitchFamily="34" charset="0"/>
                          <a:ea typeface="Aptos" pitchFamily="34" charset="-122"/>
                          <a:cs typeface="Aptos" pitchFamily="34" charset="-120"/>
                        </a:rPr>
                        <a:t>-302.7*</a:t>
                      </a:r>
                      <a:endParaRPr lang="en-US" sz="880" dirty="0">
                        <a:latin typeface="Aptos" charset="0"/>
                        <a:ea typeface="Aptos" charset="0"/>
                        <a:cs typeface="Aptos" charset="0"/>
                      </a:endParaRPr>
                    </a:p>
                  </a:txBody>
                  <a:tcPr marL="45720" marR="45720" marT="45720" marB="45720"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24364B"/>
                          </a:solidFill>
                          <a:latin typeface="Aptos" pitchFamily="34" charset="0"/>
                          <a:ea typeface="Aptos" pitchFamily="34" charset="-122"/>
                          <a:cs typeface="Aptos" pitchFamily="34" charset="-120"/>
                        </a:rPr>
                        <a:t>Warning sign for reverse timing.</a:t>
                      </a:r>
                      <a:endParaRPr lang="en-US" sz="880" dirty="0">
                        <a:latin typeface="Aptos" charset="0"/>
                        <a:ea typeface="Aptos" charset="0"/>
                        <a:cs typeface="Aptos" charset="0"/>
                      </a:endParaRPr>
                    </a:p>
                  </a:txBody>
                  <a:tcPr marL="45720" marR="45720" marT="45720" marB="45720"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r>
              <a:tr h="475488">
                <a:tc>
                  <a:txBody>
                    <a:bodyPr/>
                    <a:lstStyle/>
                    <a:p>
                      <a:pPr algn="ctr" indent="0" marL="0">
                        <a:buNone/>
                      </a:pPr>
                      <a:r>
                        <a:rPr lang="en-US" sz="880" dirty="0">
                          <a:solidFill>
                            <a:srgbClr val="24364B"/>
                          </a:solidFill>
                          <a:latin typeface="Aptos" pitchFamily="34" charset="0"/>
                          <a:ea typeface="Aptos" pitchFamily="34" charset="-122"/>
                          <a:cs typeface="Aptos" pitchFamily="34" charset="-120"/>
                        </a:rPr>
                        <a:t>Staggered DiD</a:t>
                      </a:r>
                      <a:endParaRPr lang="en-US" sz="880" dirty="0">
                        <a:latin typeface="Aptos" charset="0"/>
                        <a:ea typeface="Aptos" charset="0"/>
                        <a:cs typeface="Aptos" charset="0"/>
                      </a:endParaRPr>
                    </a:p>
                  </a:txBody>
                  <a:tcPr marL="45720" marR="45720" marT="45720" marB="45720"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24364B"/>
                          </a:solidFill>
                          <a:latin typeface="Aptos" pitchFamily="34" charset="0"/>
                          <a:ea typeface="Aptos" pitchFamily="34" charset="-122"/>
                          <a:cs typeface="Aptos" pitchFamily="34" charset="-120"/>
                        </a:rPr>
                        <a:t>ATT ≈ -338.8</a:t>
                      </a:r>
                      <a:endParaRPr lang="en-US" sz="880" dirty="0">
                        <a:latin typeface="Aptos" charset="0"/>
                        <a:ea typeface="Aptos" charset="0"/>
                        <a:cs typeface="Aptos" charset="0"/>
                      </a:endParaRPr>
                    </a:p>
                  </a:txBody>
                  <a:tcPr marL="45720" marR="45720" marT="45720" marB="45720"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24364B"/>
                          </a:solidFill>
                          <a:latin typeface="Aptos" pitchFamily="34" charset="0"/>
                          <a:ea typeface="Aptos" pitchFamily="34" charset="-122"/>
                          <a:cs typeface="Aptos" pitchFamily="34" charset="-120"/>
                        </a:rPr>
                        <a:t>Negative on average; limited support.</a:t>
                      </a:r>
                      <a:endParaRPr lang="en-US" sz="880" dirty="0">
                        <a:latin typeface="Aptos" charset="0"/>
                        <a:ea typeface="Aptos" charset="0"/>
                        <a:cs typeface="Aptos" charset="0"/>
                      </a:endParaRPr>
                    </a:p>
                  </a:txBody>
                  <a:tcPr marL="45720" marR="45720" marT="45720" marB="45720"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r>
              <a:tr h="475488">
                <a:tc>
                  <a:txBody>
                    <a:bodyPr/>
                    <a:lstStyle/>
                    <a:p>
                      <a:pPr algn="ctr" indent="0" marL="0">
                        <a:buNone/>
                      </a:pPr>
                      <a:r>
                        <a:rPr lang="en-US" sz="880" dirty="0">
                          <a:solidFill>
                            <a:srgbClr val="24364B"/>
                          </a:solidFill>
                          <a:latin typeface="Aptos" pitchFamily="34" charset="0"/>
                          <a:ea typeface="Aptos" pitchFamily="34" charset="-122"/>
                          <a:cs typeface="Aptos" pitchFamily="34" charset="-120"/>
                        </a:rPr>
                        <a:t>ARIMA benchmark</a:t>
                      </a:r>
                      <a:endParaRPr lang="en-US" sz="880" dirty="0">
                        <a:latin typeface="Aptos" charset="0"/>
                        <a:ea typeface="Aptos" charset="0"/>
                        <a:cs typeface="Aptos" charset="0"/>
                      </a:endParaRPr>
                    </a:p>
                  </a:txBody>
                  <a:tcPr marL="45720" marR="45720" marT="45720" marB="45720"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24364B"/>
                          </a:solidFill>
                          <a:latin typeface="Aptos" pitchFamily="34" charset="0"/>
                          <a:ea typeface="Aptos" pitchFamily="34" charset="-122"/>
                          <a:cs typeface="Aptos" pitchFamily="34" charset="-120"/>
                        </a:rPr>
                        <a:t>RMSE 523.5</a:t>
                      </a:r>
                      <a:endParaRPr lang="en-US" sz="880" dirty="0">
                        <a:latin typeface="Aptos" charset="0"/>
                        <a:ea typeface="Aptos" charset="0"/>
                        <a:cs typeface="Aptos" charset="0"/>
                      </a:endParaRPr>
                    </a:p>
                  </a:txBody>
                  <a:tcPr marL="45720" marR="45720" marT="45720" marB="45720"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24364B"/>
                          </a:solidFill>
                          <a:latin typeface="Aptos" pitchFamily="34" charset="0"/>
                          <a:ea typeface="Aptos" pitchFamily="34" charset="-122"/>
                          <a:cs typeface="Aptos" pitchFamily="34" charset="-120"/>
                        </a:rPr>
                        <a:t>No gain over the naive forecast.</a:t>
                      </a:r>
                      <a:endParaRPr lang="en-US" sz="880" dirty="0">
                        <a:latin typeface="Aptos" charset="0"/>
                        <a:ea typeface="Aptos" charset="0"/>
                        <a:cs typeface="Aptos" charset="0"/>
                      </a:endParaRPr>
                    </a:p>
                  </a:txBody>
                  <a:tcPr marL="45720" marR="45720" marT="45720" marB="45720"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r>
              <a:tr h="475488">
                <a:tc>
                  <a:txBody>
                    <a:bodyPr/>
                    <a:lstStyle/>
                    <a:p>
                      <a:pPr algn="ctr" indent="0" marL="0">
                        <a:buNone/>
                      </a:pPr>
                      <a:r>
                        <a:rPr lang="en-US" sz="880" dirty="0">
                          <a:solidFill>
                            <a:srgbClr val="24364B"/>
                          </a:solidFill>
                          <a:latin typeface="Aptos" pitchFamily="34" charset="0"/>
                          <a:ea typeface="Aptos" pitchFamily="34" charset="-122"/>
                          <a:cs typeface="Aptos" pitchFamily="34" charset="-120"/>
                        </a:rPr>
                        <a:t>Cluster bootstrap</a:t>
                      </a:r>
                      <a:endParaRPr lang="en-US" sz="880" dirty="0">
                        <a:latin typeface="Aptos" charset="0"/>
                        <a:ea typeface="Aptos" charset="0"/>
                        <a:cs typeface="Aptos" charset="0"/>
                      </a:endParaRPr>
                    </a:p>
                  </a:txBody>
                  <a:tcPr marL="45720" marR="45720" marT="45720" marB="45720"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24364B"/>
                          </a:solidFill>
                          <a:latin typeface="Aptos" pitchFamily="34" charset="0"/>
                          <a:ea typeface="Aptos" pitchFamily="34" charset="-122"/>
                          <a:cs typeface="Aptos" pitchFamily="34" charset="-120"/>
                        </a:rPr>
                        <a:t>95% CI [-517.6, 149.7]</a:t>
                      </a:r>
                      <a:endParaRPr lang="en-US" sz="880" dirty="0">
                        <a:latin typeface="Aptos" charset="0"/>
                        <a:ea typeface="Aptos" charset="0"/>
                        <a:cs typeface="Aptos" charset="0"/>
                      </a:endParaRPr>
                    </a:p>
                  </a:txBody>
                  <a:tcPr marL="45720" marR="45720" marT="45720" marB="45720"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c>
                  <a:txBody>
                    <a:bodyPr/>
                    <a:lstStyle/>
                    <a:p>
                      <a:pPr algn="ctr" indent="0" marL="0">
                        <a:buNone/>
                      </a:pPr>
                      <a:r>
                        <a:rPr lang="en-US" sz="880" dirty="0">
                          <a:solidFill>
                            <a:srgbClr val="24364B"/>
                          </a:solidFill>
                          <a:latin typeface="Aptos" pitchFamily="34" charset="0"/>
                          <a:ea typeface="Aptos" pitchFamily="34" charset="-122"/>
                          <a:cs typeface="Aptos" pitchFamily="34" charset="-120"/>
                        </a:rPr>
                        <a:t>Interval still crosses zero.</a:t>
                      </a:r>
                      <a:endParaRPr lang="en-US" sz="880" dirty="0">
                        <a:latin typeface="Aptos" charset="0"/>
                        <a:ea typeface="Aptos" charset="0"/>
                        <a:cs typeface="Aptos" charset="0"/>
                      </a:endParaRPr>
                    </a:p>
                  </a:txBody>
                  <a:tcPr marL="45720" marR="45720" marT="45720" marB="45720" anchor="mid">
                    <a:lnL w="12700" cap="flat" cmpd="sng" algn="ctr">
                      <a:solidFill>
                        <a:srgbClr val="C9D8E8"/>
                      </a:solidFill>
                      <a:prstDash val="solid"/>
                      <a:round/>
                      <a:headEnd type="none" w="med" len="med"/>
                      <a:tailEnd type="none" w="med" len="med"/>
                    </a:lnL>
                    <a:lnR w="12700" cap="flat" cmpd="sng" algn="ctr">
                      <a:solidFill>
                        <a:srgbClr val="C9D8E8"/>
                      </a:solidFill>
                      <a:prstDash val="solid"/>
                      <a:round/>
                      <a:headEnd type="none" w="med" len="med"/>
                      <a:tailEnd type="none" w="med" len="med"/>
                    </a:lnR>
                    <a:lnT w="12700" cap="flat" cmpd="sng" algn="ctr">
                      <a:solidFill>
                        <a:srgbClr val="C9D8E8"/>
                      </a:solidFill>
                      <a:prstDash val="solid"/>
                      <a:round/>
                      <a:headEnd type="none" w="med" len="med"/>
                      <a:tailEnd type="none" w="med" len="med"/>
                    </a:lnT>
                    <a:lnB w="12700" cap="flat" cmpd="sng" algn="ctr">
                      <a:solidFill>
                        <a:srgbClr val="C9D8E8"/>
                      </a:solidFill>
                      <a:prstDash val="solid"/>
                      <a:round/>
                      <a:headEnd type="none" w="med" len="med"/>
                      <a:tailEnd type="none" w="med" len="med"/>
                    </a:lnB>
                    <a:solidFill>
                      <a:srgbClr val="FFFFFF"/>
                    </a:solidFill>
                  </a:tcPr>
                </a:tc>
              </a:tr>
            </a:tbl>
          </a:graphicData>
        </a:graphic>
      </p:graphicFrame>
      <p:sp>
        <p:nvSpPr>
          <p:cNvPr id="8" name="Shape 5"/>
          <p:cNvSpPr/>
          <p:nvPr/>
        </p:nvSpPr>
        <p:spPr>
          <a:xfrm>
            <a:off x="4526280" y="1389888"/>
            <a:ext cx="3886200" cy="4526280"/>
          </a:xfrm>
          <a:prstGeom prst="roundRect">
            <a:avLst>
              <a:gd name="adj" fmla="val 2118"/>
            </a:avLst>
          </a:prstGeom>
          <a:solidFill>
            <a:srgbClr val="FFFFFF"/>
          </a:solidFill>
          <a:ln w="12700">
            <a:solidFill>
              <a:srgbClr val="DDE8F2"/>
            </a:solidFill>
            <a:prstDash val="solid"/>
          </a:ln>
          <a:effectLst>
            <a:outerShdw sx="100000" sy="100000" kx="0" ky="0" algn="bl" rotWithShape="0" blurRad="38100" dist="19050" dir="2700000">
              <a:srgbClr val="000000">
                <a:alpha val="8000"/>
              </a:srgbClr>
            </a:outerShdw>
          </a:effectLst>
        </p:spPr>
      </p:sp>
      <p:pic>
        <p:nvPicPr>
          <p:cNvPr id="9" name="Image 0" descr="/workspaces/qm2023-capstone-silly-geese/results/figures/M2/plot3_dual_axis_outcome_driver.png">    </p:cNvPr>
          <p:cNvPicPr>
            <a:picLocks noChangeAspect="1"/>
          </p:cNvPicPr>
          <p:nvPr/>
        </p:nvPicPr>
        <p:blipFill>
          <a:blip r:embed="rId1"/>
          <a:srcRect l="0" r="0" t="0" b="0"/>
          <a:stretch/>
        </p:blipFill>
        <p:spPr>
          <a:xfrm>
            <a:off x="4636008" y="1499616"/>
            <a:ext cx="3666744" cy="3959352"/>
          </a:xfrm>
          <a:prstGeom prst="rect">
            <a:avLst/>
          </a:prstGeom>
        </p:spPr>
      </p:pic>
      <p:sp>
        <p:nvSpPr>
          <p:cNvPr id="10" name="Text 6"/>
          <p:cNvSpPr/>
          <p:nvPr/>
        </p:nvSpPr>
        <p:spPr>
          <a:xfrm>
            <a:off x="4654296" y="5532120"/>
            <a:ext cx="3630168" cy="146304"/>
          </a:xfrm>
          <a:prstGeom prst="rect">
            <a:avLst/>
          </a:prstGeom>
          <a:noFill/>
          <a:ln/>
        </p:spPr>
        <p:txBody>
          <a:bodyPr wrap="square" lIns="0" tIns="0" rIns="0" bIns="0" rtlCol="0" anchor="ctr">
            <a:normAutofit/>
          </a:bodyPr>
          <a:lstStyle/>
          <a:p>
            <a:pPr indent="0" marL="0">
              <a:buNone/>
            </a:pPr>
            <a:r>
              <a:rPr lang="en-US" sz="900" i="1" dirty="0">
                <a:solidFill>
                  <a:srgbClr val="5F7084"/>
                </a:solidFill>
                <a:latin typeface="Aptos" pitchFamily="34" charset="0"/>
                <a:ea typeface="Aptos" pitchFamily="34" charset="-122"/>
                <a:cs typeface="Aptos" pitchFamily="34" charset="-120"/>
              </a:rPr>
              <a:t>Figure 1. Dual-axis outcome vs. driver</a:t>
            </a:r>
            <a:endParaRPr lang="en-US" sz="900" dirty="0"/>
          </a:p>
        </p:txBody>
      </p:sp>
      <p:sp>
        <p:nvSpPr>
          <p:cNvPr id="11" name="Text 7"/>
          <p:cNvSpPr/>
          <p:nvPr/>
        </p:nvSpPr>
        <p:spPr>
          <a:xfrm>
            <a:off x="4654296" y="5696712"/>
            <a:ext cx="3630168" cy="146304"/>
          </a:xfrm>
          <a:prstGeom prst="rect">
            <a:avLst/>
          </a:prstGeom>
          <a:noFill/>
          <a:ln/>
        </p:spPr>
        <p:txBody>
          <a:bodyPr wrap="square" lIns="0" tIns="0" rIns="0" bIns="0" rtlCol="0" anchor="ctr">
            <a:normAutofit/>
          </a:bodyPr>
          <a:lstStyle/>
          <a:p>
            <a:pPr indent="0" marL="0">
              <a:buNone/>
            </a:pPr>
            <a:r>
              <a:rPr lang="en-US" sz="850" dirty="0">
                <a:solidFill>
                  <a:srgbClr val="5F7084"/>
                </a:solidFill>
                <a:latin typeface="Aptos" pitchFamily="34" charset="0"/>
                <a:ea typeface="Aptos" pitchFamily="34" charset="-122"/>
                <a:cs typeface="Aptos" pitchFamily="34" charset="-120"/>
              </a:rPr>
              <a:t>../figures/M2/plot3_dual_axis_outcome_driver.png</a:t>
            </a:r>
            <a:endParaRPr lang="en-US" sz="850" dirty="0"/>
          </a:p>
        </p:txBody>
      </p:sp>
      <p:sp>
        <p:nvSpPr>
          <p:cNvPr id="12" name="Text 8"/>
          <p:cNvSpPr/>
          <p:nvPr/>
        </p:nvSpPr>
        <p:spPr>
          <a:xfrm>
            <a:off x="502920" y="6510528"/>
            <a:ext cx="8138160" cy="146304"/>
          </a:xfrm>
          <a:prstGeom prst="rect">
            <a:avLst/>
          </a:prstGeom>
          <a:noFill/>
          <a:ln/>
        </p:spPr>
        <p:txBody>
          <a:bodyPr wrap="square" lIns="0" tIns="0" rIns="0" bIns="0" rtlCol="0" anchor="ctr"/>
          <a:lstStyle/>
          <a:p>
            <a:pPr indent="0" marL="0">
              <a:buNone/>
            </a:pPr>
            <a:r>
              <a:rPr lang="en-US" sz="800" dirty="0">
                <a:solidFill>
                  <a:srgbClr val="5F7084"/>
                </a:solidFill>
                <a:latin typeface="Aptos" pitchFamily="34" charset="0"/>
                <a:ea typeface="Aptos" pitchFamily="34" charset="-122"/>
                <a:cs typeface="Aptos" pitchFamily="34" charset="-120"/>
              </a:rPr>
              <a:t>Figure 1 source path when the deck lives in results/reports/: ../figures/M2/plot3_dual_axis_outcome_driver.png.</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8FD"/>
        </a:solidFill>
      </p:bgPr>
    </p:bg>
    <p:spTree>
      <p:nvGrpSpPr>
        <p:cNvPr id="1" name=""/>
        <p:cNvGrpSpPr/>
        <p:nvPr/>
      </p:nvGrpSpPr>
      <p:grpSpPr>
        <a:xfrm>
          <a:off x="0" y="0"/>
          <a:ext cx="0" cy="0"/>
          <a:chOff x="0" y="0"/>
          <a:chExt cx="0" cy="0"/>
        </a:xfrm>
      </p:grpSpPr>
      <p:sp>
        <p:nvSpPr>
          <p:cNvPr id="2" name="Shape 0"/>
          <p:cNvSpPr/>
          <p:nvPr/>
        </p:nvSpPr>
        <p:spPr>
          <a:xfrm>
            <a:off x="502920" y="292608"/>
            <a:ext cx="1417320" cy="310896"/>
          </a:xfrm>
          <a:prstGeom prst="roundRect">
            <a:avLst>
              <a:gd name="adj" fmla="val 23529"/>
            </a:avLst>
          </a:prstGeom>
          <a:solidFill>
            <a:srgbClr val="DCEEFF"/>
          </a:solidFill>
          <a:ln w="12700">
            <a:solidFill>
              <a:srgbClr val="DCEEFF"/>
            </a:solidFill>
            <a:prstDash val="solid"/>
          </a:ln>
        </p:spPr>
      </p:sp>
      <p:sp>
        <p:nvSpPr>
          <p:cNvPr id="3" name="Text 1"/>
          <p:cNvSpPr/>
          <p:nvPr/>
        </p:nvSpPr>
        <p:spPr>
          <a:xfrm>
            <a:off x="502920" y="320040"/>
            <a:ext cx="1417320" cy="201168"/>
          </a:xfrm>
          <a:prstGeom prst="rect">
            <a:avLst/>
          </a:prstGeom>
          <a:noFill/>
          <a:ln/>
        </p:spPr>
        <p:txBody>
          <a:bodyPr wrap="square" lIns="0" tIns="0" rIns="0" bIns="0" rtlCol="0" anchor="ctr"/>
          <a:lstStyle/>
          <a:p>
            <a:pPr algn="ctr" indent="0" marL="0">
              <a:buNone/>
            </a:pPr>
            <a:r>
              <a:rPr lang="en-US" sz="900" b="1" spc="110" kern="0" dirty="0">
                <a:solidFill>
                  <a:srgbClr val="102A43"/>
                </a:solidFill>
                <a:latin typeface="Trebuchet MS" pitchFamily="34" charset="0"/>
                <a:ea typeface="Trebuchet MS" pitchFamily="34" charset="-122"/>
                <a:cs typeface="Trebuchet MS" pitchFamily="34" charset="-120"/>
              </a:rPr>
              <a:t>DIAGNOSTICS</a:t>
            </a:r>
            <a:endParaRPr lang="en-US" sz="900" dirty="0"/>
          </a:p>
        </p:txBody>
      </p:sp>
      <p:sp>
        <p:nvSpPr>
          <p:cNvPr id="4" name="Text 2"/>
          <p:cNvSpPr/>
          <p:nvPr/>
        </p:nvSpPr>
        <p:spPr>
          <a:xfrm>
            <a:off x="502920" y="658368"/>
            <a:ext cx="7955280" cy="420624"/>
          </a:xfrm>
          <a:prstGeom prst="rect">
            <a:avLst/>
          </a:prstGeom>
          <a:noFill/>
          <a:ln/>
        </p:spPr>
        <p:txBody>
          <a:bodyPr wrap="square" lIns="0" tIns="0" rIns="0" bIns="0" rtlCol="0" anchor="ctr">
            <a:normAutofit/>
          </a:bodyPr>
          <a:lstStyle/>
          <a:p>
            <a:pPr indent="0" marL="0">
              <a:buNone/>
            </a:pPr>
            <a:r>
              <a:rPr lang="en-US" sz="2400" b="1" dirty="0">
                <a:solidFill>
                  <a:srgbClr val="102A43"/>
                </a:solidFill>
                <a:latin typeface="Trebuchet MS" pitchFamily="34" charset="0"/>
                <a:ea typeface="Trebuchet MS" pitchFamily="34" charset="-122"/>
                <a:cs typeface="Trebuchet MS" pitchFamily="34" charset="-120"/>
              </a:rPr>
              <a:t>Figure 2. Diagnostic plots</a:t>
            </a:r>
            <a:endParaRPr lang="en-US" sz="2400" dirty="0"/>
          </a:p>
        </p:txBody>
      </p:sp>
      <p:sp>
        <p:nvSpPr>
          <p:cNvPr id="5" name="Text 3"/>
          <p:cNvSpPr/>
          <p:nvPr/>
        </p:nvSpPr>
        <p:spPr>
          <a:xfrm>
            <a:off x="502920" y="1024128"/>
            <a:ext cx="8138160" cy="310896"/>
          </a:xfrm>
          <a:prstGeom prst="rect">
            <a:avLst/>
          </a:prstGeom>
          <a:noFill/>
          <a:ln/>
        </p:spPr>
        <p:txBody>
          <a:bodyPr wrap="square" lIns="0" tIns="0" rIns="0" bIns="0" rtlCol="0" anchor="ctr">
            <a:normAutofit/>
          </a:bodyPr>
          <a:lstStyle/>
          <a:p>
            <a:pPr indent="0" marL="0">
              <a:buNone/>
            </a:pPr>
            <a:r>
              <a:rPr lang="en-US" sz="1050" dirty="0">
                <a:solidFill>
                  <a:srgbClr val="5F7084"/>
                </a:solidFill>
                <a:latin typeface="Aptos" pitchFamily="34" charset="0"/>
                <a:ea typeface="Aptos" pitchFamily="34" charset="-122"/>
                <a:cs typeface="Aptos" pitchFamily="34" charset="-120"/>
              </a:rPr>
              <a:t>The residual checks do not look perfect, which is exactly why the clustered inference matters.</a:t>
            </a:r>
            <a:endParaRPr lang="en-US" sz="1050" dirty="0"/>
          </a:p>
        </p:txBody>
      </p:sp>
      <p:sp>
        <p:nvSpPr>
          <p:cNvPr id="6" name="Shape 4"/>
          <p:cNvSpPr/>
          <p:nvPr/>
        </p:nvSpPr>
        <p:spPr>
          <a:xfrm>
            <a:off x="502920" y="1417320"/>
            <a:ext cx="3794760" cy="2880360"/>
          </a:xfrm>
          <a:prstGeom prst="roundRect">
            <a:avLst>
              <a:gd name="adj" fmla="val 2857"/>
            </a:avLst>
          </a:prstGeom>
          <a:solidFill>
            <a:srgbClr val="FFFFFF"/>
          </a:solidFill>
          <a:ln w="12700">
            <a:solidFill>
              <a:srgbClr val="DDE8F2"/>
            </a:solidFill>
            <a:prstDash val="solid"/>
          </a:ln>
          <a:effectLst>
            <a:outerShdw sx="100000" sy="100000" kx="0" ky="0" algn="bl" rotWithShape="0" blurRad="38100" dist="19050" dir="2700000">
              <a:srgbClr val="000000">
                <a:alpha val="8000"/>
              </a:srgbClr>
            </a:outerShdw>
          </a:effectLst>
        </p:spPr>
      </p:sp>
      <p:pic>
        <p:nvPicPr>
          <p:cNvPr id="7" name="Image 0" descr="/workspaces/qm2023-capstone-silly-geese/results/figures/M3_residuals_vs_fitted.png">    </p:cNvPr>
          <p:cNvPicPr>
            <a:picLocks noChangeAspect="1"/>
          </p:cNvPicPr>
          <p:nvPr/>
        </p:nvPicPr>
        <p:blipFill>
          <a:blip r:embed="rId1"/>
          <a:srcRect l="0" r="0" t="0" b="0"/>
          <a:stretch/>
        </p:blipFill>
        <p:spPr>
          <a:xfrm>
            <a:off x="612648" y="1527048"/>
            <a:ext cx="3575304" cy="2313432"/>
          </a:xfrm>
          <a:prstGeom prst="rect">
            <a:avLst/>
          </a:prstGeom>
        </p:spPr>
      </p:pic>
      <p:sp>
        <p:nvSpPr>
          <p:cNvPr id="8" name="Text 5"/>
          <p:cNvSpPr/>
          <p:nvPr/>
        </p:nvSpPr>
        <p:spPr>
          <a:xfrm>
            <a:off x="630936" y="3913632"/>
            <a:ext cx="3538728" cy="146304"/>
          </a:xfrm>
          <a:prstGeom prst="rect">
            <a:avLst/>
          </a:prstGeom>
          <a:noFill/>
          <a:ln/>
        </p:spPr>
        <p:txBody>
          <a:bodyPr wrap="square" lIns="0" tIns="0" rIns="0" bIns="0" rtlCol="0" anchor="ctr">
            <a:normAutofit/>
          </a:bodyPr>
          <a:lstStyle/>
          <a:p>
            <a:pPr indent="0" marL="0">
              <a:buNone/>
            </a:pPr>
            <a:r>
              <a:rPr lang="en-US" sz="900" i="1" dirty="0">
                <a:solidFill>
                  <a:srgbClr val="5F7084"/>
                </a:solidFill>
                <a:latin typeface="Aptos" pitchFamily="34" charset="0"/>
                <a:ea typeface="Aptos" pitchFamily="34" charset="-122"/>
                <a:cs typeface="Aptos" pitchFamily="34" charset="-120"/>
              </a:rPr>
              <a:t>Figure 2A. Residuals vs. fitted</a:t>
            </a:r>
            <a:endParaRPr lang="en-US" sz="900" dirty="0"/>
          </a:p>
        </p:txBody>
      </p:sp>
      <p:sp>
        <p:nvSpPr>
          <p:cNvPr id="9" name="Text 6"/>
          <p:cNvSpPr/>
          <p:nvPr/>
        </p:nvSpPr>
        <p:spPr>
          <a:xfrm>
            <a:off x="630936" y="4078224"/>
            <a:ext cx="3538728" cy="146304"/>
          </a:xfrm>
          <a:prstGeom prst="rect">
            <a:avLst/>
          </a:prstGeom>
          <a:noFill/>
          <a:ln/>
        </p:spPr>
        <p:txBody>
          <a:bodyPr wrap="square" lIns="0" tIns="0" rIns="0" bIns="0" rtlCol="0" anchor="ctr">
            <a:normAutofit/>
          </a:bodyPr>
          <a:lstStyle/>
          <a:p>
            <a:pPr indent="0" marL="0">
              <a:buNone/>
            </a:pPr>
            <a:r>
              <a:rPr lang="en-US" sz="850" dirty="0">
                <a:solidFill>
                  <a:srgbClr val="5F7084"/>
                </a:solidFill>
                <a:latin typeface="Aptos" pitchFamily="34" charset="0"/>
                <a:ea typeface="Aptos" pitchFamily="34" charset="-122"/>
                <a:cs typeface="Aptos" pitchFamily="34" charset="-120"/>
              </a:rPr>
              <a:t>../figures/M3_residuals_vs_fitted.png</a:t>
            </a:r>
            <a:endParaRPr lang="en-US" sz="850" dirty="0"/>
          </a:p>
        </p:txBody>
      </p:sp>
      <p:sp>
        <p:nvSpPr>
          <p:cNvPr id="10" name="Shape 7"/>
          <p:cNvSpPr/>
          <p:nvPr/>
        </p:nvSpPr>
        <p:spPr>
          <a:xfrm>
            <a:off x="4526280" y="1417320"/>
            <a:ext cx="3794760" cy="2880360"/>
          </a:xfrm>
          <a:prstGeom prst="roundRect">
            <a:avLst>
              <a:gd name="adj" fmla="val 2857"/>
            </a:avLst>
          </a:prstGeom>
          <a:solidFill>
            <a:srgbClr val="FFFFFF"/>
          </a:solidFill>
          <a:ln w="12700">
            <a:solidFill>
              <a:srgbClr val="DDE8F2"/>
            </a:solidFill>
            <a:prstDash val="solid"/>
          </a:ln>
          <a:effectLst>
            <a:outerShdw sx="100000" sy="100000" kx="0" ky="0" algn="bl" rotWithShape="0" blurRad="38100" dist="19050" dir="2700000">
              <a:srgbClr val="000000">
                <a:alpha val="8000"/>
              </a:srgbClr>
            </a:outerShdw>
          </a:effectLst>
        </p:spPr>
      </p:sp>
      <p:pic>
        <p:nvPicPr>
          <p:cNvPr id="11" name="Image 1" descr="/workspaces/qm2023-capstone-silly-geese/results/figures/M3_qq_plot.png">    </p:cNvPr>
          <p:cNvPicPr>
            <a:picLocks noChangeAspect="1"/>
          </p:cNvPicPr>
          <p:nvPr/>
        </p:nvPicPr>
        <p:blipFill>
          <a:blip r:embed="rId2"/>
          <a:srcRect l="0" r="0" t="0" b="0"/>
          <a:stretch/>
        </p:blipFill>
        <p:spPr>
          <a:xfrm>
            <a:off x="4636008" y="1527048"/>
            <a:ext cx="3575304" cy="2313432"/>
          </a:xfrm>
          <a:prstGeom prst="rect">
            <a:avLst/>
          </a:prstGeom>
        </p:spPr>
      </p:pic>
      <p:sp>
        <p:nvSpPr>
          <p:cNvPr id="12" name="Text 8"/>
          <p:cNvSpPr/>
          <p:nvPr/>
        </p:nvSpPr>
        <p:spPr>
          <a:xfrm>
            <a:off x="4654296" y="3913632"/>
            <a:ext cx="3538728" cy="146304"/>
          </a:xfrm>
          <a:prstGeom prst="rect">
            <a:avLst/>
          </a:prstGeom>
          <a:noFill/>
          <a:ln/>
        </p:spPr>
        <p:txBody>
          <a:bodyPr wrap="square" lIns="0" tIns="0" rIns="0" bIns="0" rtlCol="0" anchor="ctr">
            <a:normAutofit/>
          </a:bodyPr>
          <a:lstStyle/>
          <a:p>
            <a:pPr indent="0" marL="0">
              <a:buNone/>
            </a:pPr>
            <a:r>
              <a:rPr lang="en-US" sz="900" i="1" dirty="0">
                <a:solidFill>
                  <a:srgbClr val="5F7084"/>
                </a:solidFill>
                <a:latin typeface="Aptos" pitchFamily="34" charset="0"/>
                <a:ea typeface="Aptos" pitchFamily="34" charset="-122"/>
                <a:cs typeface="Aptos" pitchFamily="34" charset="-120"/>
              </a:rPr>
              <a:t>Figure 2B. Q-Q plot</a:t>
            </a:r>
            <a:endParaRPr lang="en-US" sz="900" dirty="0"/>
          </a:p>
        </p:txBody>
      </p:sp>
      <p:sp>
        <p:nvSpPr>
          <p:cNvPr id="13" name="Text 9"/>
          <p:cNvSpPr/>
          <p:nvPr/>
        </p:nvSpPr>
        <p:spPr>
          <a:xfrm>
            <a:off x="4654296" y="4078224"/>
            <a:ext cx="3538728" cy="146304"/>
          </a:xfrm>
          <a:prstGeom prst="rect">
            <a:avLst/>
          </a:prstGeom>
          <a:noFill/>
          <a:ln/>
        </p:spPr>
        <p:txBody>
          <a:bodyPr wrap="square" lIns="0" tIns="0" rIns="0" bIns="0" rtlCol="0" anchor="ctr">
            <a:normAutofit/>
          </a:bodyPr>
          <a:lstStyle/>
          <a:p>
            <a:pPr indent="0" marL="0">
              <a:buNone/>
            </a:pPr>
            <a:r>
              <a:rPr lang="en-US" sz="850" dirty="0">
                <a:solidFill>
                  <a:srgbClr val="5F7084"/>
                </a:solidFill>
                <a:latin typeface="Aptos" pitchFamily="34" charset="0"/>
                <a:ea typeface="Aptos" pitchFamily="34" charset="-122"/>
                <a:cs typeface="Aptos" pitchFamily="34" charset="-120"/>
              </a:rPr>
              <a:t>../figures/M3_qq_plot.png</a:t>
            </a:r>
            <a:endParaRPr lang="en-US" sz="850" dirty="0"/>
          </a:p>
        </p:txBody>
      </p:sp>
      <p:sp>
        <p:nvSpPr>
          <p:cNvPr id="14" name="Shape 10"/>
          <p:cNvSpPr/>
          <p:nvPr/>
        </p:nvSpPr>
        <p:spPr>
          <a:xfrm>
            <a:off x="502920" y="4526280"/>
            <a:ext cx="7818120" cy="1234440"/>
          </a:xfrm>
          <a:prstGeom prst="roundRect">
            <a:avLst>
              <a:gd name="adj" fmla="val 6667"/>
            </a:avLst>
          </a:prstGeom>
          <a:solidFill>
            <a:srgbClr val="E7F1FB"/>
          </a:solidFill>
          <a:ln w="12700">
            <a:solidFill>
              <a:srgbClr val="DCEEFF"/>
            </a:solidFill>
            <a:prstDash val="solid"/>
          </a:ln>
          <a:effectLst>
            <a:outerShdw sx="100000" sy="100000" kx="0" ky="0" algn="bl" rotWithShape="0" blurRad="38100" dist="19050" dir="2700000">
              <a:srgbClr val="000000">
                <a:alpha val="75000"/>
              </a:srgbClr>
            </a:outerShdw>
          </a:effectLst>
        </p:spPr>
      </p:sp>
      <p:sp>
        <p:nvSpPr>
          <p:cNvPr id="15" name="Text 11"/>
          <p:cNvSpPr/>
          <p:nvPr/>
        </p:nvSpPr>
        <p:spPr>
          <a:xfrm>
            <a:off x="749808" y="4800600"/>
            <a:ext cx="7315200" cy="365760"/>
          </a:xfrm>
          <a:prstGeom prst="rect">
            <a:avLst/>
          </a:prstGeom>
          <a:noFill/>
          <a:ln/>
        </p:spPr>
        <p:txBody>
          <a:bodyPr wrap="square" lIns="0" tIns="0" rIns="0" bIns="0" rtlCol="0" anchor="ctr">
            <a:normAutofit/>
          </a:bodyPr>
          <a:lstStyle/>
          <a:p>
            <a:pPr indent="0" marL="0">
              <a:buNone/>
            </a:pPr>
            <a:r>
              <a:rPr lang="en-US" sz="1200" dirty="0">
                <a:solidFill>
                  <a:srgbClr val="102A43"/>
                </a:solidFill>
                <a:latin typeface="Aptos" pitchFamily="34" charset="0"/>
                <a:ea typeface="Aptos" pitchFamily="34" charset="-122"/>
                <a:cs typeface="Aptos" pitchFamily="34" charset="-120"/>
              </a:rPr>
              <a:t>Breusch-Pagan p = 0.0000, so constant-variance errors are not a good assumption. The max VIF is 2.74, which is comfortably below the usual multicollinearity warning zone.</a:t>
            </a:r>
            <a:endParaRPr lang="en-US" sz="1200" dirty="0"/>
          </a:p>
        </p:txBody>
      </p:sp>
      <p:sp>
        <p:nvSpPr>
          <p:cNvPr id="16" name="Text 12"/>
          <p:cNvSpPr/>
          <p:nvPr/>
        </p:nvSpPr>
        <p:spPr>
          <a:xfrm>
            <a:off x="749808" y="5230368"/>
            <a:ext cx="7315200" cy="201168"/>
          </a:xfrm>
          <a:prstGeom prst="rect">
            <a:avLst/>
          </a:prstGeom>
          <a:noFill/>
          <a:ln/>
        </p:spPr>
        <p:txBody>
          <a:bodyPr wrap="square" lIns="0" tIns="0" rIns="0" bIns="0" rtlCol="0" anchor="ctr">
            <a:normAutofit/>
          </a:bodyPr>
          <a:lstStyle/>
          <a:p>
            <a:pPr indent="0" marL="0">
              <a:buNone/>
            </a:pPr>
            <a:r>
              <a:rPr lang="en-US" sz="1050" i="1" dirty="0">
                <a:solidFill>
                  <a:srgbClr val="5F7084"/>
                </a:solidFill>
                <a:latin typeface="Aptos" pitchFamily="34" charset="0"/>
                <a:ea typeface="Aptos" pitchFamily="34" charset="-122"/>
                <a:cs typeface="Aptos" pitchFamily="34" charset="-120"/>
              </a:rPr>
              <a:t>Bottom line: the data are noisy and uneven, but not so collinear that the main coefficient is being mechanically distorted.</a:t>
            </a:r>
            <a:endParaRPr lang="en-US" sz="1050" dirty="0"/>
          </a:p>
        </p:txBody>
      </p:sp>
      <p:sp>
        <p:nvSpPr>
          <p:cNvPr id="17" name="Text 13"/>
          <p:cNvSpPr/>
          <p:nvPr/>
        </p:nvSpPr>
        <p:spPr>
          <a:xfrm>
            <a:off x="502920" y="6510528"/>
            <a:ext cx="8138160" cy="146304"/>
          </a:xfrm>
          <a:prstGeom prst="rect">
            <a:avLst/>
          </a:prstGeom>
          <a:noFill/>
          <a:ln/>
        </p:spPr>
        <p:txBody>
          <a:bodyPr wrap="square" lIns="0" tIns="0" rIns="0" bIns="0" rtlCol="0" anchor="ctr"/>
          <a:lstStyle/>
          <a:p>
            <a:pPr indent="0" marL="0">
              <a:buNone/>
            </a:pPr>
            <a:r>
              <a:rPr lang="en-US" sz="800" dirty="0">
                <a:solidFill>
                  <a:srgbClr val="5F7084"/>
                </a:solidFill>
                <a:latin typeface="Aptos" pitchFamily="34" charset="0"/>
                <a:ea typeface="Aptos" pitchFamily="34" charset="-122"/>
                <a:cs typeface="Aptos" pitchFamily="34" charset="-120"/>
              </a:rPr>
              <a:t>Diagnostics summarized from results/reports/M3_diagnostics_summary.txt and results/tables/M3_vif_results.csv.</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548640" y="-640080"/>
            <a:ext cx="2103120" cy="2103120"/>
          </a:xfrm>
          <a:prstGeom prst="ellipse">
            <a:avLst/>
          </a:prstGeom>
          <a:solidFill>
            <a:srgbClr val="58A6FF">
              <a:alpha val="28000"/>
            </a:srgbClr>
          </a:solidFill>
          <a:ln w="12700">
            <a:solidFill>
              <a:srgbClr val="58A6FF">
                <a:alpha val="0"/>
              </a:srgbClr>
            </a:solidFill>
            <a:prstDash val="solid"/>
          </a:ln>
        </p:spPr>
      </p:sp>
      <p:sp>
        <p:nvSpPr>
          <p:cNvPr id="3" name="Shape 1"/>
          <p:cNvSpPr/>
          <p:nvPr/>
        </p:nvSpPr>
        <p:spPr>
          <a:xfrm>
            <a:off x="7955280" y="4617720"/>
            <a:ext cx="2011680" cy="2011680"/>
          </a:xfrm>
          <a:prstGeom prst="ellipse">
            <a:avLst/>
          </a:prstGeom>
          <a:solidFill>
            <a:srgbClr val="DCEEFF">
              <a:alpha val="22000"/>
            </a:srgbClr>
          </a:solidFill>
          <a:ln w="12700">
            <a:solidFill>
              <a:srgbClr val="DCEEFF">
                <a:alpha val="0"/>
              </a:srgbClr>
            </a:solidFill>
            <a:prstDash val="solid"/>
          </a:ln>
        </p:spPr>
      </p:sp>
      <p:sp>
        <p:nvSpPr>
          <p:cNvPr id="4" name="Text 2"/>
          <p:cNvSpPr/>
          <p:nvPr/>
        </p:nvSpPr>
        <p:spPr>
          <a:xfrm>
            <a:off x="658368" y="804672"/>
            <a:ext cx="4480560" cy="100584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Conclusions &amp;</a:t>
            </a:r>
            <a:endParaRPr lang="en-US" sz="3000" dirty="0"/>
          </a:p>
          <a:p>
            <a:pPr indent="0" marL="0">
              <a:buNone/>
            </a:pPr>
            <a:r>
              <a:rPr lang="en-US" sz="3000" b="1" dirty="0">
                <a:solidFill>
                  <a:srgbClr val="FFFFFF"/>
                </a:solidFill>
                <a:latin typeface="Trebuchet MS" pitchFamily="34" charset="0"/>
                <a:ea typeface="Trebuchet MS" pitchFamily="34" charset="-122"/>
                <a:cs typeface="Trebuchet MS" pitchFamily="34" charset="-120"/>
              </a:rPr>
              <a:t>Recommendations</a:t>
            </a:r>
            <a:endParaRPr lang="en-US" sz="3000" dirty="0"/>
          </a:p>
        </p:txBody>
      </p:sp>
      <p:sp>
        <p:nvSpPr>
          <p:cNvPr id="5" name="Text 3"/>
          <p:cNvSpPr/>
          <p:nvPr/>
        </p:nvSpPr>
        <p:spPr>
          <a:xfrm>
            <a:off x="676656" y="1938528"/>
            <a:ext cx="4297680" cy="384048"/>
          </a:xfrm>
          <a:prstGeom prst="rect">
            <a:avLst/>
          </a:prstGeom>
          <a:noFill/>
          <a:ln/>
        </p:spPr>
        <p:txBody>
          <a:bodyPr wrap="square" lIns="0" tIns="0" rIns="0" bIns="0" rtlCol="0" anchor="ctr">
            <a:normAutofit/>
          </a:bodyPr>
          <a:lstStyle/>
          <a:p>
            <a:pPr indent="0" marL="0">
              <a:buNone/>
            </a:pPr>
            <a:r>
              <a:rPr lang="en-US" sz="1300" dirty="0">
                <a:solidFill>
                  <a:srgbClr val="D7E6F7"/>
                </a:solidFill>
                <a:latin typeface="Aptos" pitchFamily="34" charset="0"/>
                <a:ea typeface="Aptos" pitchFamily="34" charset="-122"/>
                <a:cs typeface="Aptos" pitchFamily="34" charset="-120"/>
              </a:rPr>
              <a:t>The most honest reading is that lobbying is a noisy signal, not a dependable profit lever.</a:t>
            </a:r>
            <a:endParaRPr lang="en-US" sz="1300" dirty="0"/>
          </a:p>
        </p:txBody>
      </p:sp>
      <p:sp>
        <p:nvSpPr>
          <p:cNvPr id="6" name="Shape 4"/>
          <p:cNvSpPr/>
          <p:nvPr/>
        </p:nvSpPr>
        <p:spPr>
          <a:xfrm>
            <a:off x="5440680" y="777240"/>
            <a:ext cx="3429000" cy="2011680"/>
          </a:xfrm>
          <a:prstGeom prst="roundRect">
            <a:avLst>
              <a:gd name="adj" fmla="val 4091"/>
            </a:avLst>
          </a:prstGeom>
          <a:solidFill>
            <a:srgbClr val="FFFFFF"/>
          </a:solidFill>
          <a:ln w="12700">
            <a:solidFill>
              <a:srgbClr val="DDE8F2"/>
            </a:solidFill>
            <a:prstDash val="solid"/>
          </a:ln>
          <a:effectLst>
            <a:outerShdw sx="100000" sy="100000" kx="0" ky="0" algn="bl" rotWithShape="0" blurRad="38100" dist="19050" dir="2700000">
              <a:srgbClr val="000000">
                <a:alpha val="8000"/>
              </a:srgbClr>
            </a:outerShdw>
          </a:effectLst>
        </p:spPr>
      </p:sp>
      <p:sp>
        <p:nvSpPr>
          <p:cNvPr id="7" name="Text 5"/>
          <p:cNvSpPr/>
          <p:nvPr/>
        </p:nvSpPr>
        <p:spPr>
          <a:xfrm>
            <a:off x="5669280" y="1005840"/>
            <a:ext cx="2926080" cy="182880"/>
          </a:xfrm>
          <a:prstGeom prst="rect">
            <a:avLst/>
          </a:prstGeom>
          <a:noFill/>
          <a:ln/>
        </p:spPr>
        <p:txBody>
          <a:bodyPr wrap="square" lIns="0" tIns="0" rIns="0" bIns="0" rtlCol="0" anchor="ctr"/>
          <a:lstStyle/>
          <a:p>
            <a:pPr indent="0" marL="0">
              <a:buNone/>
            </a:pPr>
            <a:r>
              <a:rPr lang="en-US" sz="1600" b="1" dirty="0">
                <a:solidFill>
                  <a:srgbClr val="102A43"/>
                </a:solidFill>
                <a:latin typeface="Trebuchet MS" pitchFamily="34" charset="0"/>
                <a:ea typeface="Trebuchet MS" pitchFamily="34" charset="-122"/>
                <a:cs typeface="Trebuchet MS" pitchFamily="34" charset="-120"/>
              </a:rPr>
              <a:t>Investment implications</a:t>
            </a:r>
            <a:endParaRPr lang="en-US" sz="1600" dirty="0"/>
          </a:p>
        </p:txBody>
      </p:sp>
      <p:sp>
        <p:nvSpPr>
          <p:cNvPr id="8" name="Text 6"/>
          <p:cNvSpPr/>
          <p:nvPr/>
        </p:nvSpPr>
        <p:spPr>
          <a:xfrm>
            <a:off x="5669280" y="1325880"/>
            <a:ext cx="2971800" cy="1005840"/>
          </a:xfrm>
          <a:prstGeom prst="rect">
            <a:avLst/>
          </a:prstGeom>
          <a:noFill/>
          <a:ln/>
        </p:spPr>
        <p:txBody>
          <a:bodyPr wrap="square" lIns="0" tIns="0" rIns="0" bIns="0" rtlCol="0" anchor="ctr">
            <a:normAutofit/>
          </a:bodyPr>
          <a:lstStyle/>
          <a:p>
            <a:pPr indent="0" marL="0">
              <a:buNone/>
            </a:pPr>
            <a:r>
              <a:rPr lang="en-US" sz="1180" dirty="0">
                <a:solidFill>
                  <a:srgbClr val="24364B"/>
                </a:solidFill>
                <a:latin typeface="Aptos" pitchFamily="34" charset="0"/>
                <a:ea typeface="Aptos" pitchFamily="34" charset="-122"/>
                <a:cs typeface="Aptos" pitchFamily="34" charset="-120"/>
              </a:rPr>
              <a:t>Favor firms with steadier earnings and lower policy dependence. If you need a portfolio tilt, underweight heavy lobbyers only as a cautious screen, not as a standalone trade.</a:t>
            </a:r>
            <a:endParaRPr lang="en-US" sz="1180" dirty="0"/>
          </a:p>
        </p:txBody>
      </p:sp>
      <p:sp>
        <p:nvSpPr>
          <p:cNvPr id="9" name="Shape 7"/>
          <p:cNvSpPr/>
          <p:nvPr/>
        </p:nvSpPr>
        <p:spPr>
          <a:xfrm>
            <a:off x="5440680" y="3017520"/>
            <a:ext cx="3429000" cy="1828800"/>
          </a:xfrm>
          <a:prstGeom prst="roundRect">
            <a:avLst>
              <a:gd name="adj" fmla="val 4500"/>
            </a:avLst>
          </a:prstGeom>
          <a:solidFill>
            <a:srgbClr val="FFFFFF"/>
          </a:solidFill>
          <a:ln w="12700">
            <a:solidFill>
              <a:srgbClr val="DDE8F2"/>
            </a:solidFill>
            <a:prstDash val="solid"/>
          </a:ln>
          <a:effectLst>
            <a:outerShdw sx="100000" sy="100000" kx="0" ky="0" algn="bl" rotWithShape="0" blurRad="38100" dist="19050" dir="2700000">
              <a:srgbClr val="000000">
                <a:alpha val="8000"/>
              </a:srgbClr>
            </a:outerShdw>
          </a:effectLst>
        </p:spPr>
      </p:sp>
      <p:sp>
        <p:nvSpPr>
          <p:cNvPr id="10" name="Text 8"/>
          <p:cNvSpPr/>
          <p:nvPr/>
        </p:nvSpPr>
        <p:spPr>
          <a:xfrm>
            <a:off x="5669280" y="3246120"/>
            <a:ext cx="2743200" cy="182880"/>
          </a:xfrm>
          <a:prstGeom prst="rect">
            <a:avLst/>
          </a:prstGeom>
          <a:noFill/>
          <a:ln/>
        </p:spPr>
        <p:txBody>
          <a:bodyPr wrap="square" lIns="0" tIns="0" rIns="0" bIns="0" rtlCol="0" anchor="ctr"/>
          <a:lstStyle/>
          <a:p>
            <a:pPr indent="0" marL="0">
              <a:buNone/>
            </a:pPr>
            <a:r>
              <a:rPr lang="en-US" sz="1600" b="1" dirty="0">
                <a:solidFill>
                  <a:srgbClr val="102A43"/>
                </a:solidFill>
                <a:latin typeface="Trebuchet MS" pitchFamily="34" charset="0"/>
                <a:ea typeface="Trebuchet MS" pitchFamily="34" charset="-122"/>
                <a:cs typeface="Trebuchet MS" pitchFamily="34" charset="-120"/>
              </a:rPr>
              <a:t>Risk assessment</a:t>
            </a:r>
            <a:endParaRPr lang="en-US" sz="1600" dirty="0"/>
          </a:p>
        </p:txBody>
      </p:sp>
      <p:sp>
        <p:nvSpPr>
          <p:cNvPr id="11" name="Text 9"/>
          <p:cNvSpPr/>
          <p:nvPr/>
        </p:nvSpPr>
        <p:spPr>
          <a:xfrm>
            <a:off x="5669280" y="3547872"/>
            <a:ext cx="2971800" cy="960120"/>
          </a:xfrm>
          <a:prstGeom prst="rect">
            <a:avLst/>
          </a:prstGeom>
          <a:noFill/>
          <a:ln/>
        </p:spPr>
        <p:txBody>
          <a:bodyPr wrap="square" lIns="0" tIns="0" rIns="0" bIns="0" rtlCol="0" anchor="ctr">
            <a:normAutofit/>
          </a:bodyPr>
          <a:lstStyle/>
          <a:p>
            <a:pPr indent="0" marL="0">
              <a:buNone/>
            </a:pPr>
            <a:r>
              <a:rPr lang="en-US" sz="1140" dirty="0">
                <a:solidFill>
                  <a:srgbClr val="24364B"/>
                </a:solidFill>
                <a:latin typeface="Aptos" pitchFamily="34" charset="0"/>
                <a:ea typeface="Aptos" pitchFamily="34" charset="-122"/>
                <a:cs typeface="Aptos" pitchFamily="34" charset="-120"/>
              </a:rPr>
              <a:t>Main risks: reverse causality, omitted firm strategy, sparse lobbying coverage, and the usual fixed-effects assumptions. The sector signal is also weaker than a full classification-based study would allow.</a:t>
            </a:r>
            <a:endParaRPr lang="en-US" sz="1140" dirty="0"/>
          </a:p>
        </p:txBody>
      </p:sp>
      <p:sp>
        <p:nvSpPr>
          <p:cNvPr id="12" name="Shape 10"/>
          <p:cNvSpPr/>
          <p:nvPr/>
        </p:nvSpPr>
        <p:spPr>
          <a:xfrm>
            <a:off x="5440680" y="5074920"/>
            <a:ext cx="3429000" cy="868680"/>
          </a:xfrm>
          <a:prstGeom prst="roundRect">
            <a:avLst>
              <a:gd name="adj" fmla="val 9474"/>
            </a:avLst>
          </a:prstGeom>
          <a:solidFill>
            <a:srgbClr val="E7F1FB"/>
          </a:solidFill>
          <a:ln w="12700">
            <a:solidFill>
              <a:srgbClr val="DCEEFF"/>
            </a:solidFill>
            <a:prstDash val="solid"/>
          </a:ln>
          <a:effectLst>
            <a:outerShdw sx="100000" sy="100000" kx="0" ky="0" algn="bl" rotWithShape="0" blurRad="38100" dist="19050" dir="2700000">
              <a:srgbClr val="000000">
                <a:alpha val="75000"/>
              </a:srgbClr>
            </a:outerShdw>
          </a:effectLst>
        </p:spPr>
      </p:sp>
      <p:sp>
        <p:nvSpPr>
          <p:cNvPr id="13" name="Text 11"/>
          <p:cNvSpPr/>
          <p:nvPr/>
        </p:nvSpPr>
        <p:spPr>
          <a:xfrm>
            <a:off x="5650992" y="5285232"/>
            <a:ext cx="2971800" cy="320040"/>
          </a:xfrm>
          <a:prstGeom prst="rect">
            <a:avLst/>
          </a:prstGeom>
          <a:noFill/>
          <a:ln/>
        </p:spPr>
        <p:txBody>
          <a:bodyPr wrap="square" lIns="0" tIns="0" rIns="0" bIns="0" rtlCol="0" anchor="ctr">
            <a:normAutofit/>
          </a:bodyPr>
          <a:lstStyle/>
          <a:p>
            <a:pPr indent="0" marL="0">
              <a:buNone/>
            </a:pPr>
            <a:r>
              <a:rPr lang="en-US" sz="1050" dirty="0">
                <a:solidFill>
                  <a:srgbClr val="102A43"/>
                </a:solidFill>
                <a:latin typeface="Aptos" pitchFamily="34" charset="0"/>
                <a:ea typeface="Aptos" pitchFamily="34" charset="-122"/>
                <a:cs typeface="Aptos" pitchFamily="34" charset="-120"/>
              </a:rPr>
              <a:t>Scenario view: if the lagged negative pattern is real, it should show up after a delay. If reverse causality dominates, the signal should weaken quickly.</a:t>
            </a:r>
            <a:endParaRPr lang="en-US" sz="1050" dirty="0"/>
          </a:p>
        </p:txBody>
      </p:sp>
      <p:sp>
        <p:nvSpPr>
          <p:cNvPr id="14" name="Text 12"/>
          <p:cNvSpPr/>
          <p:nvPr/>
        </p:nvSpPr>
        <p:spPr>
          <a:xfrm>
            <a:off x="676656" y="5440680"/>
            <a:ext cx="4206240" cy="25603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Trebuchet MS" pitchFamily="34" charset="0"/>
                <a:ea typeface="Trebuchet MS" pitchFamily="34" charset="-122"/>
                <a:cs typeface="Trebuchet MS" pitchFamily="34" charset="-120"/>
              </a:rPr>
              <a:t>Bottom line: do not pay up for lobbying as if it were a proven profitability engine.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QM 2023 Capstone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Lobbying and Profitability</dc:title>
  <dc:subject>Lobbying and profitability presentation</dc:subject>
  <dc:creator>GitHub Copilot</dc:creator>
  <cp:lastModifiedBy>GitHub Copilot</cp:lastModifiedBy>
  <cp:revision>1</cp:revision>
  <dcterms:created xsi:type="dcterms:W3CDTF">2026-04-30T20:40:54Z</dcterms:created>
  <dcterms:modified xsi:type="dcterms:W3CDTF">2026-04-30T20:40:54Z</dcterms:modified>
</cp:coreProperties>
</file>