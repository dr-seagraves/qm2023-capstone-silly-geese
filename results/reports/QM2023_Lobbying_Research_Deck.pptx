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46720" y="731520"/>
            <a:ext cx="3931920" cy="1920240"/>
          </a:xfrm>
          <a:prstGeom prst="roundRect">
            <a:avLst/>
          </a:prstGeom>
          <a:solidFill>
            <a:srgbClr val="11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79" y="2880360"/>
            <a:ext cx="4480560" cy="2286000"/>
          </a:xfrm>
          <a:prstGeom prst="roundRect">
            <a:avLst/>
          </a:prstGeom>
          <a:solidFill>
            <a:srgbClr val="5C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FFFFFF"/>
                </a:solidFill>
                <a:latin typeface="Cambria"/>
              </a:defRPr>
            </a:pPr>
            <a:r>
              <a:t>Lobbying and Firm Profitability</a:t>
            </a:r>
          </a:p>
          <a:p>
            <a:pPr>
              <a:defRPr sz="2200">
                <a:solidFill>
                  <a:srgbClr val="DCEBFF"/>
                </a:solidFill>
                <a:latin typeface="Calibri"/>
              </a:defRPr>
            </a:pPr>
            <a:r>
              <a:t>A Panel-Data Research Synthesis (2010-2020)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QM 2023 Capstone Team</a:t>
            </a:r>
          </a:p>
          <a:p>
            <a:pPr>
              <a:defRPr sz="1500">
                <a:solidFill>
                  <a:srgbClr val="DCEBFF"/>
                </a:solidFill>
                <a:latin typeface="Calibri"/>
              </a:defRPr>
            </a:pPr>
            <a:r>
              <a:t>Alycia Reji • Gracie Vivion • Shelby Howard • Daniz Mammadova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BFF"/>
                </a:solidFill>
                <a:latin typeface="Calibri"/>
              </a:defRPr>
            </a:pPr>
            <a:r>
              <a:t>Research deck generated from project outputs in this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1. Research question and hypotheses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2. Data pipeline, coverage, and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4495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3. EDA insights: correlation, lag structure, and heterogeneity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67911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4. Econometric design: two-way fixed effects + robustness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908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5. Diagnostics, forecast benchmark, and interpretation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881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51383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2134"/>
                </a:solidFill>
                <a:latin typeface="Calibri"/>
              </a:defRPr>
            </a:pPr>
            <a:r>
              <a:t>6. Conclusions, limitations, and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Theme: midnight executive (navy + ice blue)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Research Question and Testable Hypotheses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0972800" cy="96012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618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mbria"/>
              </a:defRPr>
            </a:pPr>
            <a:r>
              <a:t>What is the relationship between firm lobbying expenditures and subsequent profitability?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5440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H1: Higher lobbying spend is associated with higher subsequent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H2: Effects appear with 1-2 year lags rather than contemporaneously.</a:t>
            </a:r>
          </a:p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H3a: Effect magnitude differs by firm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240280"/>
            <a:ext cx="5394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H3b: Effects are stronger in policy-exposed industries.</a:t>
            </a:r>
          </a:p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H4: Positive relationship should survive log-scaling/outlier robustness.</a:t>
            </a:r>
          </a:p>
          <a:p>
            <a:pPr>
              <a:spcAft>
                <a:spcPts val="1200"/>
              </a:spcAft>
              <a:defRPr sz="1700">
                <a:solidFill>
                  <a:srgbClr val="162134"/>
                </a:solidFill>
                <a:latin typeface="Calibri"/>
              </a:defRPr>
            </a:pPr>
            <a:r>
              <a:t>H5: Controls should attenuate, not fully erase, the lobbying coefficient.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Hypothesis set compiled from EDA and M3 interpretation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Data Pipeline and Coverage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B1F3A"/>
                </a:solidFill>
                <a:latin typeface="Cambria"/>
              </a:defRPr>
            </a:pPr>
            <a: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62134"/>
                </a:solidFill>
                <a:latin typeface="Calibri"/>
              </a:defRPr>
            </a:pPr>
            <a:r>
              <a:t>4,932 rows</a:t>
            </a:r>
            <a:br/>
            <a:r>
              <a:t>1,375 firms</a:t>
            </a:r>
            <a:br/>
            <a:r>
              <a:t>SEC 10-K (2010-2020)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8016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48132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B1F3A"/>
                </a:solidFill>
                <a:latin typeface="Cambria"/>
              </a:defRPr>
            </a:pPr>
            <a:r>
              <a:t>Lobbying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2024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62134"/>
                </a:solidFill>
                <a:latin typeface="Calibri"/>
              </a:defRPr>
            </a:pPr>
            <a:r>
              <a:t>11,619 rows</a:t>
            </a:r>
            <a:br/>
            <a:r>
              <a:t>1,534 firms</a:t>
            </a:r>
            <a:br/>
            <a:r>
              <a:t>Senate filings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8132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B1F3A"/>
                </a:solidFill>
                <a:latin typeface="Cambria"/>
              </a:defRPr>
            </a:pPr>
            <a:r>
              <a:t>Merged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62134"/>
                </a:solidFill>
                <a:latin typeface="Calibri"/>
              </a:defRPr>
            </a:pPr>
            <a:r>
              <a:t>5,099 rows</a:t>
            </a:r>
            <a:br/>
            <a:r>
              <a:t>1,375 firms</a:t>
            </a:r>
            <a:br/>
            <a:r>
              <a:t>firm-year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28016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48132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0B1F3A"/>
                </a:solidFill>
                <a:latin typeface="Cambria"/>
              </a:defRPr>
            </a:pPr>
            <a:r>
              <a:t>Balanced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1920240"/>
            <a:ext cx="2377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62134"/>
                </a:solidFill>
                <a:latin typeface="Calibri"/>
              </a:defRPr>
            </a:pPr>
            <a:r>
              <a:t>836 rows</a:t>
            </a:r>
            <a:br/>
            <a:r>
              <a:t>66 firms</a:t>
            </a:r>
            <a:br/>
            <a:r>
              <a:t>strict 2010-2020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134"/>
                </a:solidFill>
                <a:latin typeface="Calibri"/>
              </a:defRPr>
            </a:pPr>
            <a:r>
              <a:t>Crosswalk coverage is the key bottleneck: 1,428 rows map to gvkey; 3,671 do not.</a:t>
            </a:r>
          </a:p>
          <a:p>
            <a:pPr>
              <a:spcAft>
                <a:spcPts val="800"/>
              </a:spcAft>
              <a:defRPr sz="1600">
                <a:solidFill>
                  <a:srgbClr val="162134"/>
                </a:solidFill>
                <a:latin typeface="Calibri"/>
              </a:defRPr>
            </a:pPr>
            <a:r>
              <a:t>Only 245 merged rows contain non-missing lobbying spend (4.8% of merged panel).</a:t>
            </a:r>
          </a:p>
          <a:p>
            <a:pPr>
              <a:spcAft>
                <a:spcPts val="800"/>
              </a:spcAft>
              <a:defRPr sz="1600">
                <a:solidFill>
                  <a:srgbClr val="162134"/>
                </a:solidFill>
                <a:latin typeface="Calibri"/>
              </a:defRPr>
            </a:pPr>
            <a:r>
              <a:t>Balanced panel improves temporal consistency but removes 83.6% of rows.</a:t>
            </a:r>
          </a:p>
          <a:p>
            <a:pPr>
              <a:spcAft>
                <a:spcPts val="800"/>
              </a:spcAft>
              <a:defRPr sz="1600">
                <a:solidFill>
                  <a:srgbClr val="162134"/>
                </a:solidFill>
                <a:latin typeface="Calibri"/>
              </a:defRPr>
            </a:pPr>
            <a:r>
              <a:t>Interpret estimates with explicit attention to sparse treatment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Source: quality_report.md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Data Quality Risks and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577840" cy="521208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234440"/>
            <a:ext cx="50749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  <a:latin typeface="Calibri"/>
              </a:defRPr>
            </a:pPr>
            <a:r>
              <a:t>Main Risks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Missing lobbying spend: 95.2% of merged rows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ROA distribution has extreme tails (mean unstable)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Crosswalk incompleteness limits merged support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Potential omitted-variable and timing bias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0B1F3A"/>
                </a:solidFill>
                <a:latin typeface="Calibri"/>
              </a:defRPr>
            </a:pPr>
            <a:r>
              <a:t>Practical Implication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Need robust inference, outlier checks, lag tests, and cautious causal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617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  <a:latin typeface="Calibri"/>
              </a:defRPr>
            </a:pPr>
            <a:r>
              <a:t>What We Did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Two-way fixed effects (firm + year)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Clustered SE at firm level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Lag structure comparison (t-1, t-2, t-3)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Placebo lead test for timing/reverse causality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Excluding 2020 shock-year robustness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Size-based heterogeneity splits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Bootstrap interval for lobbying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Risk framing: association-first, causality guarded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EDA Signal: Positive Co-Movement, Moderate Strength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ot1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087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F3A"/>
                </a:solidFill>
                <a:latin typeface="Calibri"/>
              </a:defRPr>
            </a:pPr>
            <a:r>
              <a:t>Evidence Summary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Lobbying and firm performance move together positively in raw data.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Relationship is moderate, not overwhelming.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Control additions attenuate coefficients but often preserve directional signal.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• Outliers amplify magnitude in levels; sign tends to persist under robust checks.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</a:p>
          <a:p>
            <a:pPr>
              <a:defRPr sz="2100" b="1">
                <a:solidFill>
                  <a:srgbClr val="0B1F3A"/>
                </a:solidFill>
                <a:latin typeface="Calibri"/>
              </a:defRPr>
            </a:pPr>
            <a:r>
              <a:t>Interpretation</a:t>
            </a:r>
          </a:p>
          <a:p>
            <a:pPr>
              <a:defRPr sz="1600" b="0">
                <a:solidFill>
                  <a:srgbClr val="162134"/>
                </a:solidFill>
                <a:latin typeface="Calibri"/>
              </a:defRPr>
            </a:pPr>
            <a:r>
              <a:t>Data is consistent with a selection-plus-impact narrative: stronger firms lobby more, and lobbying may add incremental association.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Figure: M2 plot1_correlation_heatmap.png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Lag Dynamics: Effects Emerge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498079" cy="525780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ot4_lagged_effec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54480"/>
            <a:ext cx="70408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71600"/>
            <a:ext cx="36118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  <a:latin typeface="Calibri"/>
              </a:defRPr>
            </a:pPr>
            <a:r>
              <a:t>Model Evidence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Lag 1: -174.6 (p=0.135, clustered)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Lag 2: -95.3 (p=0.272)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Lag 3: 38.5 (p=0.648)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Lead 1 placebo: -302.7 (p=0.069)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</a:p>
          <a:p>
            <a:pPr>
              <a:defRPr sz="2000" b="1">
                <a:solidFill>
                  <a:srgbClr val="0B1F3A"/>
                </a:solidFill>
                <a:latin typeface="Calibri"/>
              </a:defRPr>
            </a:pPr>
            <a:r>
              <a:t>Takeaway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Timing patterns are not cleanly causal; lead effect suggests potential anticipation or reverse-causality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Lag and lead metrics from M3 robustness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Heterogeneity and Leverage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577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ot8_outcome_by_driver_quin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21208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23444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ot6_control_scatter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4663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16052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Group sensitivity: association appears stronger for larger and policy-exposed firms in EDA narrative.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FE heterogeneity split: small firms beta=-5753.9 (p=0.156, imprecise) vs large firms beta=-24.1 (p&lt;0.001).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Outlier influence: extreme spenders/very large firms materially affect slope magnitude in levels.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Robust interpretation: concentration at the top changes effect size more than directional pattern in many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Figures: M2 plot8 and plot6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Econometric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972800" cy="123444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B1F3A"/>
                </a:solidFill>
                <a:latin typeface="Consolas"/>
              </a:defRPr>
            </a:pPr>
            <a:r>
              <a:t>ROA_it = beta*Lobbying_{i,t-1} + theta1*log(Assets_it) + theta2*log(Revenues_it) + alpha_i + gamma_t + epsilon_it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212080" cy="347472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8463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1F3A"/>
                </a:solidFill>
                <a:latin typeface="Calibri"/>
              </a:defRPr>
            </a:pPr>
            <a:r>
              <a:t>Identification Features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Firm fixed effects remove time-invariant heterogeneity.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Year fixed effects absorb macro shocks.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Lagged lobbying reduces contemporaneous simultaneity.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Clustered SEs handle within-firm dependence.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48463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1F3A"/>
                </a:solidFill>
                <a:latin typeface="Calibri"/>
              </a:defRPr>
            </a:pPr>
            <a:r>
              <a:t>Threats to Causal Interpretation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Lead placebo signal implies timing concern.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Sparse non-missing lobbying reduces support.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Unobserved time-varying strategy may remain.</a:t>
            </a:r>
          </a:p>
          <a:p>
            <a:pPr>
              <a:defRPr sz="1400" b="0">
                <a:solidFill>
                  <a:srgbClr val="162134"/>
                </a:solidFill>
                <a:latin typeface="Calibri"/>
              </a:defRPr>
            </a:pPr>
            <a:r>
              <a:t>• Results should be framed as association-first.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Model A: two-way FE panel with firm-clustered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Main Results: FE Coefficients and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77724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645920"/>
          <a:ext cx="6812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34440"/>
                <a:gridCol w="1143000"/>
                <a:gridCol w="1051560"/>
                <a:gridCol w="822960"/>
              </a:tblGrid>
              <a:tr h="8412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Lobbying Coef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Std. Err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Lag 1 FE (clustered)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-174.6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116.9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0.135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2125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Lag 2 FE (clustered)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-95.3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86.7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0.272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Lag 3 FE (clustered)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38.5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84.3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1372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Exclude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-109.2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72.2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134"/>
                          </a:solidFill>
                          <a:latin typeface="Calibri"/>
                        </a:defRPr>
                      </a:pPr>
                      <a:r>
                        <a:t>1911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732520" y="1234440"/>
            <a:ext cx="2743200" cy="5212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600200"/>
            <a:ext cx="2286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Interpretation</a:t>
            </a:r>
          </a:p>
          <a:p>
            <a:pPr>
              <a:spcAft>
                <a:spcPts val="800"/>
              </a:spcAft>
              <a:defRPr sz="1300" b="0">
                <a:solidFill>
                  <a:srgbClr val="DCEBFF"/>
                </a:solidFill>
                <a:latin typeface="Calibri"/>
              </a:defRPr>
            </a:pPr>
            <a:r>
              <a:t>Point estimates are often negative, but statistical precision is limited in most specifications.</a:t>
            </a:r>
          </a:p>
          <a:p>
            <a:pPr>
              <a:spcAft>
                <a:spcPts val="800"/>
              </a:spcAft>
              <a:defRPr sz="1300" b="0">
                <a:solidFill>
                  <a:srgbClr val="DCEBFF"/>
                </a:solidFill>
                <a:latin typeface="Calibri"/>
              </a:defRPr>
            </a:pPr>
            <a:r>
              <a:t>The lead-placebo and instability across lags reinforce an association-based, non-causal reading.</a:t>
            </a:r>
          </a:p>
          <a:p>
            <a:pPr>
              <a:spcAft>
                <a:spcPts val="800"/>
              </a:spcAft>
              <a:defRPr sz="1300" b="0">
                <a:solidFill>
                  <a:srgbClr val="DCEBFF"/>
                </a:solidFill>
                <a:latin typeface="Calibri"/>
              </a:defRPr>
            </a:pPr>
            <a:r>
              <a:t>Coefficient movement with specification changes is economically meaningful.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Tabulated from M3 robustness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Diagnostics and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669280" cy="274320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3_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30352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234440"/>
            <a:ext cx="5029200" cy="2743200"/>
          </a:xfrm>
          <a:prstGeom prst="roundRect">
            <a:avLst/>
          </a:prstGeom>
          <a:solidFill>
            <a:srgbClr val="F0F6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3_residuals_vs_fit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4663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206240"/>
            <a:ext cx="10881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Breusch-Pagan p-value = 0.0000: heteroskedasticity present, so robust/clustered inference is required.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Max VIF = 2.74: no serious multicollinearity among key regressors.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Residual diagnostics indicate non-ideal shape, consistent with sparse and heterogeneous panel structure.</a:t>
            </a:r>
          </a:p>
          <a:p>
            <a:pPr>
              <a:defRPr sz="1500">
                <a:solidFill>
                  <a:srgbClr val="162134"/>
                </a:solidFill>
                <a:latin typeface="Calibri"/>
              </a:defRPr>
            </a:pPr>
            <a:r>
              <a:t>• Conclusion: standard FE estimates are informative, but robust uncertainty treatment is essential.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Figures: M3 diagnostic plots and diagnostics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0B1F3A"/>
                </a:solidFill>
                <a:latin typeface="Calibri"/>
              </a:defRPr>
            </a:pPr>
            <a:r>
              <a:t>Forecast Benchmark (ARIMA)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7498079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3_arima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69494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234440"/>
            <a:ext cx="3063240" cy="5212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508760"/>
            <a:ext cx="26517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ARIMA Detail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  <a:r>
              <a:t>Order: (0,1,0)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  <a:r>
              <a:t>ADF p-value: 0.229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  <a:r>
              <a:t>ARIMA RMSE: 523.53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  <a:r>
              <a:t>Naive RMSE: 523.53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  <a:p>
            <a:pPr>
              <a:defRPr sz="1400" b="0">
                <a:solidFill>
                  <a:srgbClr val="DCEBFF"/>
                </a:solidFill>
                <a:latin typeface="Calibri"/>
              </a:defRPr>
            </a:pPr>
            <a:r>
              <a:t>ARIMA does not outperform naive baseline in this annual 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2D54"/>
                </a:solidFill>
                <a:latin typeface="Calibri"/>
              </a:defRPr>
            </a:pPr>
            <a:r>
              <a:t>ARIMA included as predictive benchmark, not identification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1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Conclusions and Strategic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1064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Conclusions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Evidence supports a meaningful lobbying-profitability association, but not a clean causal claim.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Coefficients are sensitive to timing and sample support, with lead effects raising endogeneity concerns.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Diagnostic and robustness layers improve credibility, yet sparse lobbying coverage remains the core constraint.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Improve identifier mapping and expand policy-exposure controls.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Test alternative outcomes (ROE, margins, valuation) and dynamic panel estimators.</a:t>
            </a:r>
          </a:p>
          <a:p>
            <a:pPr>
              <a:spcAft>
                <a:spcPts val="700"/>
              </a:spcAft>
              <a:defRPr sz="1800" b="0">
                <a:solidFill>
                  <a:srgbClr val="DCEBFF"/>
                </a:solidFill>
                <a:latin typeface="Calibri"/>
              </a:defRPr>
            </a:pPr>
            <a:r>
              <a:t>• Explore quasi-experimental variation for stronger causal leverage.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600">
                <a:solidFill>
                  <a:srgbClr val="5CA9FF"/>
                </a:solidFill>
                <a:latin typeface="Cambria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BFF"/>
                </a:solidFill>
                <a:latin typeface="Calibri"/>
              </a:defRPr>
            </a:pPr>
            <a:r>
              <a:t>QM 2023 Capstone | Lobbying and Firm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